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5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6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0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1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16" r:id="rId2"/>
    <p:sldId id="315" r:id="rId3"/>
    <p:sldId id="318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2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35ED5-3E2E-4DD6-8D11-BC36045E11F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A3706-1E5C-4977-83EF-6B284DB3AA0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547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EE1B-DDE1-B156-E2B9-D3F914456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42B79-E06C-64DB-07FD-5B31092E6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98C48-3A1B-FCBA-275D-9B2F23BBB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28686-79EF-DDCA-05E7-7234811F8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8386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19726-4E86-9772-0C75-03770B20A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94EB8-B6B6-765B-B407-842188B18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3A892-FB72-B4CF-116A-E5F7BBB5D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30D3D-8E3C-871A-8272-ED4C383A1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175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8682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5278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70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7779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556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0321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61321-6DBD-A1BC-952B-C623BCC4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550F4-87C0-5010-17E5-333E9C48B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C590C-FEDD-366C-ADF1-5C99782D0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1019-E1F6-0B26-7CBA-B956F4423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820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9A46-F7BD-EFA9-D69F-38EF88A4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2D126-8F30-79F6-58C2-8BB97DD6B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D68A2-B0B4-C314-15FA-FFBD6FC7A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5AB1A-84FE-8C9B-CAB6-BB046F675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791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78CE6-D869-92D9-BC97-6569FB926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FCB17-61AB-532B-F6B8-9E87A27DE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18132-291D-CEC1-CA14-E6353712D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5401D-7602-AFCD-5454-2C0147106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911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C418-9798-91DB-CFB8-A90EBA39C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6F0EA-F4BE-6E78-AB74-A48B21A95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0DFFA-83A8-317C-E9F3-12D87F69E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565D9-3A0A-582F-CC06-5FBB3FDA1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544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1646C-E42E-6497-FC8C-99F509EA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0337F-150B-0E34-478A-767CF0766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44007-4D54-5886-70B5-6015DA16D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58A2C-10B6-FAF7-7638-3953A7A87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720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9E6B1-EF92-F2C1-B7CD-7155627D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4D14E-4423-3463-A0CC-D988602C0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8B08B-DF3D-C826-0736-B39BD91CA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1DE99-FF9E-364B-46D4-C82EE8943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6034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CC0A-8316-29E9-82D3-5342AAB6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FD7EB-A637-975B-71FD-70C85CB16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6902F-6C7A-F0A3-08F1-46BD219C3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284B0-2F1A-D724-BA85-9706F880B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818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DFBD-999E-A883-DBAE-7E7C15F06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BCB9C-22D4-3334-C99C-56157B6C8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6D12C-0DE7-AD03-FE9D-5A738BA21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0E087-EA6E-E7DC-80B2-AD070A6F0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606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A95B8-74BB-A8B4-4C8E-C127C35C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F226A-883D-9BA0-8693-2422A3224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67A22-CD67-25A5-1414-4169BF3A0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4563C-0801-73DD-6D04-D41E28013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98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DE874-9D97-7160-BCDE-E75BA593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4702A-89F8-BDC1-467C-EDC60271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7CA31-6A0F-BC18-B8F0-93417674C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E585F-74F6-3FC6-39DF-1A730E64A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330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156A-0B69-786C-DF08-74707B73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32B9B-7FF4-3CE9-66C2-94C35F370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9396A-F745-BF29-EB99-BD9B55DFD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E836B-A1DE-0081-5272-0C5DF28F0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208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C17D-58B5-CCD5-F544-4977D125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90D80-E3C4-9F5F-21D8-C52E7ECA9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56372-594F-14F3-6BC5-05A8D7052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20632-A67D-B3A9-0E7D-FAADF2D8D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035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3B91F-42E3-0AAC-1851-B3CF137D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ADA0F-F4F0-21AF-72A4-34C94A6B1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307CC-E134-2B74-4E16-3E94613EF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B94AD-0965-5567-14A8-C0B8D00DE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049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ADF74-3D28-5D9C-8E49-3FFADE8E0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8F5C8-74CD-0462-714E-37D4924B4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556AB-759D-3167-140E-685C6B1F0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FC895-FF20-6D16-03CB-5FFBA5A22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9096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F62C-DC1B-660A-6162-D36EC7CEB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9C3DC-566B-07B1-6602-785E98B24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C3ABD-009D-EC7C-4AD0-32F563595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3FCA0-7590-C45C-010B-5EF93E2EC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339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FE89-FCE2-8F26-163F-90219694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8F57B-8537-905D-9F0D-D4BD45AB5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150C7-1572-020B-4354-8006E1769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8856E-5F24-19BF-9F76-8C9364C6F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818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394E-B297-E11F-CFBC-4A3D88975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607F2-FCA5-D802-4BD1-5ECEADCBD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99435-5BAB-DCF8-1194-FD1F331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1D013-5E56-485C-2A66-C7F22E4F6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44F3-F704-5FC9-4B59-26E28089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630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2D0A-AB83-994C-0867-31E03586B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2E497-D46E-9B23-3E60-19486CF14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DC05-0981-994A-1AC7-8E6C320E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11755-3040-5CB6-007C-9F597858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6D381-A718-F600-1559-C230E4F1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23770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8A00-6E32-C7D8-81C1-80434B34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0392B-3E8B-ED0B-FAEB-E1D51A5E3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A5146-27E2-C228-A835-C0ABE9B5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78BEF-4E29-35D8-6237-B1F1A0B8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76D4D-E8AB-6777-7770-79B5AF05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19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FC74-F4BB-6E68-BFB1-DFCF647C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DEA2E-E4AC-9267-CB67-A410E6354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4F9BD-2809-35A9-4461-2121427EC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F0DD8-A064-FA46-8D23-C8E29C6A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7BFAD-A4E3-2B4F-6784-FAF46A06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1485C-2867-A200-B4D0-F298E7CF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2433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F17E-5DB7-B4F2-F280-0579DE14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1FD99-0A40-C736-8BDE-E8B41C799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B5E81-0F3A-DC92-E605-9ED278E09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4765A-9437-BE56-0E09-A23584CA1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A1B18-5095-5E93-AA4B-6D82C3A9F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F6862A-B814-1FDD-F52C-279C7E20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B53E1-C83A-7D5E-4CBE-97F78737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EBD72-1E0E-56B1-759D-C6B49BBB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913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98C8E-47D7-C144-BAFD-817CA9F3E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0E956-EECA-8B10-2DA8-09383325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3A75C-AC87-3F84-7DDC-12BE777E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0578-9494-31A1-8208-DDDEF616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862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5672E-804F-4FB9-1F4A-587AC8E7F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2F9CE-AFE5-74E6-E1EF-57FEC48B4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343AB-DF5B-540C-ACB4-77861F1B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884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A94F-4EB9-E373-D662-5502A589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DAA87-4645-E9BC-5B98-BC6B29856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1DC14-20AB-47E1-304B-7879E0C7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08FBD-1BB0-FEB4-CDFF-15024BA2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BC376-B10C-6B5C-5183-6512193A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C54DD-CC74-774B-6087-996B237A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303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83E1-599B-CEF6-B427-925ED855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2956BF-ADC5-CC03-2ABB-31520CFF6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DDAD5-28E1-B650-2C12-00B8754C3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D20C1-AC3D-727E-B85E-57DF553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1D0EC-526D-3C44-32E5-3631AE1B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D3EFB-ACDE-DA49-A22F-45CFD7EF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121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5789-51B1-8517-B174-B59867CF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4A548-13C3-ADC4-B54C-60C1998BE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1941A-C9AE-D3DD-C424-A3AB5C224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DD749-BFDC-B2F7-F88B-F9133FE26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49A68-741F-1DF0-7388-9C7697C2A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597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16626B-B0B9-B947-D88F-C95EBCCD2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3EC4C-E908-767C-2627-B43C1491D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F8685-8746-B5A4-0DEC-7A8D26B3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E73A7-772D-AC66-3500-7CD1CF84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8E4A7-EB2F-EA24-0B2B-644084C7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911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7938F-0659-0B1E-99E2-3D202A420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7D9DF-F041-FB95-22B5-D6DB9552F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8AAC9-BDE0-D07E-FDBA-295F3B578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D82AB-4E9E-49C2-BA74-EA9662FEA1A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963F6-1954-DD11-7922-3240F6078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32D7D-60B7-01DE-4976-514DCDF02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48B4C-7BAA-4A22-99EF-E89AAD1A07E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5918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6.png"/><Relationship Id="rId18" Type="http://schemas.openxmlformats.org/officeDocument/2006/relationships/image" Target="../media/image160.png"/><Relationship Id="rId3" Type="http://schemas.openxmlformats.org/officeDocument/2006/relationships/tags" Target="../tags/tag3.xml"/><Relationship Id="rId7" Type="http://schemas.openxmlformats.org/officeDocument/2006/relationships/image" Target="../media/image3.emf"/><Relationship Id="rId12" Type="http://schemas.openxmlformats.org/officeDocument/2006/relationships/image" Target="../media/image130.png"/><Relationship Id="rId17" Type="http://schemas.openxmlformats.org/officeDocument/2006/relationships/image" Target="../media/image8.png"/><Relationship Id="rId2" Type="http://schemas.openxmlformats.org/officeDocument/2006/relationships/tags" Target="../tags/tag2.xml"/><Relationship Id="rId16" Type="http://schemas.openxmlformats.org/officeDocument/2006/relationships/image" Target="../media/image150.png"/><Relationship Id="rId20" Type="http://schemas.openxmlformats.org/officeDocument/2006/relationships/image" Target="../media/image170.png"/><Relationship Id="rId1" Type="http://schemas.openxmlformats.org/officeDocument/2006/relationships/tags" Target="../tags/tag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5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7.png"/><Relationship Id="rId10" Type="http://schemas.openxmlformats.org/officeDocument/2006/relationships/image" Target="../media/image1210.png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4.png"/><Relationship Id="rId14" Type="http://schemas.openxmlformats.org/officeDocument/2006/relationships/image" Target="../media/image1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6.xml"/><Relationship Id="rId7" Type="http://schemas.openxmlformats.org/officeDocument/2006/relationships/image" Target="../media/image3.emf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5.xml"/><Relationship Id="rId7" Type="http://schemas.openxmlformats.org/officeDocument/2006/relationships/image" Target="../media/image3.emf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1.xml"/><Relationship Id="rId9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2.xml"/><Relationship Id="rId9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3.xml"/><Relationship Id="rId9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4.xml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D7C5-81C8-36A2-3272-D0827637F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4F69AA6-9F31-470A-3749-AD4DFB5C991F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20000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2E4ABA-DCA5-3185-D60E-DB6641C5EDF1}"/>
              </a:ext>
            </a:extLst>
          </p:cNvPr>
          <p:cNvSpPr txBox="1"/>
          <p:nvPr/>
        </p:nvSpPr>
        <p:spPr>
          <a:xfrm>
            <a:off x="1352484" y="2006947"/>
            <a:ext cx="1052322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b="0" i="0" u="none" strike="noStrike" baseline="0" dirty="0">
                <a:latin typeface="LM Roman 12" panose="00000500000000000000" pitchFamily="50" charset="0"/>
              </a:rPr>
              <a:t>1. Module Overview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1| Computer Systems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Programming Languages</a:t>
            </a:r>
          </a:p>
          <a:p>
            <a:pPr algn="l"/>
            <a:r>
              <a:rPr lang="en-US" sz="1800" b="0" i="0" u="none" strike="noStrike" baseline="0" dirty="0">
                <a:latin typeface="LM Roman 12" panose="00000500000000000000" pitchFamily="50" charset="0"/>
              </a:rPr>
              <a:t>   	  Simple C Program 1: Printing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0EDED-7140-2281-C22E-5BD248802872}"/>
              </a:ext>
            </a:extLst>
          </p:cNvPr>
          <p:cNvSpPr txBox="1"/>
          <p:nvPr/>
        </p:nvSpPr>
        <p:spPr>
          <a:xfrm>
            <a:off x="1352484" y="446526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1EABD6-DB27-8FB6-A12D-E7CBD797635F}"/>
              </a:ext>
            </a:extLst>
          </p:cNvPr>
          <p:cNvSpPr txBox="1"/>
          <p:nvPr/>
        </p:nvSpPr>
        <p:spPr>
          <a:xfrm>
            <a:off x="2690150" y="526023"/>
            <a:ext cx="587871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>
                    <a:lumMod val="85000"/>
                  </a:schemeClr>
                </a:solidFill>
                <a:latin typeface="LM Roman 12" panose="00000500000000000000" pitchFamily="50" charset="0"/>
              </a:rPr>
              <a:t>A. WELCOME TO CP143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DEB578-D4ED-4403-AEF9-6E72EF169C2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60AC287-C027-FB5C-7227-CC3C5D4A57E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229A37B-004D-A57B-F2D5-C954C6513EB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7467BD-DAC9-EEC5-B9AF-59C1B7441E4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7BBE52C-7E29-61F2-20F9-312D7E014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694A87-F248-3BC5-901B-EAA46ECC4E6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20 July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90B70A1-6523-359F-0F92-6C2656C6E43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WELCOME TO CP143 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55038A3-C030-7DCE-F8FA-3E7DFDA20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1142" y="3505200"/>
            <a:ext cx="4746033" cy="30171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4E6606-BF5F-B019-37CC-63018AFA9854}"/>
              </a:ext>
            </a:extLst>
          </p:cNvPr>
          <p:cNvSpPr txBox="1"/>
          <p:nvPr/>
        </p:nvSpPr>
        <p:spPr>
          <a:xfrm>
            <a:off x="7164278" y="6488668"/>
            <a:ext cx="4617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 1&amp;2: Comp Systems &amp; intro to C</a:t>
            </a:r>
          </a:p>
        </p:txBody>
      </p:sp>
    </p:spTree>
    <p:extLst>
      <p:ext uri="{BB962C8B-B14F-4D97-AF65-F5344CB8AC3E}">
        <p14:creationId xmlns:p14="http://schemas.microsoft.com/office/powerpoint/2010/main" val="137634144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8693F-71DA-A591-726B-BB6AC17A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7F8025D9-C0E9-5ED5-D0F6-EA15C6956BE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51" imgH="450" progId="TCLayout.ActiveDocument.1">
                  <p:embed/>
                </p:oleObj>
              </mc:Choice>
              <mc:Fallback>
                <p:oleObj name="think-cell Slide" r:id="rId6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7F8025D9-C0E9-5ED5-D0F6-EA15C6956B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0CC15832-B15A-133B-A7CF-20D8E6E7B9C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A4874F-73F1-09CA-4244-983254ADBE1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3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91085C-3F1B-25C4-4444-FE17AD67FFC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2E18630-75A9-4BF9-D69E-7B14BC1CAC9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45F3FD-9F2F-F1D5-D32F-963B58A1130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7E298B-2470-F5A5-39EB-5C3A92DDB4F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7" name="Picture 26" descr="Stellenbosch_University_new_logo_slogan_for-web-02 | SMF News">
                <a:extLst>
                  <a:ext uri="{FF2B5EF4-FFF2-40B4-BE49-F238E27FC236}">
                    <a16:creationId xmlns:a16="http://schemas.microsoft.com/office/drawing/2014/main" id="{AA11E05E-0564-41B2-8EAD-7AE700EFC1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0ABCB8E-B223-CF31-DED9-858C50C1D78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20 July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8BC182-2821-4114-2583-6A0C01E3E3DF}"/>
                </a:ext>
              </a:extLst>
            </p:cNvPr>
            <p:cNvSpPr/>
            <p:nvPr/>
          </p:nvSpPr>
          <p:spPr>
            <a:xfrm>
              <a:off x="3396035" y="584240"/>
              <a:ext cx="4785096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WHAT IS A COMPUTER?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5B0491E-7862-52A3-ADC9-68B3CCE9707B}"/>
              </a:ext>
            </a:extLst>
          </p:cNvPr>
          <p:cNvSpPr/>
          <p:nvPr/>
        </p:nvSpPr>
        <p:spPr>
          <a:xfrm>
            <a:off x="1394706" y="1042977"/>
            <a:ext cx="1421606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350">
              <a:solidFill>
                <a:schemeClr val="accent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C29411-F004-D0C2-72E6-A288A47DD7EC}"/>
              </a:ext>
            </a:extLst>
          </p:cNvPr>
          <p:cNvSpPr/>
          <p:nvPr/>
        </p:nvSpPr>
        <p:spPr>
          <a:xfrm>
            <a:off x="1635161" y="986640"/>
            <a:ext cx="5075043" cy="518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271E9-465B-4FF5-049C-CD5D26575A6A}"/>
              </a:ext>
            </a:extLst>
          </p:cNvPr>
          <p:cNvSpPr txBox="1"/>
          <p:nvPr/>
        </p:nvSpPr>
        <p:spPr>
          <a:xfrm>
            <a:off x="1635160" y="1046467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08107"/>
            <a:r>
              <a:rPr lang="en-ZA" sz="2400" dirty="0"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device capable of performing computations and making logical decisions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89C86-637F-F7BE-DCA5-50DAEA36A727}"/>
              </a:ext>
            </a:extLst>
          </p:cNvPr>
          <p:cNvSpPr/>
          <p:nvPr/>
        </p:nvSpPr>
        <p:spPr>
          <a:xfrm>
            <a:off x="5187664" y="3741392"/>
            <a:ext cx="1597981" cy="7812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COMPUTER??</a:t>
            </a:r>
          </a:p>
        </p:txBody>
      </p:sp>
      <p:sp>
        <p:nvSpPr>
          <p:cNvPr id="50" name="Arrow: Up 49">
            <a:extLst>
              <a:ext uri="{FF2B5EF4-FFF2-40B4-BE49-F238E27FC236}">
                <a16:creationId xmlns:a16="http://schemas.microsoft.com/office/drawing/2014/main" id="{388B5E8C-35AA-2B10-874D-7491DDB9DFFE}"/>
              </a:ext>
            </a:extLst>
          </p:cNvPr>
          <p:cNvSpPr/>
          <p:nvPr/>
        </p:nvSpPr>
        <p:spPr>
          <a:xfrm>
            <a:off x="5788583" y="3239323"/>
            <a:ext cx="331152" cy="498784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373963B4-44B9-0FDD-3C76-A96C191C0C47}"/>
              </a:ext>
            </a:extLst>
          </p:cNvPr>
          <p:cNvSpPr/>
          <p:nvPr/>
        </p:nvSpPr>
        <p:spPr>
          <a:xfrm rot="3304346">
            <a:off x="7102185" y="2842087"/>
            <a:ext cx="331152" cy="119490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8" name="Arrow: Up 57">
            <a:extLst>
              <a:ext uri="{FF2B5EF4-FFF2-40B4-BE49-F238E27FC236}">
                <a16:creationId xmlns:a16="http://schemas.microsoft.com/office/drawing/2014/main" id="{C84709B4-733C-4461-F6D9-B99E8CF44FC1}"/>
              </a:ext>
            </a:extLst>
          </p:cNvPr>
          <p:cNvSpPr/>
          <p:nvPr/>
        </p:nvSpPr>
        <p:spPr>
          <a:xfrm rot="5560597">
            <a:off x="7214970" y="3601405"/>
            <a:ext cx="331152" cy="119490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9E6357-A2F9-7E84-401E-E02D2F7DC5F7}"/>
              </a:ext>
            </a:extLst>
          </p:cNvPr>
          <p:cNvSpPr txBox="1"/>
          <p:nvPr/>
        </p:nvSpPr>
        <p:spPr>
          <a:xfrm>
            <a:off x="4711473" y="2924181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C00000"/>
                </a:solidFill>
                <a:latin typeface="LM Roman 12" panose="00000500000000000000" pitchFamily="50" charset="0"/>
              </a:rPr>
              <a:t>Output Units (</a:t>
            </a:r>
            <a:r>
              <a:rPr lang="en-ZA" b="1" dirty="0" err="1">
                <a:solidFill>
                  <a:srgbClr val="C00000"/>
                </a:solidFill>
                <a:latin typeface="LM Roman 12" panose="00000500000000000000" pitchFamily="50" charset="0"/>
              </a:rPr>
              <a:t>usr</a:t>
            </a:r>
            <a:r>
              <a:rPr lang="en-ZA" b="1" dirty="0">
                <a:solidFill>
                  <a:srgbClr val="C00000"/>
                </a:solidFill>
                <a:latin typeface="LM Roman 12" panose="00000500000000000000" pitchFamily="50" charset="0"/>
              </a:rPr>
              <a:t> info)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04051E-38B7-78EC-3F97-E365F8D2F90A}"/>
              </a:ext>
            </a:extLst>
          </p:cNvPr>
          <p:cNvSpPr txBox="1"/>
          <p:nvPr/>
        </p:nvSpPr>
        <p:spPr>
          <a:xfrm>
            <a:off x="7664958" y="3325092"/>
            <a:ext cx="348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C00000"/>
                </a:solidFill>
                <a:latin typeface="LM Roman 12" panose="00000500000000000000" pitchFamily="50" charset="0"/>
              </a:rPr>
              <a:t>CPU(supervision/coordination)</a:t>
            </a:r>
          </a:p>
        </p:txBody>
      </p:sp>
      <p:sp>
        <p:nvSpPr>
          <p:cNvPr id="63" name="Arrow: Up 62">
            <a:extLst>
              <a:ext uri="{FF2B5EF4-FFF2-40B4-BE49-F238E27FC236}">
                <a16:creationId xmlns:a16="http://schemas.microsoft.com/office/drawing/2014/main" id="{32AE2C3B-D43C-15E4-86DD-4EA145199F56}"/>
              </a:ext>
            </a:extLst>
          </p:cNvPr>
          <p:cNvSpPr/>
          <p:nvPr/>
        </p:nvSpPr>
        <p:spPr>
          <a:xfrm rot="10800000">
            <a:off x="5788583" y="4522627"/>
            <a:ext cx="331152" cy="498784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0E6AC6-4A6B-D6C2-4573-B53828BED124}"/>
              </a:ext>
            </a:extLst>
          </p:cNvPr>
          <p:cNvSpPr txBox="1"/>
          <p:nvPr/>
        </p:nvSpPr>
        <p:spPr>
          <a:xfrm>
            <a:off x="4607938" y="4959186"/>
            <a:ext cx="334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C00000"/>
                </a:solidFill>
                <a:latin typeface="LM Roman 12" panose="00000500000000000000" pitchFamily="50" charset="0"/>
              </a:rPr>
              <a:t>RAM (rapid access/program )</a:t>
            </a:r>
          </a:p>
        </p:txBody>
      </p:sp>
      <p:sp>
        <p:nvSpPr>
          <p:cNvPr id="67" name="Arrow: Up 66">
            <a:extLst>
              <a:ext uri="{FF2B5EF4-FFF2-40B4-BE49-F238E27FC236}">
                <a16:creationId xmlns:a16="http://schemas.microsoft.com/office/drawing/2014/main" id="{9FDF4160-BEA0-9140-6E4E-FA206D49ACC0}"/>
              </a:ext>
            </a:extLst>
          </p:cNvPr>
          <p:cNvSpPr/>
          <p:nvPr/>
        </p:nvSpPr>
        <p:spPr>
          <a:xfrm rot="17562252">
            <a:off x="4469390" y="2967037"/>
            <a:ext cx="331152" cy="1194900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FB53BA-8395-6977-110A-DA0D43162A0C}"/>
              </a:ext>
            </a:extLst>
          </p:cNvPr>
          <p:cNvSpPr txBox="1"/>
          <p:nvPr/>
        </p:nvSpPr>
        <p:spPr>
          <a:xfrm>
            <a:off x="2302397" y="3771348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C00000"/>
                </a:solidFill>
                <a:latin typeface="LM Roman 12" panose="00000500000000000000" pitchFamily="50" charset="0"/>
              </a:rPr>
              <a:t>Input Units (</a:t>
            </a:r>
            <a:r>
              <a:rPr lang="en-ZA" b="1" dirty="0" err="1">
                <a:solidFill>
                  <a:srgbClr val="C00000"/>
                </a:solidFill>
                <a:latin typeface="LM Roman 12" panose="00000500000000000000" pitchFamily="50" charset="0"/>
              </a:rPr>
              <a:t>usr</a:t>
            </a:r>
            <a:r>
              <a:rPr lang="en-ZA" b="1" dirty="0">
                <a:solidFill>
                  <a:srgbClr val="C00000"/>
                </a:solidFill>
                <a:latin typeface="LM Roman 12" panose="00000500000000000000" pitchFamily="50" charset="0"/>
              </a:rPr>
              <a:t> info)</a:t>
            </a:r>
          </a:p>
        </p:txBody>
      </p:sp>
      <p:sp>
        <p:nvSpPr>
          <p:cNvPr id="71" name="Arrow: Up 70">
            <a:extLst>
              <a:ext uri="{FF2B5EF4-FFF2-40B4-BE49-F238E27FC236}">
                <a16:creationId xmlns:a16="http://schemas.microsoft.com/office/drawing/2014/main" id="{11528B0A-372A-2867-D408-055F17CA5765}"/>
              </a:ext>
            </a:extLst>
          </p:cNvPr>
          <p:cNvSpPr/>
          <p:nvPr/>
        </p:nvSpPr>
        <p:spPr>
          <a:xfrm rot="14406468">
            <a:off x="4403860" y="3999865"/>
            <a:ext cx="331152" cy="1387415"/>
          </a:xfrm>
          <a:prstGeom prst="up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658C975-C047-00FB-E215-FBFCD4366647}"/>
              </a:ext>
            </a:extLst>
          </p:cNvPr>
          <p:cNvSpPr txBox="1"/>
          <p:nvPr/>
        </p:nvSpPr>
        <p:spPr>
          <a:xfrm>
            <a:off x="1722868" y="4407003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C00000"/>
                </a:solidFill>
                <a:latin typeface="LM Roman 12" panose="00000500000000000000" pitchFamily="50" charset="0"/>
              </a:rPr>
              <a:t>ALU (computation)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5" name="Slide Zoom 74">
                <a:extLst>
                  <a:ext uri="{FF2B5EF4-FFF2-40B4-BE49-F238E27FC236}">
                    <a16:creationId xmlns:a16="http://schemas.microsoft.com/office/drawing/2014/main" id="{1859B1BF-F72A-A65E-BA5C-A823131A4B6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0303" y="1930412"/>
              <a:ext cx="3397779" cy="1911251"/>
            </p:xfrm>
            <a:graphic>
              <a:graphicData uri="http://schemas.microsoft.com/office/powerpoint/2016/slidezoom">
                <pslz:sldZm>
                  <pslz:sldZmObj sldId="318" cId="894219044">
                    <pslz:zmPr id="{61B483CD-C925-44A6-A6F9-51E5A32B8D8A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397779" cy="191125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5" name="Slide Zoom 74">
                <a:extLst>
                  <a:ext uri="{FF2B5EF4-FFF2-40B4-BE49-F238E27FC236}">
                    <a16:creationId xmlns:a16="http://schemas.microsoft.com/office/drawing/2014/main" id="{1859B1BF-F72A-A65E-BA5C-A823131A4B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0303" y="1930412"/>
                <a:ext cx="3397779" cy="19112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7" name="Slide Zoom 76">
                <a:extLst>
                  <a:ext uri="{FF2B5EF4-FFF2-40B4-BE49-F238E27FC236}">
                    <a16:creationId xmlns:a16="http://schemas.microsoft.com/office/drawing/2014/main" id="{F37E3F43-41F8-5E9F-FE69-4B93A810236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30127" y="1384633"/>
              <a:ext cx="3147460" cy="1770446"/>
            </p:xfrm>
            <a:graphic>
              <a:graphicData uri="http://schemas.microsoft.com/office/powerpoint/2016/slidezoom">
                <pslz:sldZm>
                  <pslz:sldZmObj sldId="319" cId="3635328409">
                    <pslz:zmPr id="{F52E61A5-26E2-4FC7-ADA7-6C0B05FCBE1D}" returnToParent="0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147460" cy="177044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7" name="Slide Zoom 76">
                <a:extLst>
                  <a:ext uri="{FF2B5EF4-FFF2-40B4-BE49-F238E27FC236}">
                    <a16:creationId xmlns:a16="http://schemas.microsoft.com/office/drawing/2014/main" id="{F37E3F43-41F8-5E9F-FE69-4B93A81023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30127" y="1384633"/>
                <a:ext cx="3147460" cy="1770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9" name="Slide Zoom 78">
                <a:extLst>
                  <a:ext uri="{FF2B5EF4-FFF2-40B4-BE49-F238E27FC236}">
                    <a16:creationId xmlns:a16="http://schemas.microsoft.com/office/drawing/2014/main" id="{AA70484D-AF14-089C-3F7E-E7D277C4B5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16910" y="1863491"/>
              <a:ext cx="3254992" cy="1830933"/>
            </p:xfrm>
            <a:graphic>
              <a:graphicData uri="http://schemas.microsoft.com/office/powerpoint/2016/slidezoom">
                <pslz:sldZm>
                  <pslz:sldZmObj sldId="320" cId="818395332">
                    <pslz:zmPr id="{59928296-5F8B-486A-A41A-31ECD752DCDF}" returnToParent="0" transitionDur="1000" showBg="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54992" cy="183093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9" name="Slide Zoom 78">
                <a:extLst>
                  <a:ext uri="{FF2B5EF4-FFF2-40B4-BE49-F238E27FC236}">
                    <a16:creationId xmlns:a16="http://schemas.microsoft.com/office/drawing/2014/main" id="{AA70484D-AF14-089C-3F7E-E7D277C4B5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16910" y="1863491"/>
                <a:ext cx="3254992" cy="1830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1" name="Slide Zoom 80">
                <a:extLst>
                  <a:ext uri="{FF2B5EF4-FFF2-40B4-BE49-F238E27FC236}">
                    <a16:creationId xmlns:a16="http://schemas.microsoft.com/office/drawing/2014/main" id="{CF5042DD-7BE6-DAFD-BD17-63805DF74E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49947" y="4825349"/>
              <a:ext cx="3048000" cy="1714500"/>
            </p:xfrm>
            <a:graphic>
              <a:graphicData uri="http://schemas.microsoft.com/office/powerpoint/2016/slidezoom">
                <pslz:sldZm>
                  <pslz:sldZmObj sldId="321" cId="3225803108">
                    <pslz:zmPr id="{4AD2254D-4013-4FD6-965C-2E6CA035D4B2}" returnToParent="0" transitionDur="1000" showBg="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1" name="Slide Zoom 80">
                <a:extLst>
                  <a:ext uri="{FF2B5EF4-FFF2-40B4-BE49-F238E27FC236}">
                    <a16:creationId xmlns:a16="http://schemas.microsoft.com/office/drawing/2014/main" id="{CF5042DD-7BE6-DAFD-BD17-63805DF74E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49947" y="4825349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3" name="Slide Zoom 82">
                <a:extLst>
                  <a:ext uri="{FF2B5EF4-FFF2-40B4-BE49-F238E27FC236}">
                    <a16:creationId xmlns:a16="http://schemas.microsoft.com/office/drawing/2014/main" id="{5421FF43-6CF7-E5F3-21AD-6CF03220E4E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607938" y="5168083"/>
              <a:ext cx="3048000" cy="1714500"/>
            </p:xfrm>
            <a:graphic>
              <a:graphicData uri="http://schemas.microsoft.com/office/powerpoint/2016/slidezoom">
                <pslz:sldZm>
                  <pslz:sldZmObj sldId="322" cId="3551975752">
                    <pslz:zmPr id="{282EE434-4E2D-461B-8EA4-5723B97B7520}" returnToParent="0" transitionDur="1000" showBg="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3" name="Slide Zoom 82">
                <a:extLst>
                  <a:ext uri="{FF2B5EF4-FFF2-40B4-BE49-F238E27FC236}">
                    <a16:creationId xmlns:a16="http://schemas.microsoft.com/office/drawing/2014/main" id="{5421FF43-6CF7-E5F3-21AD-6CF03220E4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07938" y="5168083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8A8D6CC4-745F-CC62-4C15-EE5E4E7A5E77}"/>
              </a:ext>
            </a:extLst>
          </p:cNvPr>
          <p:cNvSpPr txBox="1"/>
          <p:nvPr/>
        </p:nvSpPr>
        <p:spPr>
          <a:xfrm>
            <a:off x="7953726" y="3853788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solidFill>
                  <a:srgbClr val="C00000"/>
                </a:solidFill>
                <a:latin typeface="LM Roman 12" panose="00000500000000000000" pitchFamily="50" charset="0"/>
              </a:rPr>
              <a:t>Secondary storage units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7" name="Slide Zoom 86">
                <a:extLst>
                  <a:ext uri="{FF2B5EF4-FFF2-40B4-BE49-F238E27FC236}">
                    <a16:creationId xmlns:a16="http://schemas.microsoft.com/office/drawing/2014/main" id="{47E5F3BE-6043-6443-6DBB-DECFE86E1E4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52396" y="4242919"/>
              <a:ext cx="3048000" cy="1714500"/>
            </p:xfrm>
            <a:graphic>
              <a:graphicData uri="http://schemas.microsoft.com/office/powerpoint/2016/slidezoom">
                <pslz:sldZm>
                  <pslz:sldZmObj sldId="323" cId="2132262923">
                    <pslz:zmPr id="{2B020E6C-DFBC-488D-A0D2-0E75861FEBC1}" transitionDur="1000" showBg="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7" name="Slide Zoom 86">
                <a:extLst>
                  <a:ext uri="{FF2B5EF4-FFF2-40B4-BE49-F238E27FC236}">
                    <a16:creationId xmlns:a16="http://schemas.microsoft.com/office/drawing/2014/main" id="{47E5F3BE-6043-6443-6DBB-DECFE86E1E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52396" y="4242919"/>
                <a:ext cx="3048000" cy="17145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47700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types of input devices Archives - Passnownow">
            <a:extLst>
              <a:ext uri="{FF2B5EF4-FFF2-40B4-BE49-F238E27FC236}">
                <a16:creationId xmlns:a16="http://schemas.microsoft.com/office/drawing/2014/main" id="{6C2BB55F-4667-31F3-AE97-1B24E3C62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997" y="236367"/>
            <a:ext cx="7509030" cy="563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1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0EA50-10BE-A664-7CE9-5BA1BD83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utput devices Output devices are crucial components of a computer system  that convey information from the computer to the user. The most common  types include monitors, printers, speakers, and… - Sadia Bashir -">
            <a:extLst>
              <a:ext uri="{FF2B5EF4-FFF2-40B4-BE49-F238E27FC236}">
                <a16:creationId xmlns:a16="http://schemas.microsoft.com/office/drawing/2014/main" id="{7D729202-AFA1-D7DB-63F5-CA78780F56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22"/>
          <a:stretch>
            <a:fillRect/>
          </a:stretch>
        </p:blipFill>
        <p:spPr>
          <a:xfrm>
            <a:off x="1580224" y="656948"/>
            <a:ext cx="8902591" cy="475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28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76F7-37F2-9272-4DA7-E8DAA602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entral Processing Unit | Computer Processors &amp; It's Work | InforamtionQ.com">
            <a:extLst>
              <a:ext uri="{FF2B5EF4-FFF2-40B4-BE49-F238E27FC236}">
                <a16:creationId xmlns:a16="http://schemas.microsoft.com/office/drawing/2014/main" id="{B1A27778-FA2F-2600-8EE2-C416821C0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093" y="1375253"/>
            <a:ext cx="64293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9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2DCB-589A-6D1A-58EF-148F73D4B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AY0340-Digital Systems Modeling and Synthesis">
            <a:extLst>
              <a:ext uri="{FF2B5EF4-FFF2-40B4-BE49-F238E27FC236}">
                <a16:creationId xmlns:a16="http://schemas.microsoft.com/office/drawing/2014/main" id="{35A23F95-424C-F110-DFFB-CAE64EF00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387" y="378410"/>
            <a:ext cx="6949264" cy="514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03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0A536-F485-ADEA-DDA1-CE4ABE1B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ypes of Computer Memory: RAM, ROM and Secondary Memory - Latest News from  Seeed Studio">
            <a:extLst>
              <a:ext uri="{FF2B5EF4-FFF2-40B4-BE49-F238E27FC236}">
                <a16:creationId xmlns:a16="http://schemas.microsoft.com/office/drawing/2014/main" id="{7007CBA6-282F-2644-BE40-2057294A1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986" y="759133"/>
            <a:ext cx="62674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7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B485E-4E5B-E4C6-7CF2-9A1765AF4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derstanding Secondary Storage of Operating system | by Arbaj Khan | Medium">
            <a:extLst>
              <a:ext uri="{FF2B5EF4-FFF2-40B4-BE49-F238E27FC236}">
                <a16:creationId xmlns:a16="http://schemas.microsoft.com/office/drawing/2014/main" id="{67EC4D5B-5E73-FF53-05E8-7DAE5F98B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347" y="918730"/>
            <a:ext cx="8380952" cy="4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62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2C20F-297C-732D-3B8F-CEB74538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78366C57-3360-3A35-AAC3-94725325F0A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51" imgH="450" progId="TCLayout.ActiveDocument.1">
                  <p:embed/>
                </p:oleObj>
              </mc:Choice>
              <mc:Fallback>
                <p:oleObj name="think-cell Slide" r:id="rId6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78366C57-3360-3A35-AAC3-94725325F0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F9CC3423-8B0E-E272-49E8-68AA3281E77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8814A6-FFC1-33F5-16B8-033E39A985E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</a:t>
            </a: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4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9CC3D2-6045-953C-E137-25A87B98B4E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2477536-E289-6DA5-E40D-C178B285FDB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47A15D4-7A87-DFE7-9F17-974F8A2C77B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5CB529-6E86-2E6F-E912-7DA696234E0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7" name="Picture 26" descr="Stellenbosch_University_new_logo_slogan_for-web-02 | SMF News">
                <a:extLst>
                  <a:ext uri="{FF2B5EF4-FFF2-40B4-BE49-F238E27FC236}">
                    <a16:creationId xmlns:a16="http://schemas.microsoft.com/office/drawing/2014/main" id="{AEFB4A35-A2CE-FCF9-1D16-15A0DBFF88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75E9056-3932-3F52-DB73-9EAEE079853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20 July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1EC108-DC9F-DD0A-ECEE-AD8217C63F20}"/>
                </a:ext>
              </a:extLst>
            </p:cNvPr>
            <p:cNvSpPr/>
            <p:nvPr/>
          </p:nvSpPr>
          <p:spPr>
            <a:xfrm>
              <a:off x="3396034" y="584240"/>
              <a:ext cx="5419491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 PROGRAMMING LANGUAGE?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FE1A8FF-BE03-C528-827E-F87545848AD8}"/>
              </a:ext>
            </a:extLst>
          </p:cNvPr>
          <p:cNvSpPr/>
          <p:nvPr/>
        </p:nvSpPr>
        <p:spPr>
          <a:xfrm>
            <a:off x="1394706" y="1042977"/>
            <a:ext cx="1421606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790AE-1699-5BF2-2346-C40885CCE5AD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6A7F3D-2141-7E03-9793-6AEF4D918BB3}"/>
              </a:ext>
            </a:extLst>
          </p:cNvPr>
          <p:cNvSpPr txBox="1"/>
          <p:nvPr/>
        </p:nvSpPr>
        <p:spPr>
          <a:xfrm>
            <a:off x="1635160" y="1046467"/>
            <a:ext cx="10033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formal,</a:t>
            </a:r>
            <a:r>
              <a:rPr kumimoji="0" lang="en-ZA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 structured set of instructions and syntax used by humans to communicate with computers and create applications (software)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A7E4F5-F7BB-3F0B-5E3E-3112E4B25BB3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BA2DD3-2542-976A-A05E-FAEEFC2B7D2E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AF3F51-B8A8-90BA-8CD2-32E73BBDFB26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ED65F-699D-5E25-68A2-C14B25867BF0}"/>
              </a:ext>
            </a:extLst>
          </p:cNvPr>
          <p:cNvSpPr txBox="1"/>
          <p:nvPr/>
        </p:nvSpPr>
        <p:spPr>
          <a:xfrm>
            <a:off x="3876451" y="5992301"/>
            <a:ext cx="445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3 TYPES OF PROGRAMMING LANGUAGES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E3CA1-F150-DF9A-66D7-840CE3AF7491}"/>
              </a:ext>
            </a:extLst>
          </p:cNvPr>
          <p:cNvSpPr txBox="1"/>
          <p:nvPr/>
        </p:nvSpPr>
        <p:spPr>
          <a:xfrm>
            <a:off x="392640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MACHINE LANGUAGE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931198-B90E-BF2E-434F-608AFE306624}"/>
              </a:ext>
            </a:extLst>
          </p:cNvPr>
          <p:cNvSpPr txBox="1"/>
          <p:nvPr/>
        </p:nvSpPr>
        <p:spPr>
          <a:xfrm>
            <a:off x="4429358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ASSEMBLY LANGUAGE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23ADB3-0939-CED0-BE10-DEA8C1C418DF}"/>
              </a:ext>
            </a:extLst>
          </p:cNvPr>
          <p:cNvSpPr txBox="1"/>
          <p:nvPr/>
        </p:nvSpPr>
        <p:spPr>
          <a:xfrm>
            <a:off x="8563343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HIGH-LEVEL LANGUAGES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2560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8ECE-CB2D-E3DB-F816-9A14198C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E0E16F4F-F07E-8718-327C-A359272B60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E0E16F4F-F07E-8718-327C-A359272B60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F6E7E396-FA7A-D4B0-C810-1DFCA80B36A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C9C214-3C4F-C010-D4F7-7BC0E29113E7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</a:t>
            </a: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4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BEBCB5-A942-E45F-2EF8-8A6C8B3B14E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11D8C35-61B2-4EA7-7FF5-3D94752C964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1FCA19-33E6-8FD1-77DE-D8796E9D220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3E262C6-5D70-895B-D692-AF5B1936AAA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7" name="Picture 26" descr="Stellenbosch_University_new_logo_slogan_for-web-02 | SMF News">
                <a:extLst>
                  <a:ext uri="{FF2B5EF4-FFF2-40B4-BE49-F238E27FC236}">
                    <a16:creationId xmlns:a16="http://schemas.microsoft.com/office/drawing/2014/main" id="{B84C600A-294A-FE5E-07FC-CFD15E367C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1D4714-38B8-8278-3F78-B0856D90BCE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20 July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EED0EC1-3F9B-8411-E783-5B0050D34272}"/>
                </a:ext>
              </a:extLst>
            </p:cNvPr>
            <p:cNvSpPr/>
            <p:nvPr/>
          </p:nvSpPr>
          <p:spPr>
            <a:xfrm>
              <a:off x="3396034" y="584240"/>
              <a:ext cx="5419491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 PROGRAMMING LANGUAGE?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F328401-4F11-8827-1260-AD78ED5B2D7B}"/>
              </a:ext>
            </a:extLst>
          </p:cNvPr>
          <p:cNvSpPr/>
          <p:nvPr/>
        </p:nvSpPr>
        <p:spPr>
          <a:xfrm>
            <a:off x="1394706" y="1042977"/>
            <a:ext cx="1421606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271B1-A7CA-146A-18D8-84EDF5DF5724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0FF11-0FB3-3531-12C4-7C0C42788A84}"/>
              </a:ext>
            </a:extLst>
          </p:cNvPr>
          <p:cNvSpPr txBox="1"/>
          <p:nvPr/>
        </p:nvSpPr>
        <p:spPr>
          <a:xfrm>
            <a:off x="1635160" y="1046467"/>
            <a:ext cx="10033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formal,</a:t>
            </a:r>
            <a:r>
              <a:rPr kumimoji="0" lang="en-ZA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 structured set of instructions and syntax used by humans to communicate with computers and create applications (software)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B70DB-E7D2-0498-A268-AB46168A7D7F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String of numbers giving machine specific instructions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+1300042774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+1400593419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+1200274027</a:t>
            </a: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153948-69C5-673B-5D90-776FE6F45C12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7C9843-A4FF-CC34-D633-43269B3318FD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FDB7F-74DF-B98C-8451-C01EE2F8D1EC}"/>
              </a:ext>
            </a:extLst>
          </p:cNvPr>
          <p:cNvSpPr txBox="1"/>
          <p:nvPr/>
        </p:nvSpPr>
        <p:spPr>
          <a:xfrm>
            <a:off x="3876451" y="5992301"/>
            <a:ext cx="445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3 TYPES OF PROGRAMMING LANGUAGES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ABFF2-6F31-29C3-60BB-563CB29A4A8B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MACHINE LANGUAGE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2F72A3-5578-5FF8-3029-1699BD2E3DEA}"/>
              </a:ext>
            </a:extLst>
          </p:cNvPr>
          <p:cNvSpPr txBox="1"/>
          <p:nvPr/>
        </p:nvSpPr>
        <p:spPr>
          <a:xfrm>
            <a:off x="4429358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ASSEMBLY LANGUAGE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AAB83F-69B6-8311-BC5F-00B79540CF90}"/>
              </a:ext>
            </a:extLst>
          </p:cNvPr>
          <p:cNvSpPr txBox="1"/>
          <p:nvPr/>
        </p:nvSpPr>
        <p:spPr>
          <a:xfrm>
            <a:off x="8563343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HIGH-LEVEL LANGUAGES</a:t>
            </a:r>
          </a:p>
        </p:txBody>
      </p:sp>
    </p:spTree>
    <p:extLst>
      <p:ext uri="{BB962C8B-B14F-4D97-AF65-F5344CB8AC3E}">
        <p14:creationId xmlns:p14="http://schemas.microsoft.com/office/powerpoint/2010/main" val="1148143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8AF7C-AEB7-28E8-9B63-BFA43927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AB0378F9-24E0-F58B-B9F6-91D9287F9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AB0378F9-24E0-F58B-B9F6-91D9287F9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05B9F09-574D-7F4D-AC08-7A12A46F750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3DC940-7ED3-0992-216D-42FB1E071E0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</a:t>
            </a: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4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C2B595-FFCA-F77B-7240-50CAD9E469E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3B21E70-333D-F300-8EE4-E3E52A8540F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4BA1CD-E13E-0335-6F20-72D18F7C81F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454B05-2A7F-D44D-02D1-B24D3E08977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7" name="Picture 26" descr="Stellenbosch_University_new_logo_slogan_for-web-02 | SMF News">
                <a:extLst>
                  <a:ext uri="{FF2B5EF4-FFF2-40B4-BE49-F238E27FC236}">
                    <a16:creationId xmlns:a16="http://schemas.microsoft.com/office/drawing/2014/main" id="{B7EABEE8-3BC4-BF35-32C1-F09810495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F309A1-66B4-5F98-C2FE-35D5F425767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20 July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75F2BD-C00C-3495-C642-B5DFAB9F2EF2}"/>
                </a:ext>
              </a:extLst>
            </p:cNvPr>
            <p:cNvSpPr/>
            <p:nvPr/>
          </p:nvSpPr>
          <p:spPr>
            <a:xfrm>
              <a:off x="3396034" y="584240"/>
              <a:ext cx="5419491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 PROGRAMMING LANGUAGE?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61A6DCE-10E5-C5E1-9073-7097AE3AB98E}"/>
              </a:ext>
            </a:extLst>
          </p:cNvPr>
          <p:cNvSpPr/>
          <p:nvPr/>
        </p:nvSpPr>
        <p:spPr>
          <a:xfrm>
            <a:off x="1394706" y="1042977"/>
            <a:ext cx="1421606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AB444-C403-5006-4409-CE14250EE9F1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A99C9-B80E-B0B5-31DA-C96A2210A812}"/>
              </a:ext>
            </a:extLst>
          </p:cNvPr>
          <p:cNvSpPr txBox="1"/>
          <p:nvPr/>
        </p:nvSpPr>
        <p:spPr>
          <a:xfrm>
            <a:off x="1635160" y="1046467"/>
            <a:ext cx="10033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formal,</a:t>
            </a:r>
            <a:r>
              <a:rPr kumimoji="0" lang="en-ZA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 structured set of instructions and syntax used by humans to communicate with computers and create applications (software)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1D40B-3165-D5ED-950A-12086D622A84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String of numbers giving machine specific instructions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+1300042774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+1400593419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+1200274027</a:t>
            </a: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2191-A29B-A32A-A61C-80405F28B199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English-like abbr. representing elementary comp. operations (translated by assemblers).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US" sz="1400" dirty="0">
                <a:solidFill>
                  <a:srgbClr val="FFFF00"/>
                </a:solidFill>
                <a:latin typeface="LM Roman 12" panose="00000500000000000000" pitchFamily="50" charset="0"/>
              </a:rPr>
              <a:t>LOAD BASEPAY</a:t>
            </a:r>
          </a:p>
          <a:p>
            <a:pPr algn="ctr"/>
            <a:r>
              <a:rPr lang="en-US" sz="1400" dirty="0">
                <a:solidFill>
                  <a:srgbClr val="FFFF00"/>
                </a:solidFill>
                <a:latin typeface="LM Roman 12" panose="00000500000000000000" pitchFamily="50" charset="0"/>
              </a:rPr>
              <a:t>ADD OVERPAY</a:t>
            </a:r>
          </a:p>
          <a:p>
            <a:pPr algn="ctr"/>
            <a:r>
              <a:rPr lang="en-US" sz="1400" dirty="0">
                <a:solidFill>
                  <a:srgbClr val="FFFF00"/>
                </a:solidFill>
                <a:latin typeface="LM Roman 12" panose="00000500000000000000" pitchFamily="50" charset="0"/>
              </a:rPr>
              <a:t>STORE GROSSPAY</a:t>
            </a:r>
            <a:endParaRPr lang="en-ZA" sz="1400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258FB-AB82-C841-E566-0DE2348A88AE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16487E-1EC5-5533-3A29-CA3E9067A180}"/>
              </a:ext>
            </a:extLst>
          </p:cNvPr>
          <p:cNvSpPr txBox="1"/>
          <p:nvPr/>
        </p:nvSpPr>
        <p:spPr>
          <a:xfrm>
            <a:off x="3876451" y="5992301"/>
            <a:ext cx="445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3 TYPES OF PROGRAMMING LANGUAGES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CEBF2-C621-BFC8-CD5E-2AC970FD96D5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MACHINE LANGUAGE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8B5CCD-C2C7-D9EF-09E1-6FC9C13E567E}"/>
              </a:ext>
            </a:extLst>
          </p:cNvPr>
          <p:cNvSpPr txBox="1"/>
          <p:nvPr/>
        </p:nvSpPr>
        <p:spPr>
          <a:xfrm>
            <a:off x="4419578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ASSEMBLY LANGUAGE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C6D19F-8887-6E80-3699-BE93510B23BD}"/>
              </a:ext>
            </a:extLst>
          </p:cNvPr>
          <p:cNvSpPr txBox="1"/>
          <p:nvPr/>
        </p:nvSpPr>
        <p:spPr>
          <a:xfrm>
            <a:off x="8563343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HIGH-LEVEL LANGUAGES</a:t>
            </a:r>
          </a:p>
        </p:txBody>
      </p:sp>
    </p:spTree>
    <p:extLst>
      <p:ext uri="{BB962C8B-B14F-4D97-AF65-F5344CB8AC3E}">
        <p14:creationId xmlns:p14="http://schemas.microsoft.com/office/powerpoint/2010/main" val="3287061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4928-BCC0-8B4A-49EF-6C1F751E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D0E1B78-E621-3083-1A47-8359BEB73E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D0E1B78-E621-3083-1A47-8359BEB73E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B83320F-B7FC-E1C9-FEC1-2C8C902E90D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86002D-714B-B43D-C819-4B6F4E76A9E4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</a:t>
            </a: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4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8F8E8EF-FBDB-F7D1-E9F4-BEE3A6A4ED6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B12A130-0990-B353-BC35-7FB96FC3CC9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A9C12C-58E5-10DA-90F7-C2F9D7A4934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F78B93-401C-21EB-F83D-9217DFA3D91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7" name="Picture 26" descr="Stellenbosch_University_new_logo_slogan_for-web-02 | SMF News">
                <a:extLst>
                  <a:ext uri="{FF2B5EF4-FFF2-40B4-BE49-F238E27FC236}">
                    <a16:creationId xmlns:a16="http://schemas.microsoft.com/office/drawing/2014/main" id="{1AA5655C-E25F-6CC7-F71D-43AC76F731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007E95-F916-C871-4EB0-32E1148FFAB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20 July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54651D9-CE7B-C796-76C2-F0AB6EB85062}"/>
                </a:ext>
              </a:extLst>
            </p:cNvPr>
            <p:cNvSpPr/>
            <p:nvPr/>
          </p:nvSpPr>
          <p:spPr>
            <a:xfrm>
              <a:off x="3396034" y="584240"/>
              <a:ext cx="5419491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WHAT IS A PROGRAMMING LANGUAGE?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67C759F-DAD7-E2A7-E06D-EFD1067BED5B}"/>
              </a:ext>
            </a:extLst>
          </p:cNvPr>
          <p:cNvSpPr/>
          <p:nvPr/>
        </p:nvSpPr>
        <p:spPr>
          <a:xfrm>
            <a:off x="1394706" y="1042977"/>
            <a:ext cx="1421606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CB1CC5-65D9-324F-B678-115E2BDCB7C4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DE4E4-D0C8-C892-3BB3-877224F6E45F}"/>
              </a:ext>
            </a:extLst>
          </p:cNvPr>
          <p:cNvSpPr txBox="1"/>
          <p:nvPr/>
        </p:nvSpPr>
        <p:spPr>
          <a:xfrm>
            <a:off x="1635160" y="1046467"/>
            <a:ext cx="10033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A formal,</a:t>
            </a:r>
            <a:r>
              <a:rPr kumimoji="0" lang="en-ZA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 structured set of instructions and syntax used by humans to communicate with computers and create applications (software)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C957FB-214E-AF68-8381-5E8F06FCDBF3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String of numbers giving machine specific instructions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+1300042774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+1400593419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+1200274027</a:t>
            </a: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9C552D-CD83-E6C7-4E10-F001030869DB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English-like abbr. representing elementary comp. operations (translated by assemblers).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US" sz="1400" dirty="0">
                <a:solidFill>
                  <a:srgbClr val="FFFF00"/>
                </a:solidFill>
                <a:latin typeface="LM Roman 12" panose="00000500000000000000" pitchFamily="50" charset="0"/>
              </a:rPr>
              <a:t>LOAD BASEPAY</a:t>
            </a:r>
          </a:p>
          <a:p>
            <a:pPr algn="ctr"/>
            <a:r>
              <a:rPr lang="en-US" sz="1400" dirty="0">
                <a:solidFill>
                  <a:srgbClr val="FFFF00"/>
                </a:solidFill>
                <a:latin typeface="LM Roman 12" panose="00000500000000000000" pitchFamily="50" charset="0"/>
              </a:rPr>
              <a:t>ADD OVERPAY</a:t>
            </a:r>
          </a:p>
          <a:p>
            <a:pPr algn="ctr"/>
            <a:r>
              <a:rPr lang="en-US" sz="1400" dirty="0">
                <a:solidFill>
                  <a:srgbClr val="FFFF00"/>
                </a:solidFill>
                <a:latin typeface="LM Roman 12" panose="00000500000000000000" pitchFamily="50" charset="0"/>
              </a:rPr>
              <a:t>STORE GROSSPAY</a:t>
            </a:r>
            <a:endParaRPr lang="en-ZA" sz="1400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ED91CA-ADC9-BC0C-EA4B-A21F9B616DA0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Codes similar to everyday English. Uses mathematical notations. Translated by compilers.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Example:</a:t>
            </a:r>
          </a:p>
          <a:p>
            <a:pPr algn="ctr"/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grossPay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=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basePay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+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overTimePay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2E1C6-D1EF-08EC-4D55-C17E261AA04D}"/>
              </a:ext>
            </a:extLst>
          </p:cNvPr>
          <p:cNvSpPr txBox="1"/>
          <p:nvPr/>
        </p:nvSpPr>
        <p:spPr>
          <a:xfrm>
            <a:off x="3876451" y="5992301"/>
            <a:ext cx="4458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3 TYPES OF PROGRAMMING LANGUAGES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0C45B-FF0C-B562-5442-96223F9FB131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MACHINE LANGUAGE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735191-0E1B-4053-3E2B-AD062C1F2B83}"/>
              </a:ext>
            </a:extLst>
          </p:cNvPr>
          <p:cNvSpPr txBox="1"/>
          <p:nvPr/>
        </p:nvSpPr>
        <p:spPr>
          <a:xfrm>
            <a:off x="4419578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ASSEMBLY LANGUAGE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5C1977-1D9F-6173-4D05-ADB10701D90F}"/>
              </a:ext>
            </a:extLst>
          </p:cNvPr>
          <p:cNvSpPr txBox="1"/>
          <p:nvPr/>
        </p:nvSpPr>
        <p:spPr>
          <a:xfrm>
            <a:off x="8446518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HIGH-LEVEL LANGUAGES</a:t>
            </a:r>
          </a:p>
        </p:txBody>
      </p:sp>
    </p:spTree>
    <p:extLst>
      <p:ext uri="{BB962C8B-B14F-4D97-AF65-F5344CB8AC3E}">
        <p14:creationId xmlns:p14="http://schemas.microsoft.com/office/powerpoint/2010/main" val="875427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1A52-39F9-6D42-3B58-5140E62EE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04329F2-35AF-6E13-013C-3BD505D0348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51" imgH="450" progId="TCLayout.ActiveDocument.1">
                  <p:embed/>
                </p:oleObj>
              </mc:Choice>
              <mc:Fallback>
                <p:oleObj name="think-cell Slide" r:id="rId6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04329F2-35AF-6E13-013C-3BD505D034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030B919-D074-C1EC-5877-4E3D8563D82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B785BB-6C2A-C704-D9A3-778C4269688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 PROGRAMMING	pg. 5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936BD57-8A94-9DD4-0C17-FB112177669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5CDFD19-077C-A46A-6F1A-AE82FF192A4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9E34949-F529-EB40-04DB-1B6F28BBAAC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DE48CD6-C63D-08C9-0D89-D18E6D1DAC4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7" name="Picture 26" descr="Stellenbosch_University_new_logo_slogan_for-web-02 | SMF News">
                <a:extLst>
                  <a:ext uri="{FF2B5EF4-FFF2-40B4-BE49-F238E27FC236}">
                    <a16:creationId xmlns:a16="http://schemas.microsoft.com/office/drawing/2014/main" id="{00D8F63D-FDE4-3748-F60B-D1E015F15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EF53D42-5F3C-E804-7636-D38E7669C9F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20 July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D4CF0CC-6FCD-2993-4D0F-C2F01E06B664}"/>
                </a:ext>
              </a:extLst>
            </p:cNvPr>
            <p:cNvSpPr/>
            <p:nvPr/>
          </p:nvSpPr>
          <p:spPr>
            <a:xfrm>
              <a:off x="3396034" y="584240"/>
              <a:ext cx="5419491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BENEFITS: PROGRAMMING IN C LANGUAGE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C852262A-E263-14A1-1402-90F7984365C6}"/>
              </a:ext>
            </a:extLst>
          </p:cNvPr>
          <p:cNvSpPr/>
          <p:nvPr/>
        </p:nvSpPr>
        <p:spPr>
          <a:xfrm>
            <a:off x="1394706" y="1042978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EF178FC-E971-4A5A-072D-587DFF39672B}"/>
              </a:ext>
            </a:extLst>
          </p:cNvPr>
          <p:cNvSpPr/>
          <p:nvPr/>
        </p:nvSpPr>
        <p:spPr>
          <a:xfrm>
            <a:off x="1635161" y="986640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584FB9-9DA0-35AD-B403-F7DDADF04616}"/>
              </a:ext>
            </a:extLst>
          </p:cNvPr>
          <p:cNvSpPr txBox="1"/>
          <p:nvPr/>
        </p:nvSpPr>
        <p:spPr>
          <a:xfrm>
            <a:off x="1635160" y="1046467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Programming principles are easy to learn in 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9CBD72-0743-B505-6AB4-58214F5563BA}"/>
              </a:ext>
            </a:extLst>
          </p:cNvPr>
          <p:cNvSpPr/>
          <p:nvPr/>
        </p:nvSpPr>
        <p:spPr>
          <a:xfrm>
            <a:off x="1394705" y="1924096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E352568-C6C2-EE6B-3762-8CF1F6AD7A92}"/>
              </a:ext>
            </a:extLst>
          </p:cNvPr>
          <p:cNvSpPr/>
          <p:nvPr/>
        </p:nvSpPr>
        <p:spPr>
          <a:xfrm>
            <a:off x="1635160" y="1867758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CAC97E-84D7-E646-6A0A-E4EB5C2B23B8}"/>
              </a:ext>
            </a:extLst>
          </p:cNvPr>
          <p:cNvSpPr txBox="1"/>
          <p:nvPr/>
        </p:nvSpPr>
        <p:spPr>
          <a:xfrm>
            <a:off x="1635159" y="1927585"/>
            <a:ext cx="10980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Provides a foundation from which to learn higher level languages (</a:t>
            </a:r>
            <a:r>
              <a:rPr lang="en-ZA" sz="2400" dirty="0" err="1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c++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/java)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FF02B88-B406-A960-33DA-68526CBD9823}"/>
              </a:ext>
            </a:extLst>
          </p:cNvPr>
          <p:cNvSpPr/>
          <p:nvPr/>
        </p:nvSpPr>
        <p:spPr>
          <a:xfrm>
            <a:off x="1394704" y="2804380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58E8C99-3674-F4FD-40F8-13F6A8B726DC}"/>
              </a:ext>
            </a:extLst>
          </p:cNvPr>
          <p:cNvSpPr/>
          <p:nvPr/>
        </p:nvSpPr>
        <p:spPr>
          <a:xfrm>
            <a:off x="1635159" y="2748042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B4EAC0-15B6-4A73-1A12-52163984B10B}"/>
              </a:ext>
            </a:extLst>
          </p:cNvPr>
          <p:cNvSpPr txBox="1"/>
          <p:nvPr/>
        </p:nvSpPr>
        <p:spPr>
          <a:xfrm>
            <a:off x="1635158" y="2807869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Essential for embedded applications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56EDA1E-4715-5D5B-610F-9D07BC00245C}"/>
              </a:ext>
            </a:extLst>
          </p:cNvPr>
          <p:cNvSpPr/>
          <p:nvPr/>
        </p:nvSpPr>
        <p:spPr>
          <a:xfrm>
            <a:off x="1394704" y="3712093"/>
            <a:ext cx="1421606" cy="5461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8931C7-7550-AE7D-653B-D12296BEC358}"/>
              </a:ext>
            </a:extLst>
          </p:cNvPr>
          <p:cNvSpPr/>
          <p:nvPr/>
        </p:nvSpPr>
        <p:spPr>
          <a:xfrm>
            <a:off x="1635159" y="3655755"/>
            <a:ext cx="5075043" cy="60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FF36AE3-A421-9C13-712B-89A993CE3F7E}"/>
              </a:ext>
            </a:extLst>
          </p:cNvPr>
          <p:cNvSpPr txBox="1"/>
          <p:nvPr/>
        </p:nvSpPr>
        <p:spPr>
          <a:xfrm>
            <a:off x="1635158" y="3715582"/>
            <a:ext cx="1003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108107"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Many libraries for mathematical and scientific applications available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04972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/>
      <p:bldP spid="59" grpId="0" animBg="1"/>
      <p:bldP spid="61" grpId="0"/>
      <p:bldP spid="62" grpId="0" animBg="1"/>
      <p:bldP spid="64" grpId="0"/>
      <p:bldP spid="65" grpId="0" animBg="1"/>
      <p:bldP spid="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FA84F-3FC3-F644-3446-DBACBA2D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F756517-D097-5160-06D6-BCE7819B12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F756517-D097-5160-06D6-BCE7819B12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315A258-245D-2D23-1663-D811169DDF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F50635-EA75-4FE7-88A5-D3F9B4BAD1A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5DB7B5-8663-3A44-C6CA-F48013D2A4B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BDA4D3-1BEF-22A8-9923-9BAEE27A3BA7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D162372-4C14-53D1-2B6C-D946C79FFC8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88C463E2-5E17-FD5C-5189-68602B2EE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65E6F2-F261-4763-4ECD-CB6B22F4917E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C45AAA1-9269-4D87-3DC4-AC682671145D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FA7D89-AFB9-ACEE-011F-2ABE8AA81929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39A6BC-A727-D99A-A968-EA0D24DB9952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51322E-AC2F-3085-9244-56A577B614EB}"/>
              </a:ext>
            </a:extLst>
          </p:cNvPr>
          <p:cNvSpPr txBox="1"/>
          <p:nvPr/>
        </p:nvSpPr>
        <p:spPr>
          <a:xfrm>
            <a:off x="1949168" y="6003971"/>
            <a:ext cx="698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C PROGRAM STAGES: </a:t>
            </a:r>
            <a:r>
              <a:rPr lang="en-ZA" dirty="0"/>
              <a:t>edit, pre-process, compile, link, load, execute</a:t>
            </a:r>
            <a:endParaRPr lang="en-ZA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180AC-1141-346C-6334-4E90BC7A5D15}"/>
              </a:ext>
            </a:extLst>
          </p:cNvPr>
          <p:cNvSpPr txBox="1"/>
          <p:nvPr/>
        </p:nvSpPr>
        <p:spPr>
          <a:xfrm>
            <a:off x="392640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DEVELOPMENT ENV. (IDE)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1FEF79-8DAA-F2AA-0667-E1F517C587C3}"/>
              </a:ext>
            </a:extLst>
          </p:cNvPr>
          <p:cNvSpPr txBox="1"/>
          <p:nvPr/>
        </p:nvSpPr>
        <p:spPr>
          <a:xfrm>
            <a:off x="4429358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 LANGUAGE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1C61F1-9F11-3D85-5F74-EC7FD800D861}"/>
              </a:ext>
            </a:extLst>
          </p:cNvPr>
          <p:cNvSpPr txBox="1"/>
          <p:nvPr/>
        </p:nvSpPr>
        <p:spPr>
          <a:xfrm>
            <a:off x="8563343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 STANDARD LIBRARY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06561D-C067-2D31-1AF3-01BC53DD5757}"/>
              </a:ext>
            </a:extLst>
          </p:cNvPr>
          <p:cNvSpPr/>
          <p:nvPr/>
        </p:nvSpPr>
        <p:spPr>
          <a:xfrm>
            <a:off x="613470" y="1286233"/>
            <a:ext cx="1421606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4189B3-230B-ADCB-5C13-022DA42D0A41}"/>
              </a:ext>
            </a:extLst>
          </p:cNvPr>
          <p:cNvSpPr/>
          <p:nvPr/>
        </p:nvSpPr>
        <p:spPr>
          <a:xfrm>
            <a:off x="853925" y="1229896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BD774D-B1D2-C7DD-B2F3-7ED8FCF4A3D5}"/>
              </a:ext>
            </a:extLst>
          </p:cNvPr>
          <p:cNvSpPr txBox="1"/>
          <p:nvPr/>
        </p:nvSpPr>
        <p:spPr>
          <a:xfrm>
            <a:off x="853924" y="1289723"/>
            <a:ext cx="10915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C programs consist of pieces/modules called functions (adv: programmer knows how it works, </a:t>
            </a:r>
            <a:r>
              <a:rPr lang="en-ZA" sz="2400" dirty="0" err="1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disadv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: computational expensive). But C LIBS can be used 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2553EA-548B-4DAD-E5D1-FAB5CDCF9587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TYPICAL C PROGRAM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109505689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D603-DB10-5143-21BB-480C6A30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3F5D5C7A-B321-6418-DE78-B99C6D6FAA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3F5D5C7A-B321-6418-DE78-B99C6D6FAA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04943A35-47F7-A7A6-6B04-9762E67250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896603-D0C5-9CD7-6EE5-DC62054C86CD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E4599E-4EB4-CB07-64AF-585A508C526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03CD71-AB73-1023-FC1E-8DD6ABD88BF1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A6B857-3BAB-46A5-5A86-705B92EEF08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C6980B09-2232-8CFF-F73A-B919DFCAE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4BF011C-F88C-3D38-F693-F1F44F83D74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1BFC17B-7566-9B85-937E-34C51BDBCCCD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An IDE is software that provides a comprehensive set of features for software development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Code::Blocks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Visual Studio/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VSCode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CLion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43783D-BC06-8F82-4235-06D0352769EA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9BDDC-ECE8-79DA-CCDA-C316F1AC7107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FBCEA3-0D8A-DF88-4634-064964E61C15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DEVELOPMENT ENV. (IDE)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15F26-D13E-0F7F-E34F-8CB72B7C0551}"/>
              </a:ext>
            </a:extLst>
          </p:cNvPr>
          <p:cNvSpPr txBox="1"/>
          <p:nvPr/>
        </p:nvSpPr>
        <p:spPr>
          <a:xfrm>
            <a:off x="4429358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 LANGUAGE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EB36BE-94F4-1488-55AC-973852335923}"/>
              </a:ext>
            </a:extLst>
          </p:cNvPr>
          <p:cNvSpPr txBox="1"/>
          <p:nvPr/>
        </p:nvSpPr>
        <p:spPr>
          <a:xfrm>
            <a:off x="8563343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 STANDARD LIBRARY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4C3E7B-D518-ECEC-9E81-2E55B3D5D35E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TYPICAL C PROGRAM DEVELOPMENT ENVIRONMENT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987BFD-B37B-3D0D-8686-FDA3C68FC4C3}"/>
              </a:ext>
            </a:extLst>
          </p:cNvPr>
          <p:cNvSpPr/>
          <p:nvPr/>
        </p:nvSpPr>
        <p:spPr>
          <a:xfrm>
            <a:off x="613470" y="1286233"/>
            <a:ext cx="1421606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D5B1F9-7610-40AF-FA1D-A14C42DBC5A9}"/>
              </a:ext>
            </a:extLst>
          </p:cNvPr>
          <p:cNvSpPr/>
          <p:nvPr/>
        </p:nvSpPr>
        <p:spPr>
          <a:xfrm>
            <a:off x="853925" y="1229896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05D5A1-D82D-AF78-3FD2-05A3CA5F5387}"/>
              </a:ext>
            </a:extLst>
          </p:cNvPr>
          <p:cNvSpPr txBox="1"/>
          <p:nvPr/>
        </p:nvSpPr>
        <p:spPr>
          <a:xfrm>
            <a:off x="853924" y="1289723"/>
            <a:ext cx="10915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C programs consist of pieces/modules called functions (adv: programmer knows how it works, </a:t>
            </a:r>
            <a:r>
              <a:rPr lang="en-ZA" sz="2400" dirty="0" err="1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disadv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: computational expensive). But C LIBS can be used 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03386C-A467-8860-61C2-F304AE78FAA4}"/>
              </a:ext>
            </a:extLst>
          </p:cNvPr>
          <p:cNvSpPr txBox="1"/>
          <p:nvPr/>
        </p:nvSpPr>
        <p:spPr>
          <a:xfrm>
            <a:off x="1949168" y="6003971"/>
            <a:ext cx="698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C PROGRAM STAGES: </a:t>
            </a:r>
            <a:r>
              <a:rPr lang="en-ZA" dirty="0"/>
              <a:t>edit, pre-process, compile, link, load, execute</a:t>
            </a:r>
            <a:endParaRPr lang="en-ZA" b="1" dirty="0"/>
          </a:p>
        </p:txBody>
      </p:sp>
    </p:spTree>
    <p:extLst>
      <p:ext uri="{BB962C8B-B14F-4D97-AF65-F5344CB8AC3E}">
        <p14:creationId xmlns:p14="http://schemas.microsoft.com/office/powerpoint/2010/main" val="1977062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B924-90F6-70F4-1FCA-39B6D1EBB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22E75125-4CCA-4402-530B-9C3F86DA54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22E75125-4CCA-4402-530B-9C3F86DA54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C9A7B8F-96A7-3435-E921-59F4AE952BF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1BB11-D92B-27AF-B54B-4E8C0EE8088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BDBA54-EA6C-6076-384A-AA3563FBFDA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6BC31D-7317-A48D-6B63-1D59DB9088E5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360959-5735-8B70-68CE-956B110C5A0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473237F6-B675-8AC0-C149-E58D16347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A2BD88D-5E8E-C145-27E6-3418A42917EB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0D271F5-26B9-3FA0-D992-975100F3EF2C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D53A63-C250-8A7A-624B-E5A76A3AFC04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An IDE is software that provides a comprehensive set of features for software development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Code::Blocks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Visual Studio/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VSCode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CLion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851841-4FE5-1DDD-CFD8-BE8AE807DC3F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400" dirty="0"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2983C4-9706-614E-7A0C-CDA5C59EA21F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Contains functions. These are building blocks. Adv: Save time, </a:t>
            </a:r>
            <a:r>
              <a:rPr lang="en-ZA" dirty="0" err="1">
                <a:latin typeface="LM Roman 12" panose="00000500000000000000" pitchFamily="50" charset="0"/>
              </a:rPr>
              <a:t>disadv</a:t>
            </a:r>
            <a:r>
              <a:rPr lang="en-ZA" dirty="0">
                <a:latin typeface="LM Roman 12" panose="00000500000000000000" pitchFamily="50" charset="0"/>
              </a:rPr>
              <a:t>: know exactly how the functions work and memorise all of them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Example: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&lt;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stdio.h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&gt; ::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printf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(),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scanf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(),etc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&lt;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string.h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&gt; ::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strlen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(),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strcmp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3641AD-F3A4-239A-2421-685E2951037C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DEVELOPMENT ENV. (IDE)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846480-A617-6FC7-66C9-259A3519BCE5}"/>
              </a:ext>
            </a:extLst>
          </p:cNvPr>
          <p:cNvSpPr txBox="1"/>
          <p:nvPr/>
        </p:nvSpPr>
        <p:spPr>
          <a:xfrm>
            <a:off x="8446518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 STANDARD LIBRARY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9A6F8D-54E5-0414-1CD9-E8F04E1FE38B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TYPICAL C PROGRAM DEVELOPMENT ENVIRONMENT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70A64-C7E1-6276-D1A8-853ADB2CCB7A}"/>
              </a:ext>
            </a:extLst>
          </p:cNvPr>
          <p:cNvSpPr/>
          <p:nvPr/>
        </p:nvSpPr>
        <p:spPr>
          <a:xfrm>
            <a:off x="613470" y="1286233"/>
            <a:ext cx="1421606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E8CE81-1F11-C234-6A56-69FF1E258A15}"/>
              </a:ext>
            </a:extLst>
          </p:cNvPr>
          <p:cNvSpPr/>
          <p:nvPr/>
        </p:nvSpPr>
        <p:spPr>
          <a:xfrm>
            <a:off x="853925" y="1229896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8B19FC-6E3B-546E-F0E0-4FA75BD8667A}"/>
              </a:ext>
            </a:extLst>
          </p:cNvPr>
          <p:cNvSpPr txBox="1"/>
          <p:nvPr/>
        </p:nvSpPr>
        <p:spPr>
          <a:xfrm>
            <a:off x="853924" y="1289723"/>
            <a:ext cx="10915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C programs consist of pieces/modules called functions (adv: programmer knows how it works, </a:t>
            </a:r>
            <a:r>
              <a:rPr lang="en-ZA" sz="2400" dirty="0" err="1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disadv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: computational expensive). But C LIBS can be used 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4F3102-BB8A-2FD8-80C8-5D486D2CA7CF}"/>
              </a:ext>
            </a:extLst>
          </p:cNvPr>
          <p:cNvSpPr txBox="1"/>
          <p:nvPr/>
        </p:nvSpPr>
        <p:spPr>
          <a:xfrm>
            <a:off x="1949168" y="6003971"/>
            <a:ext cx="698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C PROGRAM STAGES: </a:t>
            </a:r>
            <a:r>
              <a:rPr lang="en-ZA" dirty="0"/>
              <a:t>edit, pre-process, compile, link, load, execute</a:t>
            </a:r>
            <a:endParaRPr lang="en-ZA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4853F7-58F7-4503-1331-0D5411C6A804}"/>
              </a:ext>
            </a:extLst>
          </p:cNvPr>
          <p:cNvSpPr txBox="1"/>
          <p:nvPr/>
        </p:nvSpPr>
        <p:spPr>
          <a:xfrm>
            <a:off x="4429358" y="3915052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 LANGUAGE</a:t>
            </a:r>
          </a:p>
        </p:txBody>
      </p:sp>
    </p:spTree>
    <p:extLst>
      <p:ext uri="{BB962C8B-B14F-4D97-AF65-F5344CB8AC3E}">
        <p14:creationId xmlns:p14="http://schemas.microsoft.com/office/powerpoint/2010/main" val="1647539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1C4E-4476-EB72-D024-491AAEB3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7593FD96-5B29-DBF2-C230-1AFEE20227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7593FD96-5B29-DBF2-C230-1AFEE2022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7614DF0-3D3B-35FF-C2FB-D29277B7B5F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20E6FC-F791-7C66-F86C-151C3E264108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63821AF-6811-813E-70A8-20278ACB300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84624E-2116-CA64-AAE9-09DFD73A9C60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2D4C28C-52B4-C25C-7367-1F54107632E4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1F8CE7F9-9BAA-26CF-143A-A91635CC4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1D1291-DFB0-5D2E-1CBA-D4E78573B459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B0B79AC-BF96-C687-3409-C0CEEE7EC88D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95F26A-45EA-527E-8764-B7374A3EC57D}"/>
              </a:ext>
            </a:extLst>
          </p:cNvPr>
          <p:cNvSpPr/>
          <p:nvPr/>
        </p:nvSpPr>
        <p:spPr>
          <a:xfrm>
            <a:off x="138624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An IDE is software that provides a comprehensive set of features for software development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Examples: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Code::Blocks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Visual Studio/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VSCode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CLion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EB8E91-85ED-1355-F3A3-627DFCEC5323}"/>
              </a:ext>
            </a:extLst>
          </p:cNvPr>
          <p:cNvSpPr/>
          <p:nvPr/>
        </p:nvSpPr>
        <p:spPr>
          <a:xfrm>
            <a:off x="4165562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Source code/program, instructions</a:t>
            </a: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  <a:p>
            <a:pPr algn="ctr"/>
            <a:endParaRPr lang="en-ZA" sz="1400" dirty="0">
              <a:latin typeface="LM Roman 12" panose="000005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963501-75A0-DF5F-B09A-F9161542B651}"/>
              </a:ext>
            </a:extLst>
          </p:cNvPr>
          <p:cNvSpPr/>
          <p:nvPr/>
        </p:nvSpPr>
        <p:spPr>
          <a:xfrm>
            <a:off x="8192501" y="2391313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Contains functions. These are building blocks. Adv: Save time, </a:t>
            </a:r>
            <a:r>
              <a:rPr lang="en-ZA" dirty="0" err="1">
                <a:latin typeface="LM Roman 12" panose="00000500000000000000" pitchFamily="50" charset="0"/>
              </a:rPr>
              <a:t>disadv</a:t>
            </a:r>
            <a:r>
              <a:rPr lang="en-ZA" dirty="0">
                <a:latin typeface="LM Roman 12" panose="00000500000000000000" pitchFamily="50" charset="0"/>
              </a:rPr>
              <a:t>: know exactly how the functions work and memorise all of them</a:t>
            </a:r>
          </a:p>
          <a:p>
            <a:pPr algn="ctr"/>
            <a:r>
              <a:rPr lang="en-ZA" dirty="0">
                <a:latin typeface="LM Roman 12" panose="00000500000000000000" pitchFamily="50" charset="0"/>
              </a:rPr>
              <a:t>Example: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&lt;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stdio.h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&gt; ::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printf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(),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scanf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(),etc</a:t>
            </a:r>
          </a:p>
          <a:p>
            <a:pPr algn="ctr"/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&lt;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string.h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&gt; ::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strlen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(), </a:t>
            </a:r>
            <a:r>
              <a:rPr lang="en-ZA" dirty="0" err="1">
                <a:solidFill>
                  <a:srgbClr val="FFFF00"/>
                </a:solidFill>
                <a:latin typeface="LM Roman 12" panose="00000500000000000000" pitchFamily="50" charset="0"/>
              </a:rPr>
              <a:t>strcmp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()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9CFF84-474F-CD34-C362-0A2CB0AF6EA6}"/>
              </a:ext>
            </a:extLst>
          </p:cNvPr>
          <p:cNvSpPr txBox="1"/>
          <p:nvPr/>
        </p:nvSpPr>
        <p:spPr>
          <a:xfrm>
            <a:off x="392640" y="2602486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DEVELOPMENT ENV. (IDE)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7EB18A-0DC9-1E53-A26B-67088D8C03FB}"/>
              </a:ext>
            </a:extLst>
          </p:cNvPr>
          <p:cNvSpPr txBox="1"/>
          <p:nvPr/>
        </p:nvSpPr>
        <p:spPr>
          <a:xfrm>
            <a:off x="8446518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 STANDARD LIBRARY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C9DD24-55EA-1E01-5EA0-5C00AD18EBCB}"/>
              </a:ext>
            </a:extLst>
          </p:cNvPr>
          <p:cNvSpPr/>
          <p:nvPr/>
        </p:nvSpPr>
        <p:spPr>
          <a:xfrm>
            <a:off x="613470" y="1286233"/>
            <a:ext cx="1421606" cy="8309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35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138146-6902-66FF-CF09-6DBBEEEFA11E}"/>
              </a:ext>
            </a:extLst>
          </p:cNvPr>
          <p:cNvSpPr/>
          <p:nvPr/>
        </p:nvSpPr>
        <p:spPr>
          <a:xfrm>
            <a:off x="853925" y="1229896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0583C2-122C-7438-F99B-088F78E28EEE}"/>
              </a:ext>
            </a:extLst>
          </p:cNvPr>
          <p:cNvSpPr txBox="1"/>
          <p:nvPr/>
        </p:nvSpPr>
        <p:spPr>
          <a:xfrm>
            <a:off x="853924" y="1289723"/>
            <a:ext cx="109153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108107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C programs consist of pieces/modules called functions (adv: programmer knows how it works, </a:t>
            </a:r>
            <a:r>
              <a:rPr lang="en-ZA" sz="2400" dirty="0" err="1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disadv</a:t>
            </a:r>
            <a:r>
              <a:rPr lang="en-ZA" sz="2400" dirty="0">
                <a:solidFill>
                  <a:prstClr val="black"/>
                </a:solidFill>
                <a:latin typeface="LM Roman 12" panose="00000500000000000000" pitchFamily="50" charset="0"/>
                <a:ea typeface="PMingLiU" panose="02020500000000000000" pitchFamily="18" charset="-120"/>
                <a:cs typeface="cmr12"/>
              </a:rPr>
              <a:t>: computational expensive). But C LIBS can be used 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PMingLiU" panose="02020500000000000000" pitchFamily="18" charset="-120"/>
              <a:cs typeface="cmr1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6A0CF-8A86-CB2F-07D5-5B9B22EBF05B}"/>
              </a:ext>
            </a:extLst>
          </p:cNvPr>
          <p:cNvSpPr txBox="1"/>
          <p:nvPr/>
        </p:nvSpPr>
        <p:spPr>
          <a:xfrm>
            <a:off x="1949168" y="6003971"/>
            <a:ext cx="698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C PROGRAM STAGES: </a:t>
            </a:r>
            <a:r>
              <a:rPr lang="en-ZA" dirty="0"/>
              <a:t>edit, pre-process, compile, link, load, execute</a:t>
            </a:r>
            <a:endParaRPr lang="en-ZA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0AE829-1080-92A4-6071-79866C7B42F5}"/>
              </a:ext>
            </a:extLst>
          </p:cNvPr>
          <p:cNvSpPr txBox="1"/>
          <p:nvPr/>
        </p:nvSpPr>
        <p:spPr>
          <a:xfrm>
            <a:off x="4331049" y="258178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 LANGUAGE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2E497-B183-E1E3-A791-BFDBFA9CB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4913" y="3429000"/>
            <a:ext cx="3702171" cy="23552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192243-349D-E9F9-DBD4-9DF971898E82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TYPICAL C PROGRAM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476588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0679-C005-D239-879E-2E1DC85D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7F60E16-293F-4051-8C65-354968085A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7F60E16-293F-4051-8C65-354968085A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BE5FD12-938B-BA4A-CB53-9B54D3E2931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C7D400-643E-A8B1-2C39-356DD89843F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</a:t>
            </a: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7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25FE16-81DE-EDB7-7D2F-C5494A8E35F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FB29B3-7229-B871-ED21-BDD22D909AD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1D460EC-20F8-87BC-A008-B153956B870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0F82B06-EA94-C4F7-41F5-4BE5EC2DF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2C183AD-F961-731F-619A-EDA7A64B33E7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13E4254-6A1B-D8C7-0335-CCC9C03497D1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83BB93-0616-450A-F212-3CD478B87AB5}"/>
              </a:ext>
            </a:extLst>
          </p:cNvPr>
          <p:cNvSpPr txBox="1"/>
          <p:nvPr/>
        </p:nvSpPr>
        <p:spPr>
          <a:xfrm>
            <a:off x="3866376" y="5904523"/>
            <a:ext cx="373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Simple C PROGRAMMING 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1F714-52BA-66BA-805D-6F293D302B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3918" y="1293087"/>
            <a:ext cx="5593421" cy="35584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1CAD37-2112-557B-6628-17F7DE420784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SIMPLE C PROGRAM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237C7E-BC4F-E5DE-8C6E-DE1A3C80EB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28050" y="4995778"/>
            <a:ext cx="563928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00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113A-B21D-025E-271C-18E8469C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DAE0735-6B66-F8F0-70A4-EEBE894717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DAE0735-6B66-F8F0-70A4-EEBE894717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7F433C50-7207-2E51-D519-3D1B3218216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BE2DC2-FBBE-4C2E-FEF2-8EC61720ADC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4B35CB4-D925-A18F-60D2-A5C5CEC7843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1A17A4-68F5-4B79-6295-54978AAEB63D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C00E5C-3035-7FCA-67D9-C273487D358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CF395807-E26D-7BF0-CC48-104414314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9BC1C7-A30A-1F98-5B22-7B94B7FA78E0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9A5AD63-6DC7-A97D-107B-C9B0822B2BB8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9F541D-B5B0-5A81-7675-E7475FDD6BDC}"/>
              </a:ext>
            </a:extLst>
          </p:cNvPr>
          <p:cNvSpPr txBox="1"/>
          <p:nvPr/>
        </p:nvSpPr>
        <p:spPr>
          <a:xfrm>
            <a:off x="3866376" y="5904523"/>
            <a:ext cx="373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Simple C PROGRAMMING 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379D3-EEE4-8A88-582F-8D34B2CCA8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122" y="1245641"/>
            <a:ext cx="5593421" cy="35584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006399-03D7-BEFF-7B03-6DBDE6327D08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COMMENTS (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GREEN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60CE42-81D1-399D-EEA9-610A5FB0C1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7" y="4897091"/>
            <a:ext cx="5639289" cy="609653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5D5D822F-765F-517A-47A3-3F6EA738E8FA}"/>
              </a:ext>
            </a:extLst>
          </p:cNvPr>
          <p:cNvSpPr/>
          <p:nvPr/>
        </p:nvSpPr>
        <p:spPr>
          <a:xfrm>
            <a:off x="3799643" y="1946976"/>
            <a:ext cx="1305018" cy="213065"/>
          </a:xfrm>
          <a:prstGeom prst="lef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28F45E-175B-E2E9-C6F5-7475427F69EC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Used to describe program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Text surrounded by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/*</a:t>
            </a:r>
            <a:r>
              <a:rPr lang="en-US" dirty="0">
                <a:latin typeface="LM Roman 12" panose="00000500000000000000" pitchFamily="50" charset="0"/>
              </a:rPr>
              <a:t> and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*/</a:t>
            </a:r>
            <a:r>
              <a:rPr lang="en-US" dirty="0">
                <a:latin typeface="LM Roman 12" panose="00000500000000000000" pitchFamily="50" charset="0"/>
              </a:rPr>
              <a:t> is ignored by compiler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Remainder of line after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 // </a:t>
            </a:r>
            <a:r>
              <a:rPr lang="en-US" dirty="0">
                <a:latin typeface="LM Roman 12" panose="00000500000000000000" pitchFamily="50" charset="0"/>
              </a:rPr>
              <a:t>is ignored by compiler</a:t>
            </a:r>
          </a:p>
          <a:p>
            <a:pPr algn="ctr"/>
            <a:endParaRPr lang="en-ZA" dirty="0"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878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DA42-C4B9-D454-DB15-5CF679D8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203366C6-879B-7509-B58A-6D8D3C9900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203366C6-879B-7509-B58A-6D8D3C990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153F7378-83E1-6C12-094B-FBB58FC4A8D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6DD58D-3559-F2F6-E30B-BC3DBEFC374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EE3E1F-75E1-464D-9DB1-4B89F32B888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9068CE-38B3-5CA3-C51C-17211D1CCFD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557A887-B70D-CFB8-E82A-F583AFB4FD4C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B45681F2-7253-F909-C406-580706C8D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0630BBE-D594-10CE-774F-B1EB72E2C91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E4CCBA2-5A3A-5CDD-E0FA-39A957947552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793C48-0652-EDDC-CBDF-C8DBCD0ECFE9}"/>
              </a:ext>
            </a:extLst>
          </p:cNvPr>
          <p:cNvSpPr txBox="1"/>
          <p:nvPr/>
        </p:nvSpPr>
        <p:spPr>
          <a:xfrm>
            <a:off x="3866376" y="5904523"/>
            <a:ext cx="373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Simple C PROGRAMMING 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93A62-40DA-BEC6-56A7-3AECB8B376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122" y="1245641"/>
            <a:ext cx="5593421" cy="35584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D9F6AA-73B0-BA51-2D01-0FAC3DC57BD4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Libraries/</a:t>
            </a: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functions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(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Blue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45A160-8B32-36AA-9524-4984212427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7" y="4897091"/>
            <a:ext cx="5639289" cy="609653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3D2307A8-06BD-85BA-6713-573472065191}"/>
              </a:ext>
            </a:extLst>
          </p:cNvPr>
          <p:cNvSpPr/>
          <p:nvPr/>
        </p:nvSpPr>
        <p:spPr>
          <a:xfrm>
            <a:off x="2379215" y="2858301"/>
            <a:ext cx="1305018" cy="213065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70C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4225EF-CA02-BECC-94F6-8A4ACEF603C3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Pre-processor directive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Tells the computer to include the contents of the specified file with the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source code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&lt;</a:t>
            </a:r>
            <a:r>
              <a:rPr lang="en-US" dirty="0" err="1">
                <a:solidFill>
                  <a:srgbClr val="FFFF00"/>
                </a:solidFill>
                <a:latin typeface="LM Roman 12" panose="00000500000000000000" pitchFamily="50" charset="0"/>
              </a:rPr>
              <a:t>stdio.h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&gt; </a:t>
            </a:r>
            <a:r>
              <a:rPr lang="en-US" dirty="0">
                <a:latin typeface="LM Roman 12" panose="00000500000000000000" pitchFamily="50" charset="0"/>
              </a:rPr>
              <a:t>allows standard input/output operations</a:t>
            </a:r>
            <a:endParaRPr lang="en-ZA" dirty="0"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344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45FC-9596-3E79-66EC-99EDBFF1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FFA9C49-47FF-0667-25B4-EE1D328CAB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FFA9C49-47FF-0667-25B4-EE1D328CAB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87D6351-60A6-4192-E1F9-5400E4E3DE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A28DAE-31F6-24FC-B260-4734B9685B77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4298B00-1AAB-7193-8D8F-FF99A64C1F2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2820BD-2753-5509-493F-51E0A4189B7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DD11A9-232E-534A-4DAE-DEDBFCA7D94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1B2BDA0-9D5A-11A7-E32F-16C32B834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43AFA4-C450-1F9F-4A58-3FFDA5FB0261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5EE684D-450A-9B77-7AD9-83320454883E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4A0515-73FA-37DE-C39A-E7F280069D6B}"/>
              </a:ext>
            </a:extLst>
          </p:cNvPr>
          <p:cNvSpPr txBox="1"/>
          <p:nvPr/>
        </p:nvSpPr>
        <p:spPr>
          <a:xfrm>
            <a:off x="3866376" y="5904523"/>
            <a:ext cx="373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Simple C PROGRAMMING 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64857-6370-75C7-600B-5C8558F3DA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122" y="1245641"/>
            <a:ext cx="5593421" cy="35584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E004E1-03E2-3AE1-8694-9774A096B639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int main()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848A37-AF00-C3D4-B4FE-0D3CC4693D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7" y="4897091"/>
            <a:ext cx="5639289" cy="60965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3AE0560-96D2-2FC3-EEDD-701953953436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C programs always contain one or more functions, exactly one of which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must be main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Parenthesis used to indicate a function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int means that main “returns” an integer value to calling function or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batch process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71811205-397C-C3C9-1F90-A95DFBAE763B}"/>
              </a:ext>
            </a:extLst>
          </p:cNvPr>
          <p:cNvSpPr/>
          <p:nvPr/>
        </p:nvSpPr>
        <p:spPr>
          <a:xfrm>
            <a:off x="1635161" y="3429000"/>
            <a:ext cx="1305018" cy="213065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011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5EAD-275E-6EA4-6DA6-8A8C5E24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0924315-9FA0-E647-56B3-294334EF99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0924315-9FA0-E647-56B3-294334EF99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E3334B1-40C5-7788-DC93-337B449E2CB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E0361E-0769-B221-C5C6-36232858ECF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537359-E308-3F57-F4B3-1BBCCA31BCD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C8D0862-9B71-D418-2CAC-4001B0E3427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B9D0BB9-ACDA-357E-7840-2650F804576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BA5287E-55AC-59CB-3E78-01D590431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F676AB-B1FB-4E17-B372-0C32E28E283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C5F28AB-E2C6-4BE2-66F5-614EF67A334A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A63B5A-DBCA-AA8B-E6DB-FA0E3CA24A15}"/>
              </a:ext>
            </a:extLst>
          </p:cNvPr>
          <p:cNvSpPr txBox="1"/>
          <p:nvPr/>
        </p:nvSpPr>
        <p:spPr>
          <a:xfrm>
            <a:off x="3866376" y="5904523"/>
            <a:ext cx="373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Simple C PROGRAMMING 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AF492-A9B3-4A9C-C2DA-F3F1DE23F7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122" y="1245641"/>
            <a:ext cx="5593421" cy="35584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29F1DA-209B-40C0-2122-3C7C2A1ED5C7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Braces { and }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CB8D84-3150-2729-6B68-5FFD97B993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7" y="4897091"/>
            <a:ext cx="5639289" cy="60965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F605EB6-0503-232A-E578-B659A1D94AE1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Braces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({</a:t>
            </a:r>
            <a:r>
              <a:rPr lang="en-US" dirty="0">
                <a:latin typeface="LM Roman 12" panose="00000500000000000000" pitchFamily="50" charset="0"/>
              </a:rPr>
              <a:t> and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})</a:t>
            </a:r>
            <a:r>
              <a:rPr lang="en-US" dirty="0">
                <a:latin typeface="LM Roman 12" panose="00000500000000000000" pitchFamily="50" charset="0"/>
              </a:rPr>
              <a:t> indicate a block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The bodies of all functions must be contained in braces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{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//</a:t>
            </a:r>
            <a:r>
              <a:rPr lang="en-US" dirty="0">
                <a:latin typeface="LM Roman 12" panose="00000500000000000000" pitchFamily="50" charset="0"/>
              </a:rPr>
              <a:t>Block contents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}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FAD1A456-39D2-29DE-FB00-63F24E52B963}"/>
              </a:ext>
            </a:extLst>
          </p:cNvPr>
          <p:cNvSpPr/>
          <p:nvPr/>
        </p:nvSpPr>
        <p:spPr>
          <a:xfrm>
            <a:off x="982652" y="3603625"/>
            <a:ext cx="1305018" cy="213065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655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2FC7-10A1-B887-7C90-1C1830FE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14A16BB2-1F17-4BBD-2DD9-5162CE411A7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14A16BB2-1F17-4BBD-2DD9-5162CE411A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4E10237-C2A0-69DE-765C-00AAB0B19EB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BDA401-106D-C085-FDDF-861DE9A4EAE8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INTRODUCTION 	pg. 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AFACB6-E80D-E0B3-407E-10F7EC5FDCB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BCF498-B22F-C4F8-6103-2176530EB8F2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FBF256-080B-AE23-3CE1-5AE0036B2763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3440734C-43CB-29E7-A565-0FF9F3D4C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11B8B2-E236-73AC-38F2-BC7DB18FE963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7C53C67-03CB-D49D-96AF-70A696AD469B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454B49-851A-4A01-308A-711CB1DB719F}"/>
              </a:ext>
            </a:extLst>
          </p:cNvPr>
          <p:cNvSpPr txBox="1"/>
          <p:nvPr/>
        </p:nvSpPr>
        <p:spPr>
          <a:xfrm>
            <a:off x="3866376" y="5904523"/>
            <a:ext cx="373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Simple C PROGRAMMING 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2BD81-E479-8D0E-2FC9-5FC920E565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122" y="1245641"/>
            <a:ext cx="5593421" cy="35584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8186DD-F930-60CC-6E5B-3A00F0F1B37C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 err="1">
                <a:solidFill>
                  <a:srgbClr val="0070C0"/>
                </a:solidFill>
                <a:latin typeface="LM Roman 12" panose="00000500000000000000" pitchFamily="50" charset="0"/>
              </a:rPr>
              <a:t>printf</a:t>
            </a:r>
            <a:r>
              <a:rPr lang="en-ZA" dirty="0">
                <a:solidFill>
                  <a:srgbClr val="0070C0"/>
                </a:solidFill>
                <a:latin typeface="LM Roman 12" panose="00000500000000000000" pitchFamily="50" charset="0"/>
              </a:rPr>
              <a:t>( "Hello World!\n" )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D3D758-BF7B-2545-75E2-5F2A13A0DA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7" y="4897091"/>
            <a:ext cx="5639289" cy="60965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5A14FDC-A826-E92B-114C-FA5A3CBB3EBC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Instructs computer to perform an action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Specifically, prints the string of characters within quotes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(" ")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Escape character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(\)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Indicates that </a:t>
            </a:r>
            <a:r>
              <a:rPr lang="en-US" dirty="0" err="1">
                <a:latin typeface="LM Roman 12" panose="00000500000000000000" pitchFamily="50" charset="0"/>
              </a:rPr>
              <a:t>printf</a:t>
            </a:r>
            <a:r>
              <a:rPr lang="en-US" dirty="0">
                <a:latin typeface="LM Roman 12" panose="00000500000000000000" pitchFamily="50" charset="0"/>
              </a:rPr>
              <a:t> should do something out of the ordinary</a:t>
            </a:r>
          </a:p>
          <a:p>
            <a:pPr algn="ctr"/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\n </a:t>
            </a:r>
            <a:r>
              <a:rPr lang="en-US" dirty="0">
                <a:latin typeface="LM Roman 12" panose="00000500000000000000" pitchFamily="50" charset="0"/>
              </a:rPr>
              <a:t>is the newline character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Entire line called a statement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All statements must end with a semicolon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(;)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1EAFB4A-B1C5-AFFC-245E-6A3E9B593EBC}"/>
              </a:ext>
            </a:extLst>
          </p:cNvPr>
          <p:cNvSpPr/>
          <p:nvPr/>
        </p:nvSpPr>
        <p:spPr>
          <a:xfrm>
            <a:off x="3139926" y="3807717"/>
            <a:ext cx="1305018" cy="213065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31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D0860-23B1-8AE5-2FB0-6D915301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7FF8592A-40FE-C98A-4514-49DAA30B20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7FF8592A-40FE-C98A-4514-49DAA30B20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086C193-3FC3-3E30-AAE1-DABE4BCA15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703B43-D257-F264-46AC-BD3042470F5F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1 	pg. 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FC229B-E779-CAC9-A44B-48259CF9526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8F619B-19FC-E62A-F6AF-55584B4C6EE5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42B29D4-9BF6-8877-6A7C-865219980D1E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E9FC0EB2-513D-2257-51A4-B86BEA50C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EAB280D-A3B3-93F9-79AF-D87308BD74ED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20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297D3DF-D044-0D23-78B9-7F9481815FD3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CA69F2-1E99-79BB-2D6A-A10B1105182E}"/>
              </a:ext>
            </a:extLst>
          </p:cNvPr>
          <p:cNvSpPr txBox="1"/>
          <p:nvPr/>
        </p:nvSpPr>
        <p:spPr>
          <a:xfrm>
            <a:off x="3866376" y="5904523"/>
            <a:ext cx="373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Simple C PROGRAMMING 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D34B6-3CB7-933B-CCFD-E40BC124CE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122" y="1245641"/>
            <a:ext cx="5593421" cy="35584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9936F2-50C3-B2B8-D911-D1E566801468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return 0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46DCC6-EBE2-60AC-42C4-3EC6AE471F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7" y="4897091"/>
            <a:ext cx="5639289" cy="60965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E0A6A5-22CE-CBDE-D795-17704C9DEB04}"/>
              </a:ext>
            </a:extLst>
          </p:cNvPr>
          <p:cNvSpPr/>
          <p:nvPr/>
        </p:nvSpPr>
        <p:spPr>
          <a:xfrm>
            <a:off x="7251515" y="1368742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LM Roman 12" panose="00000500000000000000" pitchFamily="50" charset="0"/>
              </a:rPr>
              <a:t>A way to exit a function</a:t>
            </a:r>
          </a:p>
          <a:p>
            <a:pPr algn="ctr"/>
            <a:r>
              <a:rPr lang="en-US" dirty="0">
                <a:latin typeface="LM Roman 12" panose="00000500000000000000" pitchFamily="50" charset="0"/>
              </a:rPr>
              <a:t>return 0, in this case, means that the program terminated normally</a:t>
            </a:r>
            <a:endParaRPr lang="en-ZA" dirty="0">
              <a:latin typeface="LM Roman 12" panose="00000500000000000000" pitchFamily="50" charset="0"/>
            </a:endParaRP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6F06F50-0350-2CF0-E31F-C1EA906B63FB}"/>
              </a:ext>
            </a:extLst>
          </p:cNvPr>
          <p:cNvSpPr/>
          <p:nvPr/>
        </p:nvSpPr>
        <p:spPr>
          <a:xfrm>
            <a:off x="4168394" y="4191248"/>
            <a:ext cx="1305018" cy="213065"/>
          </a:xfrm>
          <a:prstGeom prst="lef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362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|0.6|0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1388</Words>
  <Application>Microsoft Office PowerPoint</Application>
  <PresentationFormat>Widescreen</PresentationFormat>
  <Paragraphs>246</Paragraphs>
  <Slides>24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Bradley Hand ITC</vt:lpstr>
      <vt:lpstr>Calibri</vt:lpstr>
      <vt:lpstr>LM Roman 12</vt:lpstr>
      <vt:lpstr>Segoe UI Black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2026-08-23T20:03:11Z</dcterms:created>
  <dcterms:modified xsi:type="dcterms:W3CDTF">2026-08-23T20:04:07Z</dcterms:modified>
</cp:coreProperties>
</file>