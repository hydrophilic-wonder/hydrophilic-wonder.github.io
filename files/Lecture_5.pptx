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8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9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0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1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2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3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4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5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6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406" r:id="rId2"/>
    <p:sldId id="431" r:id="rId3"/>
    <p:sldId id="407" r:id="rId4"/>
    <p:sldId id="409" r:id="rId5"/>
    <p:sldId id="410" r:id="rId6"/>
    <p:sldId id="412" r:id="rId7"/>
    <p:sldId id="413" r:id="rId8"/>
    <p:sldId id="414" r:id="rId9"/>
    <p:sldId id="416" r:id="rId10"/>
    <p:sldId id="417" r:id="rId11"/>
    <p:sldId id="418" r:id="rId12"/>
    <p:sldId id="419" r:id="rId13"/>
    <p:sldId id="420" r:id="rId14"/>
    <p:sldId id="421" r:id="rId15"/>
    <p:sldId id="422" r:id="rId16"/>
    <p:sldId id="423" r:id="rId17"/>
    <p:sldId id="424" r:id="rId18"/>
    <p:sldId id="425" r:id="rId19"/>
    <p:sldId id="427" r:id="rId20"/>
    <p:sldId id="428" r:id="rId21"/>
    <p:sldId id="42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98A7A8-BB90-4BB7-A610-2BC84790AF65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2FA11C-C913-4E54-82B2-C01DC1E6E11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86934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3D999-3406-0ADF-58AE-E554AEF50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903EA2-41D4-EE80-62A3-4BEE54174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E96045-7087-07B0-10A9-21D39E143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DF1ED-9AAA-06A5-FB1C-DDCFD47BD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49833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5E142-A97E-9395-A0A7-4BBAE77E2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B3C06-FEF8-DCBE-F94A-AFFD4AB8CB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2AD729-EBCE-0343-33A6-0FCFD8D9D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22665-885E-C3FD-D98F-1117DAF02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2329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72BE3-555B-28B4-0668-066782F07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10621F-66EF-B32D-4592-D0B92A9B6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66BA64-CE83-F67A-BBC3-CA3F50C73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365B1-842D-82F4-A28E-0B31C820F1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2120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84785-CA8E-0422-B27D-6BF7F52B9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902CA0-5DAF-759A-F310-DE12C26E6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C9883B-0385-3430-8A71-34D2D1513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87CCE-3A4C-8B5F-C91D-F58AE20456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61775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FA066-16F8-FC74-CE89-CB8A3924C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DA4476-0FA3-4E9C-AA53-789E21190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D65558-47C7-63A9-810C-636CB1FD1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19223-8027-3D03-7EA0-F3744AD827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6904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BDB9C-6219-7906-F3B3-323EF9E88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CC27A1-779C-B024-9304-C367EDCEA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FFF3E1-6442-9C3F-0F6A-2C8D6F1E2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444CA-6664-C8AF-544B-6FB513B46B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88645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79C02-3CD0-A3E4-0D52-5E35FFF1B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F48CA9-A0FD-0235-7AA6-C62C99E764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F47621-B224-BB32-7E9E-3E2183B80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D8A3E-DE54-7DF9-0FDA-F4BBB872CA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99467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E2FF3-5F48-7B92-A697-BD774947C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F4F25F-431C-8268-5D8B-B96049F5F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B66E70-BAD8-A048-83E4-A898852B0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164E3-13CB-6FD6-01EA-D18A482725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63950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87C3E-3542-8F0B-CEB9-86383CD83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33EEE0-112E-6D97-CA9C-E59CBDFEA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D81EE-1830-32F1-E6FE-DB851BA87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49435-E772-6CB8-995A-62BDD8FC1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09138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99F52-C29E-2213-E573-FC0504C0C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F38D1-3B00-7A2A-D3E3-4E0D9938C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0D88E4-F891-8808-F8A6-5D09C0D96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92D56-672A-B7F1-D321-7E6EF765DE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50828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DE458-C89C-6575-025D-A862CEBBF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77CAFB-FF82-6163-6C65-5925ACD27F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4E7AAC-E860-98FE-365E-4086B87EA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44607-73D6-2259-C8C2-9004EF25CC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57098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38E46-A931-C63B-A0FD-4CEFCA50D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F60FD2-F0F1-A422-40B4-9AA931A771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C49989-E8ED-157B-9E61-054F2F775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14A39-04E4-D5C7-44A4-BF95A0F493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45325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C86B0-FE93-D658-10D2-48AC1543E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97E42-2EC4-4171-EE67-938E7BA633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1C50B8-BB8D-1704-3E3C-45B702EFA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3B60B-B638-6FBE-1CDE-9C597ED9B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12732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85731-87B3-BF72-6EDF-B4FF5B340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DD5491-2148-30E2-C4F9-7152AFBBD2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1EF40C-7CC9-9E3F-4606-D5D4D22FF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BC9BC-EC6E-3B30-E04E-0BCC8FA9B3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35223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D19BE-1901-7F1A-A15B-4F85CFAC9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2F5D4A-3CA7-BB35-5C2C-66D815930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717AA3-CAE5-3652-80A2-9176C373C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F640C-CA00-4EC9-1896-D409F4299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85225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EFF40-AEF0-7A12-23F2-5303664A3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5BB53C-827E-74CF-C06F-74BABE6C7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E5C7F9-04B8-0127-2FC6-6AB893FCA4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A17B1-938A-DA6E-606E-5EC0DA9B5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81570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3CD0B-0B7E-121D-F9BA-76BCBB0E3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6B073C-3921-5727-1038-CCEB265C3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005DE-FC12-9B0D-C8D2-C79644B79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A4434-F8EA-4EE3-F4DB-F3BF1CE2D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1437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D2E9D-D93E-425C-767F-DDDD25E186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FB82C0-E69E-B97C-B7C4-51981B3DF5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8EDC6-BB57-8B62-29BC-6820BC005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A0F3-78DD-457A-8A81-728EEAD71C50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C7688-42ED-E6A0-E111-56A1F3389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9363F-A407-1B20-499C-21DCE798D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58D3D-2CD8-4B6C-BFA7-67BBB067387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87777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D138F-8550-2F9F-CBA2-7BC8537E3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8481F-C185-713A-91FD-DE53FA928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04175-A9C3-D2B5-8E7E-4999964B7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A0F3-78DD-457A-8A81-728EEAD71C50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320D2-5EE6-F50E-4781-922775C65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74889-3E5A-6A0B-F561-DAE2171AE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58D3D-2CD8-4B6C-BFA7-67BBB067387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94186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25894-D6BB-D013-B985-D5200C2F2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2C527-E867-BB2F-1F8D-A1A4144AA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82B5D-43D5-C6BA-0062-D96DD1805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A0F3-78DD-457A-8A81-728EEAD71C50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E51D2-1A29-7B65-7ACF-48251BD15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537F5-11B8-6146-9F47-5779D0AF3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58D3D-2CD8-4B6C-BFA7-67BBB067387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20937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6B43-A8E8-C555-C370-2F8F17DAC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9B939-981B-325C-DC94-409D272FD3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84E3B1-75AA-8EC8-1508-8C63095CE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80B85-1B64-135C-EE70-F8248C738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A0F3-78DD-457A-8A81-728EEAD71C50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A0495-9E92-1CDB-1642-868AAF43F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CCFB31-2C5E-6EFB-24DD-C21E3FFFA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58D3D-2CD8-4B6C-BFA7-67BBB067387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39099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21674-301E-B39E-0994-6132448D9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CE8D8-6059-9B58-DB0C-56C0598C9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275C0F-312F-C1CC-6A47-D346B1CA7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6239E9-68FD-8922-780B-E9FE141641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4D7149-48B6-A635-6B1E-866A83A3A8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F11807-3558-70D4-AE26-78678914A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A0F3-78DD-457A-8A81-728EEAD71C50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6EC231-2A5F-E2D1-E479-DAA02F071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045673-930F-D27E-324F-E597A79D6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58D3D-2CD8-4B6C-BFA7-67BBB067387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67632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4FDDF-0D62-4294-0A7F-E7060E587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36E854-9F9C-96B6-874D-5DA704958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A0F3-78DD-457A-8A81-728EEAD71C50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C330AF-79D5-5448-54AE-FB10F6BA0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9E88ED-5FBF-5440-48FB-1ED15BD74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58D3D-2CD8-4B6C-BFA7-67BBB067387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1015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1C4017-B0B7-7FAE-89FF-C11583687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A0F3-78DD-457A-8A81-728EEAD71C50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46F2C1-D537-29A9-FCF8-46EDE9A64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342F7-BA00-E1C4-3714-799B57A71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58D3D-2CD8-4B6C-BFA7-67BBB067387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6111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BCA1A-E249-AF9C-B24B-A02F8D989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6857C-E56D-BFE2-8522-19D8E2F54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7C309-C39F-81C9-38BC-E4EDDE0EA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30BC2-9761-A34E-2F98-C4A5B15E4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A0F3-78DD-457A-8A81-728EEAD71C50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0FA2-5FDD-4CD4-9334-955AA94D8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ED015E-6977-BBA4-1868-6AA62EA5E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58D3D-2CD8-4B6C-BFA7-67BBB067387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09379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49430-4339-9D56-8492-45729EC28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4403B0-3D90-2697-E9C7-4C453048B6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B38741-54B3-7601-9196-A07DFBB49B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31B175-A8D8-595F-2BEA-1348F4BBC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A0F3-78DD-457A-8A81-728EEAD71C50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1CD6B-B77F-A137-5E86-2C0BC36DB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5C6F0D-EB99-F3ED-E386-C0B99936E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58D3D-2CD8-4B6C-BFA7-67BBB067387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57482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0F89D-575D-FDF8-0E60-2EFB67828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5B9FB9-1230-2D82-6604-45211922C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E8B5F-5E00-3CBE-EB34-B41EF97E9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A0F3-78DD-457A-8A81-728EEAD71C50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76869-D0A1-5CDE-8763-81B76A2B7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BA199-C140-85EA-A9B9-41F80C7AA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58D3D-2CD8-4B6C-BFA7-67BBB067387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4946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A166EA-975D-0508-589E-30115CF8A6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0BD166-75D5-B1F1-0517-6043305D6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BF7F5-4831-2D54-AD01-2A4AE6ED3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7A0F3-78DD-457A-8A81-728EEAD71C50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E8BCF-1332-B6F6-5356-F2F8CE290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FA3D6-96B4-AF7E-30D9-3C0A09C4A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58D3D-2CD8-4B6C-BFA7-67BBB067387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69332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4BBA73-EBE1-2033-6CE3-E493C19B1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ED762-D723-069C-3869-8070E9044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0A0B1-0C2A-7447-2930-0851D80387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77A0F3-78DD-457A-8A81-728EEAD71C50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829BE-6F03-7F81-993C-0E4F20A813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EDB86-89C4-A2FB-4588-DF184C5C6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058D3D-2CD8-4B6C-BFA7-67BBB067387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36517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lkhobo@sun.ac.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000.png"/><Relationship Id="rId4" Type="http://schemas.openxmlformats.org/officeDocument/2006/relationships/notesSlide" Target="../notesSlides/notesSlide9.xml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3.xml"/><Relationship Id="rId9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070.png"/><Relationship Id="rId4" Type="http://schemas.openxmlformats.org/officeDocument/2006/relationships/notesSlide" Target="../notesSlides/notesSlide14.xml"/><Relationship Id="rId9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9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110.png"/><Relationship Id="rId4" Type="http://schemas.openxmlformats.org/officeDocument/2006/relationships/notesSlide" Target="../notesSlides/notesSlide15.xml"/><Relationship Id="rId9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140.png"/><Relationship Id="rId4" Type="http://schemas.openxmlformats.org/officeDocument/2006/relationships/notesSlide" Target="../notesSlides/notesSlide17.xml"/><Relationship Id="rId9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3683F-F5EC-973C-4F46-EB6056AC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0CB53B6D-04EA-0D6E-A1B2-FE9893C33CBF}"/>
              </a:ext>
            </a:extLst>
          </p:cNvPr>
          <p:cNvSpPr txBox="1"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920000"/>
          </a:solidFill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173A6C-CD53-4FD7-52FF-5505B5ADACB4}"/>
              </a:ext>
            </a:extLst>
          </p:cNvPr>
          <p:cNvSpPr txBox="1"/>
          <p:nvPr/>
        </p:nvSpPr>
        <p:spPr>
          <a:xfrm>
            <a:off x="542925" y="1303858"/>
            <a:ext cx="11332779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ZA" sz="8800" dirty="0">
                <a:latin typeface="LM Roman 12" panose="00000500000000000000" pitchFamily="50" charset="0"/>
              </a:rPr>
              <a:t>3&amp;9</a:t>
            </a:r>
            <a:r>
              <a:rPr lang="en-ZA" sz="8800" b="0" i="0" u="none" strike="noStrike" baseline="0" dirty="0">
                <a:latin typeface="LM Roman 12" panose="00000500000000000000" pitchFamily="50" charset="0"/>
              </a:rPr>
              <a:t>. </a:t>
            </a:r>
            <a:r>
              <a:rPr lang="en-ZA" sz="8800" dirty="0">
                <a:latin typeface="LM Roman 12" panose="00000500000000000000" pitchFamily="50" charset="0"/>
              </a:rPr>
              <a:t>Formatted input/output</a:t>
            </a:r>
            <a:endParaRPr lang="en-ZA" sz="4800" b="0" i="0" u="none" strike="noStrike" baseline="0" dirty="0">
              <a:latin typeface="LM Roman 12" panose="00000500000000000000" pitchFamily="50" charset="0"/>
            </a:endParaRPr>
          </a:p>
          <a:p>
            <a:r>
              <a:rPr lang="en-US" dirty="0">
                <a:latin typeface="LM Roman 12" panose="00000500000000000000" pitchFamily="50" charset="0"/>
              </a:rPr>
              <a:t>Lecture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 5| </a:t>
            </a:r>
            <a:r>
              <a:rPr lang="en-US" dirty="0">
                <a:latin typeface="LM Roman 12" panose="00000500000000000000" pitchFamily="50" charset="0"/>
              </a:rPr>
              <a:t>Formatted input/output</a:t>
            </a:r>
            <a:endParaRPr lang="en-US" sz="1800" b="0" i="0" u="none" strike="noStrike" baseline="0" dirty="0">
              <a:latin typeface="LM Roman 12" panose="00000500000000000000" pitchFamily="50" charset="0"/>
            </a:endParaRPr>
          </a:p>
          <a:p>
            <a:pPr algn="l"/>
            <a:r>
              <a:rPr lang="en-US" dirty="0">
                <a:latin typeface="LM Roman 12" panose="00000500000000000000" pitchFamily="50" charset="0"/>
              </a:rPr>
              <a:t>	  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Nested control structures</a:t>
            </a:r>
          </a:p>
          <a:p>
            <a:pPr algn="l"/>
            <a:r>
              <a:rPr lang="en-US" dirty="0">
                <a:latin typeface="LM Roman 12" panose="00000500000000000000" pitchFamily="50" charset="0"/>
              </a:rPr>
              <a:t>	  Assignment operators</a:t>
            </a:r>
          </a:p>
          <a:p>
            <a:pPr algn="l"/>
            <a:r>
              <a:rPr lang="en-US" dirty="0">
                <a:latin typeface="LM Roman 12" panose="00000500000000000000" pitchFamily="50" charset="0"/>
              </a:rPr>
              <a:t>	  Increment and decrement operators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21ECD2-8914-B6FC-C531-32F7027E02F8}"/>
              </a:ext>
            </a:extLst>
          </p:cNvPr>
          <p:cNvSpPr txBox="1"/>
          <p:nvPr/>
        </p:nvSpPr>
        <p:spPr>
          <a:xfrm>
            <a:off x="542925" y="555414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LM Roman 12" panose="00000500000000000000" pitchFamily="50" charset="0"/>
              </a:rPr>
              <a:t>Isaac Khobo, PhD (</a:t>
            </a:r>
            <a:r>
              <a:rPr lang="en-US" sz="1800" b="0" i="0" u="none" strike="noStrike" baseline="0" dirty="0">
                <a:latin typeface="LM Roman 12" panose="00000500000000000000" pitchFamily="50" charset="0"/>
                <a:hlinkClick r:id="rId3"/>
              </a:rPr>
              <a:t>ilkhobo@sun.ac.za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)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8886B2-CC96-BDB9-DECE-41EF44609F3B}"/>
              </a:ext>
            </a:extLst>
          </p:cNvPr>
          <p:cNvSpPr txBox="1"/>
          <p:nvPr/>
        </p:nvSpPr>
        <p:spPr>
          <a:xfrm>
            <a:off x="2690150" y="526023"/>
            <a:ext cx="5878718" cy="3693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ZA" dirty="0">
                <a:solidFill>
                  <a:schemeClr val="bg1">
                    <a:lumMod val="85000"/>
                  </a:schemeClr>
                </a:solidFill>
                <a:latin typeface="LM Roman 12" panose="00000500000000000000" pitchFamily="50" charset="0"/>
              </a:rPr>
              <a:t>A. WELCOME TO CP143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99DDBE2-4995-66BD-FDFC-3C35545418E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D9CDB4F-68E2-934D-B812-0F328C39C051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81323A-B1A2-288D-9085-5A0D1E6EDEA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3B144AF-7D1D-61C8-7ABB-B54C70C06310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591FB068-6C0E-1B18-B7DC-948D211A74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2CD8AE2-24EC-3C35-7715-8934EB4B0BFA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68563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29 July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B5D09DC-DC2E-AF87-A195-659F10C114B4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PROGRAMMING IN 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CA72013-4E60-1656-2252-A19E158837F3}"/>
              </a:ext>
            </a:extLst>
          </p:cNvPr>
          <p:cNvSpPr txBox="1"/>
          <p:nvPr/>
        </p:nvSpPr>
        <p:spPr>
          <a:xfrm>
            <a:off x="8348780" y="6075218"/>
            <a:ext cx="1991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u="sng" dirty="0">
                <a:solidFill>
                  <a:srgbClr val="C00000"/>
                </a:solidFill>
                <a:latin typeface="LM Roman 12" panose="00000500000000000000" pitchFamily="50" charset="0"/>
              </a:rPr>
              <a:t>Chapters 3 and 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BE76EF-B465-1E98-AD0C-A42A26BB0D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764" y="2730470"/>
            <a:ext cx="5211236" cy="334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5456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B8698-1A47-8EF0-3624-F8D3D5B20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4E12626-8911-89C4-A37A-51D08E24C3CB}"/>
              </a:ext>
            </a:extLst>
          </p:cNvPr>
          <p:cNvSpPr/>
          <p:nvPr/>
        </p:nvSpPr>
        <p:spPr>
          <a:xfrm>
            <a:off x="933450" y="1146461"/>
            <a:ext cx="10306050" cy="53386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400" dirty="0">
                <a:solidFill>
                  <a:srgbClr val="FFFF00"/>
                </a:solidFill>
                <a:latin typeface="LM Roman 12" panose="00000500000000000000" pitchFamily="50" charset="0"/>
              </a:rPr>
              <a:t>GRADES FOR PRAC 2 (NOT THAT GOOD)</a:t>
            </a: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solidFill>
                <a:schemeClr val="bg1"/>
              </a:solidFill>
              <a:latin typeface="LM Roman 12" panose="00000500000000000000" pitchFamily="50" charset="0"/>
            </a:endParaRPr>
          </a:p>
        </p:txBody>
      </p:sp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D5A6D572-8CF3-ACD6-EAAD-B591BBDEFB1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D5A6D572-8CF3-ACD6-EAAD-B591BBDEFB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3BF0CADF-9A3A-CF91-4E16-A1BCE948B3C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164C83-2DE0-CF4C-CAC8-5D8389BFC8F3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3 	pg. 20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284A594-A04B-28B6-F86F-60E4D3BB4BA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C6CD3D6-DC8B-1367-B08B-46803A95BF9A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F14A438-F70F-A255-FBA1-E5DA10D67045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CB8DDE4B-4877-E766-3433-D4080C15B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A77F144-1F8C-FD60-CE29-BEF3B6175157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29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F4B46022-2086-6FC5-E792-19120BA9CBAE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RECAP: PRAC TEST</a:t>
            </a:r>
            <a:endParaRPr lang="en-ZA" dirty="0">
              <a:solidFill>
                <a:schemeClr val="accent1"/>
              </a:solidFill>
              <a:latin typeface="LM Roman 12" panose="00000500000000000000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24446D-735C-FEEE-193C-98E1B0AA54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6978" y="1724010"/>
            <a:ext cx="7418492" cy="451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99514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984D5-26DB-93F8-AB4A-5932250A2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FE5C8F-7125-67DC-558E-6C439770C79E}"/>
              </a:ext>
            </a:extLst>
          </p:cNvPr>
          <p:cNvSpPr/>
          <p:nvPr/>
        </p:nvSpPr>
        <p:spPr>
          <a:xfrm>
            <a:off x="933450" y="1146461"/>
            <a:ext cx="10306050" cy="53386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400" dirty="0">
                <a:solidFill>
                  <a:srgbClr val="FFFF00"/>
                </a:solidFill>
                <a:latin typeface="LM Roman 12" panose="00000500000000000000" pitchFamily="50" charset="0"/>
              </a:rPr>
              <a:t>EXAMPLE 6: BASIC ARITHMETIC</a:t>
            </a: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solidFill>
                <a:schemeClr val="bg1"/>
              </a:solidFill>
              <a:latin typeface="LM Roman 12" panose="00000500000000000000" pitchFamily="50" charset="0"/>
            </a:endParaRPr>
          </a:p>
        </p:txBody>
      </p:sp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CAC28A11-509D-0B7E-284B-E66BAEB8290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CAC28A11-509D-0B7E-284B-E66BAEB829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8576C62E-3218-3B3E-0B02-C500D4ABDFA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58D505-834E-918F-6153-48B97F9BF65E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3 	pg. 20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E0A9125-A118-21C4-B2EF-FFD0C412D01E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147402B-90CD-2BCD-937A-05171DC08C9B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2292744-7898-D8C6-657B-909389B8CFB8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A90DE53F-434C-6D74-733F-0FAC302C71C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81489F4-3DFD-1D55-5719-C79BA613FD0C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29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97AF8D59-0495-134F-BCE9-03A4D7B5A067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RECAP: PRAC TEST</a:t>
            </a:r>
            <a:endParaRPr lang="en-ZA" dirty="0">
              <a:solidFill>
                <a:schemeClr val="accent1"/>
              </a:solidFill>
              <a:latin typeface="LM Roman 12" panose="00000500000000000000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2C7B3D-BF73-FE63-8859-D5416E03CA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6401" y="1647825"/>
            <a:ext cx="9179198" cy="469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72665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A886A-D0B9-B05A-DE26-17828E78C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E1A092-0039-D6F3-5743-1074D2170885}"/>
              </a:ext>
            </a:extLst>
          </p:cNvPr>
          <p:cNvSpPr/>
          <p:nvPr/>
        </p:nvSpPr>
        <p:spPr>
          <a:xfrm>
            <a:off x="933450" y="1146461"/>
            <a:ext cx="10306050" cy="53386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400" dirty="0">
                <a:solidFill>
                  <a:srgbClr val="FFFF00"/>
                </a:solidFill>
                <a:latin typeface="LM Roman 12" panose="00000500000000000000" pitchFamily="50" charset="0"/>
              </a:rPr>
              <a:t>EXAMPLE 7: </a:t>
            </a:r>
            <a:r>
              <a:rPr lang="en-ZA" sz="2400" dirty="0" err="1">
                <a:solidFill>
                  <a:srgbClr val="FFFF00"/>
                </a:solidFill>
                <a:latin typeface="LM Roman 12" panose="00000500000000000000" pitchFamily="50" charset="0"/>
              </a:rPr>
              <a:t>if..else</a:t>
            </a:r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solidFill>
                <a:schemeClr val="bg1"/>
              </a:solidFill>
              <a:latin typeface="LM Roman 12" panose="00000500000000000000" pitchFamily="50" charset="0"/>
            </a:endParaRPr>
          </a:p>
        </p:txBody>
      </p:sp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81E24B16-99F9-630A-236F-92A396C6B31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81E24B16-99F9-630A-236F-92A396C6B3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2EFED168-E2EA-0AE6-5F1D-FC7221CBC0C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1AB4F0-09AD-3582-51CD-C9BBF597735C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3	pg. 21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4E48B5D-F5E7-1ED6-BD72-6335A196A511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ECB0C03-B882-BA8B-508D-1C141A0026B9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288F6AB-ED51-AC55-686B-D8A8C059646E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02F0E703-1D01-FB46-1E54-85F133F9F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D55FC5E-FB71-2749-4D70-7087C43A48EB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29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C0FFB8F-E3B3-ABBA-3692-B64039B8CE25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RECAP: PRAC TEST</a:t>
            </a:r>
            <a:endParaRPr lang="en-ZA" dirty="0">
              <a:solidFill>
                <a:schemeClr val="accent1"/>
              </a:solidFill>
              <a:latin typeface="LM Roman 12" panose="00000500000000000000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88F20A-7A62-B7CC-8846-41F8AE5B6D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95028" y="1590676"/>
            <a:ext cx="7679688" cy="479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78218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232EB-9AEA-9629-DA1A-DAF9EFB38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64DE962-982D-FFD4-4BE1-754473DC8003}"/>
              </a:ext>
            </a:extLst>
          </p:cNvPr>
          <p:cNvSpPr/>
          <p:nvPr/>
        </p:nvSpPr>
        <p:spPr>
          <a:xfrm>
            <a:off x="933450" y="1146461"/>
            <a:ext cx="10306050" cy="53386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400" dirty="0">
                <a:solidFill>
                  <a:srgbClr val="FFFF00"/>
                </a:solidFill>
                <a:latin typeface="LM Roman 12" panose="00000500000000000000" pitchFamily="50" charset="0"/>
              </a:rPr>
              <a:t>EXAMPLE 8: while loops</a:t>
            </a: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ZA" sz="2400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ctr"/>
            <a:endParaRPr lang="en-ZA" dirty="0">
              <a:solidFill>
                <a:schemeClr val="bg1"/>
              </a:solidFill>
              <a:latin typeface="LM Roman 12" panose="00000500000000000000" pitchFamily="50" charset="0"/>
            </a:endParaRPr>
          </a:p>
        </p:txBody>
      </p:sp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D77B7917-3984-E036-389A-FCAD3FDF72B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D77B7917-3984-E036-389A-FCAD3FDF72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29A25E3E-46BB-CB52-5CCF-AF09F91D667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41D2F6-AFEB-8D64-70BB-152750AD2C5C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3 	pg. 22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7825AF4-043E-071C-7ECD-0CABF2AFE18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9DC0120-F0D9-E7FD-A56A-C4B1994229E7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D351354-FADD-AF0B-38DB-3858B183979F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2B1A7961-DD5F-71A2-67A5-E1C8454FC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4CCA713-1832-EBC2-C6A4-36B67E896368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29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D0C821C9-CCDF-AC34-3D45-FEE9F38F866D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RECAP: PRAC TEST</a:t>
            </a:r>
            <a:endParaRPr lang="en-ZA" dirty="0">
              <a:solidFill>
                <a:schemeClr val="accent1"/>
              </a:solidFill>
              <a:latin typeface="LM Roman 12" panose="00000500000000000000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B683B4-6E5B-B4F6-F566-93A3391DF5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9301" y="1670507"/>
            <a:ext cx="8468113" cy="447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66262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C97F1-EB29-50ED-ECC0-0BE082FFB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C337E18E-8409-F2A7-760C-58CBE731684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C337E18E-8409-F2A7-760C-58CBE73168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E12E2B46-E12C-5EE3-C7BD-44496786337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702B03-FBA3-8FD7-680D-9DC78BC5D526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3&amp;9 	pg. 23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6014242-3349-9998-7E86-D0D909C6A8F9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1E1168C-664D-0A0E-A44C-166FED6CB31C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5A21462-4F51-EC5D-E836-8A63A0DF00D1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164841AD-405A-69B4-0F81-99756B390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2EFF88C-1CE8-A3C4-502D-08F7D91F0274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29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2702134E-C58C-0A0B-6910-4A722439E0D9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FORMATTED INPUT/OUTPUT: DIFFERENT TYPES</a:t>
            </a:r>
            <a:endParaRPr lang="en-ZA" dirty="0">
              <a:solidFill>
                <a:schemeClr val="accent1"/>
              </a:solidFill>
              <a:latin typeface="LM Roman 12" panose="00000500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AA3B23-F7B9-AD69-4FBB-6BBF0F8E6D85}"/>
              </a:ext>
            </a:extLst>
          </p:cNvPr>
          <p:cNvSpPr/>
          <p:nvPr/>
        </p:nvSpPr>
        <p:spPr>
          <a:xfrm>
            <a:off x="7299668" y="1641062"/>
            <a:ext cx="4568482" cy="41381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int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 stores whole numbers (integers)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e.g., -5, -4, -3, -2, -1, 0, 1, 2, 3 , 4, 5</a:t>
            </a:r>
          </a:p>
          <a:p>
            <a:pPr algn="just"/>
            <a:endParaRPr lang="en-US" sz="2000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It is printed/flagged with </a:t>
            </a:r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%d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BC6681-16EC-7A0B-8126-C20B58BC635D}"/>
              </a:ext>
            </a:extLst>
          </p:cNvPr>
          <p:cNvSpPr txBox="1"/>
          <p:nvPr/>
        </p:nvSpPr>
        <p:spPr>
          <a:xfrm>
            <a:off x="8353764" y="1776429"/>
            <a:ext cx="2460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400" b="1" dirty="0"/>
              <a:t>DATA TYPES (</a:t>
            </a:r>
            <a:r>
              <a:rPr lang="en-ZA" sz="2400" b="1" dirty="0">
                <a:solidFill>
                  <a:srgbClr val="0070C0"/>
                </a:solidFill>
              </a:rPr>
              <a:t>int</a:t>
            </a:r>
            <a:r>
              <a:rPr lang="en-ZA" sz="2400" b="1" dirty="0"/>
              <a:t>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59764E4-7586-1D5C-64C3-9303735C2AF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952" t="3531" r="4683" b="-378"/>
          <a:stretch>
            <a:fillRect/>
          </a:stretch>
        </p:blipFill>
        <p:spPr>
          <a:xfrm>
            <a:off x="1209675" y="2564861"/>
            <a:ext cx="5095875" cy="267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3811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indefinite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0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100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6E806-7B0F-A949-697F-AACF27E3A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8E166CE0-51C6-A6D4-2D99-3E9E709F17E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8E166CE0-51C6-A6D4-2D99-3E9E709F17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FA589C3A-F6DE-2207-92DF-3111E545D8D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E4F0CA-6D9A-3F0D-2999-C38AD7DFF222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3&amp;9 	pg. 24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68D1F09-711D-4E22-FDBE-68336DCA544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96575DD-AF23-3471-02AC-57BBF31098CD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D155F03-522D-DA9A-E92C-39F8D1033076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62232DBA-B8B2-BD2E-6190-E7AA42951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9926B93-3E12-0991-9368-49A3E5AB1116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29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5F2C326-EE67-AB15-67D6-B92DE002A280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FORMATTED INPUT/OUTPUT: DIFFERENT TYPES</a:t>
            </a:r>
            <a:endParaRPr lang="en-ZA" dirty="0">
              <a:solidFill>
                <a:schemeClr val="accent1"/>
              </a:solidFill>
              <a:latin typeface="LM Roman 12" panose="00000500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5D93A6-5427-6A57-5B3A-AEC7055E0D77}"/>
              </a:ext>
            </a:extLst>
          </p:cNvPr>
          <p:cNvSpPr/>
          <p:nvPr/>
        </p:nvSpPr>
        <p:spPr>
          <a:xfrm>
            <a:off x="7299668" y="1641062"/>
            <a:ext cx="4568482" cy="41381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float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 stores decimals (floating-point) numbers with single precision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	(Print with </a:t>
            </a:r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%f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)</a:t>
            </a:r>
          </a:p>
          <a:p>
            <a:pPr algn="just"/>
            <a:endParaRPr lang="en-US" sz="2000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E.g., 24.123456</a:t>
            </a:r>
          </a:p>
          <a:p>
            <a:pPr algn="just"/>
            <a:endParaRPr lang="en-US" sz="2000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Uses 32 bits of memory to provide a number with roughly 6 decimal points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70F820-CB5F-E5AA-F974-9728F098464A}"/>
              </a:ext>
            </a:extLst>
          </p:cNvPr>
          <p:cNvSpPr txBox="1"/>
          <p:nvPr/>
        </p:nvSpPr>
        <p:spPr>
          <a:xfrm>
            <a:off x="8353764" y="1776429"/>
            <a:ext cx="2738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400" b="1" dirty="0"/>
              <a:t>DATA TYPES (</a:t>
            </a:r>
            <a:r>
              <a:rPr lang="en-ZA" sz="2400" b="1" dirty="0">
                <a:solidFill>
                  <a:srgbClr val="0070C0"/>
                </a:solidFill>
              </a:rPr>
              <a:t>float</a:t>
            </a:r>
            <a:r>
              <a:rPr lang="en-ZA" sz="2400" b="1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84B852-2246-CB7D-E29B-25A9FE320F2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963" r="1"/>
          <a:stretch>
            <a:fillRect/>
          </a:stretch>
        </p:blipFill>
        <p:spPr>
          <a:xfrm>
            <a:off x="1123950" y="2436067"/>
            <a:ext cx="4792274" cy="254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8801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2" presetClass="emph" presetSubtype="0" repeatCount="indefinite" nodeType="withEffect">
                                  <p:stCondLst>
                                    <p:cond delay="5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3611E-65C0-F7E6-2CCE-B889D85EC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92A1A86B-1EEA-2BB6-1459-EE28F87ADA5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92A1A86B-1EEA-2BB6-1459-EE28F87ADA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309B603E-8FFB-613F-5764-84C7A52B6B8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7DBB5E-DF50-0B80-24DB-4947415B9239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3&amp;9 	pg. 25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ECE8147-D55D-2C41-A9F4-96EE483527A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0CD6984-A0B0-F371-4F70-F3F39DE21239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64402B8-DFEE-34A3-5CC8-25193BC00393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EE9176CE-A7EC-931A-174A-CB94E641861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3184A5D-35B1-B48A-D822-BEF352DC002C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29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D11508E2-D304-5B64-BA03-11AF5683F05E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FORMATTED INPUT/OUTPUT: DIFFERENT TYPES</a:t>
            </a:r>
            <a:endParaRPr lang="en-ZA" dirty="0">
              <a:solidFill>
                <a:schemeClr val="accent1"/>
              </a:solidFill>
              <a:latin typeface="LM Roman 12" panose="00000500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548C19-C6C9-E2B4-6E2D-18966A3050B5}"/>
              </a:ext>
            </a:extLst>
          </p:cNvPr>
          <p:cNvSpPr/>
          <p:nvPr/>
        </p:nvSpPr>
        <p:spPr>
          <a:xfrm>
            <a:off x="7299668" y="1641062"/>
            <a:ext cx="4568482" cy="41381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double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 stores decimals (floating-point) numbers with double precision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	(Print with </a:t>
            </a:r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%f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)</a:t>
            </a:r>
          </a:p>
          <a:p>
            <a:pPr algn="just"/>
            <a:endParaRPr lang="en-US" sz="2000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e.g., 24.123456789101112</a:t>
            </a:r>
          </a:p>
          <a:p>
            <a:pPr algn="just"/>
            <a:endParaRPr lang="en-US" sz="2000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Uses 64 bits of memory to provide a number with roughly 14 decimal points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E59054-A20A-1066-BA3B-2C3C9183EB31}"/>
              </a:ext>
            </a:extLst>
          </p:cNvPr>
          <p:cNvSpPr txBox="1"/>
          <p:nvPr/>
        </p:nvSpPr>
        <p:spPr>
          <a:xfrm>
            <a:off x="8353764" y="1776429"/>
            <a:ext cx="30726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400" b="1" dirty="0"/>
              <a:t>DATA TYPES (</a:t>
            </a:r>
            <a:r>
              <a:rPr lang="en-ZA" sz="2400" b="1" dirty="0">
                <a:solidFill>
                  <a:srgbClr val="0070C0"/>
                </a:solidFill>
              </a:rPr>
              <a:t>double</a:t>
            </a:r>
            <a:r>
              <a:rPr lang="en-ZA" sz="2400" b="1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5EBD26-465C-B71C-5BE6-22AAC4B888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5308" y="2238094"/>
            <a:ext cx="4736301" cy="247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9070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32" presetClass="emph" presetSubtype="0" repeatCount="indefinite" fill="hold" nodeType="withEffect">
                                  <p:stCondLst>
                                    <p:cond delay="9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03953-AC2A-2F21-894D-2C64D9ACE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AFD2F0C7-4A4D-6023-B652-A9986F59AFD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AFD2F0C7-4A4D-6023-B652-A9986F59AF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5E562F30-CE6B-23D4-B62C-31F8BCFF9A1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2164F7-829B-7B77-82AB-F33E2863D7F5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3&amp;9 	pg. 27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BBC3049-F6DF-F859-4FFC-60ED7784FECE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0BBBA5E-2293-7A6E-0586-0434E72A2F65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5623F14-EDB6-8A6F-7657-A6684435FEB2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9A7A8E78-DD92-7360-A423-EBD3BC60B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ACD8FF3-DE68-BEC7-B10A-0AFD53121F94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29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5890371-1605-C718-8952-550C5A75FA7B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FORMATTED INPUT/OUTPUT: DIFFERENT TYPES</a:t>
            </a:r>
            <a:endParaRPr lang="en-ZA" dirty="0">
              <a:solidFill>
                <a:schemeClr val="accent1"/>
              </a:solidFill>
              <a:latin typeface="LM Roman 12" panose="00000500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D10A76-84E8-37AC-4DB4-B9438EC19449}"/>
              </a:ext>
            </a:extLst>
          </p:cNvPr>
          <p:cNvSpPr/>
          <p:nvPr/>
        </p:nvSpPr>
        <p:spPr>
          <a:xfrm>
            <a:off x="7299668" y="1641062"/>
            <a:ext cx="4568482" cy="41381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char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 stores single characters, strings of characters (*character array*), also single character hex/decimal values (ASCII table)</a:t>
            </a:r>
          </a:p>
          <a:p>
            <a:pPr algn="just"/>
            <a:endParaRPr lang="en-US" sz="2000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algn="just"/>
            <a:endParaRPr lang="en-US" sz="2000" dirty="0">
              <a:solidFill>
                <a:schemeClr val="bg1"/>
              </a:solidFill>
              <a:latin typeface="LM Roman 12" panose="00000500000000000000" pitchFamily="50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B99895-D7C8-C9D9-FB27-320C91845A27}"/>
              </a:ext>
            </a:extLst>
          </p:cNvPr>
          <p:cNvSpPr txBox="1"/>
          <p:nvPr/>
        </p:nvSpPr>
        <p:spPr>
          <a:xfrm>
            <a:off x="8353764" y="1776429"/>
            <a:ext cx="2721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400" b="1" dirty="0"/>
              <a:t>DATA TYPES (</a:t>
            </a:r>
            <a:r>
              <a:rPr lang="en-ZA" sz="2400" b="1" dirty="0">
                <a:solidFill>
                  <a:srgbClr val="0070C0"/>
                </a:solidFill>
              </a:rPr>
              <a:t>char</a:t>
            </a:r>
            <a:r>
              <a:rPr lang="en-ZA" sz="2400" b="1" dirty="0"/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0A3118-DD43-ECB5-F4EA-CE18BF192B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2484" y="1776429"/>
            <a:ext cx="4643315" cy="3817102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13DB69E9-3EAE-D4C8-1E27-8667D8A1C9A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439489" y="4052841"/>
              <a:ext cx="2916775" cy="1640686"/>
            </p:xfrm>
            <a:graphic>
              <a:graphicData uri="http://schemas.microsoft.com/office/powerpoint/2016/slidezoom">
                <pslz:sldZm>
                  <pslz:sldZmObj sldId="417" cId="1477021192">
                    <pslz:zmPr id="{F4ED15B3-4157-4407-B0FD-F552E0F34E13}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16775" cy="164068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2">
                <a:extLst>
                  <a:ext uri="{FF2B5EF4-FFF2-40B4-BE49-F238E27FC236}">
                    <a16:creationId xmlns:a16="http://schemas.microsoft.com/office/drawing/2014/main" id="{13DB69E9-3EAE-D4C8-1E27-8667D8A1C9A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439489" y="4052841"/>
                <a:ext cx="2916775" cy="164068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53086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" dur="11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5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ile:ASCII-Table-wide.svg - Wikimedia Commons">
            <a:extLst>
              <a:ext uri="{FF2B5EF4-FFF2-40B4-BE49-F238E27FC236}">
                <a16:creationId xmlns:a16="http://schemas.microsoft.com/office/drawing/2014/main" id="{A21B2C7E-6C63-6E77-65FE-2EE221104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825" y="104775"/>
            <a:ext cx="9733075" cy="6478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021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6858F-8006-173A-3BB9-4558E42E9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E8828A2E-1B38-485F-9C97-B0D7B54B97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E8828A2E-1B38-485F-9C97-B0D7B54B97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22EBA738-19B2-7FE2-D760-0274C7B46E5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E50DC3-2715-B2D9-1CAD-F9554EEB13DC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3&amp;9 	pg. 28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C48BED8-12FD-10BF-68A0-460E3B70AEF7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6BFDD71-6BCF-7D22-C6D9-48C0C33DECFE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C8E4E08-D840-64F5-0FEB-CC0B7838A7D8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AE636514-EDE9-14FB-4C11-AD7653199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EA1B4F9-775C-0D21-2006-BEE38853ECEC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29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03C1E6D-A8B0-7C37-5BCB-0E288817C7A9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FORMATTED INPUT/OUTPUT: DIFFERENT TYPES</a:t>
            </a:r>
            <a:endParaRPr lang="en-ZA" dirty="0">
              <a:solidFill>
                <a:schemeClr val="accent1"/>
              </a:solidFill>
              <a:latin typeface="LM Roman 12" panose="00000500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4E320F-A0D4-9A4E-EAAF-E84D2D313A76}"/>
              </a:ext>
            </a:extLst>
          </p:cNvPr>
          <p:cNvSpPr/>
          <p:nvPr/>
        </p:nvSpPr>
        <p:spPr>
          <a:xfrm>
            <a:off x="7299668" y="1641062"/>
            <a:ext cx="4568482" cy="41381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Printing a floating-point number in scientific notation </a:t>
            </a:r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%e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68D213-0672-5985-7232-1B5F6863EC43}"/>
              </a:ext>
            </a:extLst>
          </p:cNvPr>
          <p:cNvSpPr txBox="1"/>
          <p:nvPr/>
        </p:nvSpPr>
        <p:spPr>
          <a:xfrm>
            <a:off x="8353764" y="1776429"/>
            <a:ext cx="2995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400" b="1" dirty="0"/>
              <a:t>DATA TYPES (</a:t>
            </a:r>
            <a:r>
              <a:rPr lang="en-ZA" sz="2400" b="1" dirty="0">
                <a:solidFill>
                  <a:srgbClr val="0070C0"/>
                </a:solidFill>
              </a:rPr>
              <a:t>others</a:t>
            </a:r>
            <a:r>
              <a:rPr lang="en-ZA" sz="2400" b="1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8BFE96-1119-4563-F6D8-E46A57214D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658" y="2127839"/>
            <a:ext cx="6960936" cy="3164636"/>
          </a:xfrm>
          <a:prstGeom prst="rect">
            <a:avLst/>
          </a:prstGeom>
        </p:spPr>
      </p:pic>
      <p:sp>
        <p:nvSpPr>
          <p:cNvPr id="5" name="Arrow: Left 4">
            <a:extLst>
              <a:ext uri="{FF2B5EF4-FFF2-40B4-BE49-F238E27FC236}">
                <a16:creationId xmlns:a16="http://schemas.microsoft.com/office/drawing/2014/main" id="{521C2D3B-0A63-B4FC-71F5-980E9F50709C}"/>
              </a:ext>
            </a:extLst>
          </p:cNvPr>
          <p:cNvSpPr/>
          <p:nvPr/>
        </p:nvSpPr>
        <p:spPr>
          <a:xfrm rot="19829504">
            <a:off x="6796370" y="3177225"/>
            <a:ext cx="1006594" cy="304800"/>
          </a:xfrm>
          <a:prstGeom prst="lef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10653726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82FB0-3FC6-9F2B-6B75-C85518EE3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D62034E1-0824-8E51-1500-563A9883E3E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D62034E1-0824-8E51-1500-563A9883E3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49CEFC4C-20B9-F7D7-2D75-A6729D5D561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98B7F3-8FFD-0189-0C96-9EE8E6B29489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3&amp;9 	pg. 29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53A69C1-0DEC-D55A-F249-09C4A89AFBD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D24AED3-389A-1ADD-3FFC-AA54449A5AA6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03120B3-926E-116E-8F25-98E1682077B0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A79DF633-C6AA-A182-1414-20FC3AE3A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79AFD44-4162-8E44-37EB-D99A0DEDE5CB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29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38DD1E6-5B8F-3A72-8749-81897CE61018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FORMATTED INPUT/OUTPUT: DIFFERENT TYPES</a:t>
            </a:r>
            <a:endParaRPr lang="en-ZA" dirty="0">
              <a:solidFill>
                <a:schemeClr val="accent1"/>
              </a:solidFill>
              <a:latin typeface="LM Roman 12" panose="00000500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ED87E0-1814-8A9F-28D0-61BAB6F05B9E}"/>
              </a:ext>
            </a:extLst>
          </p:cNvPr>
          <p:cNvSpPr/>
          <p:nvPr/>
        </p:nvSpPr>
        <p:spPr>
          <a:xfrm>
            <a:off x="7299668" y="1641062"/>
            <a:ext cx="4568482" cy="41381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You can print a decimal equivalent of a single character (‘b’ corresponds to 98 decimal on </a:t>
            </a:r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ASCII table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)</a:t>
            </a:r>
            <a:endParaRPr lang="en-US" sz="2000" dirty="0">
              <a:solidFill>
                <a:srgbClr val="FFFF00"/>
              </a:solidFill>
              <a:latin typeface="LM Roman 12" panose="00000500000000000000" pitchFamily="50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39C58C-5673-E430-0340-AD3876E89C11}"/>
              </a:ext>
            </a:extLst>
          </p:cNvPr>
          <p:cNvSpPr txBox="1"/>
          <p:nvPr/>
        </p:nvSpPr>
        <p:spPr>
          <a:xfrm>
            <a:off x="8353764" y="1776429"/>
            <a:ext cx="2995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400" b="1" dirty="0"/>
              <a:t>DATA TYPES (</a:t>
            </a:r>
            <a:r>
              <a:rPr lang="en-ZA" sz="2400" b="1" dirty="0">
                <a:solidFill>
                  <a:srgbClr val="0070C0"/>
                </a:solidFill>
              </a:rPr>
              <a:t>others</a:t>
            </a:r>
            <a:r>
              <a:rPr lang="en-ZA" sz="2400" b="1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02161B-CE5E-D5A0-1E3C-CDB1FD6B33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658" y="2127839"/>
            <a:ext cx="6960936" cy="3164636"/>
          </a:xfrm>
          <a:prstGeom prst="rect">
            <a:avLst/>
          </a:prstGeom>
        </p:spPr>
      </p:pic>
      <p:sp>
        <p:nvSpPr>
          <p:cNvPr id="5" name="Arrow: Left 4">
            <a:extLst>
              <a:ext uri="{FF2B5EF4-FFF2-40B4-BE49-F238E27FC236}">
                <a16:creationId xmlns:a16="http://schemas.microsoft.com/office/drawing/2014/main" id="{F42F6DAB-0CE8-11EC-C7A2-4979F7705F0C}"/>
              </a:ext>
            </a:extLst>
          </p:cNvPr>
          <p:cNvSpPr/>
          <p:nvPr/>
        </p:nvSpPr>
        <p:spPr>
          <a:xfrm rot="19829504">
            <a:off x="5592702" y="4138313"/>
            <a:ext cx="1006594" cy="304800"/>
          </a:xfrm>
          <a:prstGeom prst="lef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88827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27BA6-8531-C3CF-A3F9-5068CF0A1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B9019BF8-D169-16E4-6DAE-CD7E6B6E750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B9019BF8-D169-16E4-6DAE-CD7E6B6E75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D33C1C78-C11A-41C3-4851-9512B655F06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881B44-696B-B434-C993-773A650D6A99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3&amp;9 	pg. 30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FFC6922-54F6-55EA-3E0E-B43D301C20F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141CCE3-6BFA-D076-6B36-881C8831B4D6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2B11D7F-AA53-C301-30D1-B4BBC877C829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B0D571B7-8775-FBA1-B241-3D1D8D597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3293CDE-B19D-CFE3-DCA9-5C0541703636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29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BD529CAF-2543-CB2F-13F0-09FB10493EBF}"/>
              </a:ext>
            </a:extLst>
          </p:cNvPr>
          <p:cNvSpPr/>
          <p:nvPr/>
        </p:nvSpPr>
        <p:spPr>
          <a:xfrm>
            <a:off x="2579288" y="584145"/>
            <a:ext cx="7124670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FORMATTED INPUT/OUTPUT: FIELD WIDTH &amp; PRECISION</a:t>
            </a:r>
            <a:endParaRPr lang="en-ZA" dirty="0">
              <a:solidFill>
                <a:schemeClr val="accent1"/>
              </a:solidFill>
              <a:latin typeface="LM Roman 12" panose="00000500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B3890F-4442-BE09-980E-C0DF7135DB2B}"/>
              </a:ext>
            </a:extLst>
          </p:cNvPr>
          <p:cNvSpPr/>
          <p:nvPr/>
        </p:nvSpPr>
        <p:spPr>
          <a:xfrm>
            <a:off x="7299668" y="1641062"/>
            <a:ext cx="4568482" cy="41381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This specifies the minimum space that a displayed integer should occupy syntax: </a:t>
            </a:r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%(leading space)d 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(decimals)</a:t>
            </a:r>
          </a:p>
          <a:p>
            <a:pPr algn="just"/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	% (leading space)f 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floats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F40A0D-EAF5-B25B-E60A-77833BB77F71}"/>
              </a:ext>
            </a:extLst>
          </p:cNvPr>
          <p:cNvSpPr txBox="1"/>
          <p:nvPr/>
        </p:nvSpPr>
        <p:spPr>
          <a:xfrm>
            <a:off x="8353764" y="1776429"/>
            <a:ext cx="20242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400" b="1" dirty="0"/>
              <a:t>FIELD WIDTH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CD6512-1615-FCA9-B950-9CED7CD496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083" y="2238094"/>
            <a:ext cx="4549534" cy="270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4344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indefinite" fill="hold" nodeType="withEffect">
                                  <p:stCondLst>
                                    <p:cond delay="3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" dur="20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100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91F71-C100-7209-2BE1-9FF4161F8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BADC4CE5-33EE-6BB7-3B0F-BBDC04AF872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BADC4CE5-33EE-6BB7-3B0F-BBDC04AF87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B1063AA9-3130-455C-45A4-A48E88479EE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0DBA6D-B9A7-65BE-D630-5EA25E9DD512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3&amp;9 	pg. 31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5A50E18-B594-D329-BEEE-8EC263AAF97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57EED16-BB65-CD61-7A53-3DD61B3F5F0A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9393B92-BEA4-0EE2-98C6-9E79104132E5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008B9841-F3E3-7E59-66D9-D4B684EA2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2A9033D-8020-CD9C-5191-86B9DACABB1E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29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38433E0E-A307-D707-C42A-CF33D7BFAC39}"/>
              </a:ext>
            </a:extLst>
          </p:cNvPr>
          <p:cNvSpPr/>
          <p:nvPr/>
        </p:nvSpPr>
        <p:spPr>
          <a:xfrm>
            <a:off x="2579288" y="584145"/>
            <a:ext cx="7124670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FORMATTED INPUT/OUTPUT: FIELD WIDTH &amp; PRECISION</a:t>
            </a:r>
            <a:endParaRPr lang="en-ZA" dirty="0">
              <a:solidFill>
                <a:schemeClr val="accent1"/>
              </a:solidFill>
              <a:latin typeface="LM Roman 12" panose="00000500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66BE5B-A273-4370-729D-7190B9BF7545}"/>
              </a:ext>
            </a:extLst>
          </p:cNvPr>
          <p:cNvSpPr/>
          <p:nvPr/>
        </p:nvSpPr>
        <p:spPr>
          <a:xfrm>
            <a:off x="7299668" y="1641062"/>
            <a:ext cx="4568482" cy="41381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This specifies the number of digits to appear after the decimal point.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Syntax: </a:t>
            </a:r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%.(number of digits)f</a:t>
            </a:r>
          </a:p>
          <a:p>
            <a:pPr algn="just"/>
            <a:endParaRPr lang="en-US" sz="20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One can also combine field width and precision. The general syntax is:</a:t>
            </a:r>
          </a:p>
          <a:p>
            <a:pPr algn="just"/>
            <a:endParaRPr lang="en-US" sz="2000" dirty="0">
              <a:solidFill>
                <a:srgbClr val="FFFF00"/>
              </a:solidFill>
              <a:latin typeface="LM Roman 12" panose="00000500000000000000" pitchFamily="50" charset="0"/>
            </a:endParaRPr>
          </a:p>
          <a:p>
            <a:pPr algn="just"/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%(</a:t>
            </a:r>
            <a:r>
              <a:rPr lang="en-US" sz="2000" dirty="0" err="1">
                <a:solidFill>
                  <a:srgbClr val="FFFF00"/>
                </a:solidFill>
                <a:latin typeface="LM Roman 12" panose="00000500000000000000" pitchFamily="50" charset="0"/>
              </a:rPr>
              <a:t>field_width</a:t>
            </a:r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).(precision)(d/f)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4CFDFA-DEA5-D181-D35C-C2B5E3D804D5}"/>
              </a:ext>
            </a:extLst>
          </p:cNvPr>
          <p:cNvSpPr txBox="1"/>
          <p:nvPr/>
        </p:nvSpPr>
        <p:spPr>
          <a:xfrm>
            <a:off x="8353764" y="1776429"/>
            <a:ext cx="17718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400" b="1" dirty="0">
                <a:solidFill>
                  <a:srgbClr val="00B0F0"/>
                </a:solidFill>
              </a:rPr>
              <a:t>PRECISION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A8BA77-B553-647A-3DB2-989B66909F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7192" y="1927730"/>
            <a:ext cx="3596952" cy="15012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4966BD-671E-F834-1A27-2B0E4CF0BFC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7658" y="3868990"/>
            <a:ext cx="3696020" cy="15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6369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6" presetClass="emph" presetSubtype="0" repeatCount="indefinite" fill="hold" nodeType="withEffect">
                                  <p:stCondLst>
                                    <p:cond delay="4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6" dur="2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10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26" presetClass="emph" presetSubtype="0" repeatCount="indefinite" fill="hold" nodeType="withEffect">
                                  <p:stCondLst>
                                    <p:cond delay="70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9" dur="2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10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7065F-8F6C-4227-45BE-5B32240B1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19CE68EF-B9D1-ABBD-5C0A-33D6D22CCD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19CE68EF-B9D1-ABBD-5C0A-33D6D22CCD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6B80C76A-51F9-823B-03E8-A0D0093E852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9CCC09-D709-A333-4777-4FDE29A98589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3&amp;9 	pg. 31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DE1F174-C4C7-B208-EDEB-074D34C5883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5752EFE-427B-34CC-6DD5-075B335AE84D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919A7CF-FAAA-8E93-9B9E-BAFFC3FE6A04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C3BF73FA-C2EE-814A-DF89-421EE733B1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4CDDACD-49F8-AD2B-B0F6-B095EA24E45D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29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9FB5B86-E3BD-DA38-C487-EADA656BE99E}"/>
              </a:ext>
            </a:extLst>
          </p:cNvPr>
          <p:cNvSpPr/>
          <p:nvPr/>
        </p:nvSpPr>
        <p:spPr>
          <a:xfrm>
            <a:off x="2933905" y="573346"/>
            <a:ext cx="5964637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NESTED CONTROL STRUCTURES 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260E09-EF9D-3A06-D4CD-A3B62F3EEF0B}"/>
              </a:ext>
            </a:extLst>
          </p:cNvPr>
          <p:cNvSpPr/>
          <p:nvPr/>
        </p:nvSpPr>
        <p:spPr>
          <a:xfrm>
            <a:off x="7299668" y="1641062"/>
            <a:ext cx="4568482" cy="41381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This refers to the placement of one control statement (such as an </a:t>
            </a:r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if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, </a:t>
            </a:r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if-else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, </a:t>
            </a:r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while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LM Roman 12" panose="00000500000000000000" pitchFamily="50" charset="0"/>
              </a:rPr>
              <a:t>etc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) inside the body of another control statement.</a:t>
            </a:r>
            <a:endParaRPr lang="en-US" sz="2000" dirty="0">
              <a:solidFill>
                <a:srgbClr val="FFFF00"/>
              </a:solidFill>
              <a:latin typeface="LM Roman 12" panose="00000500000000000000" pitchFamily="50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13D589-1853-314B-DBE9-1276E6450E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2424112"/>
            <a:ext cx="7284653" cy="1552575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Slide Zoom 10">
                <a:extLst>
                  <a:ext uri="{FF2B5EF4-FFF2-40B4-BE49-F238E27FC236}">
                    <a16:creationId xmlns:a16="http://schemas.microsoft.com/office/drawing/2014/main" id="{20A824A3-1138-891D-1F11-50242CF595E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615733" y="4181475"/>
              <a:ext cx="3048000" cy="1714500"/>
            </p:xfrm>
            <a:graphic>
              <a:graphicData uri="http://schemas.microsoft.com/office/powerpoint/2016/slidezoom">
                <pslz:sldZm>
                  <pslz:sldZmObj sldId="423" cId="3370320786">
                    <pslz:zmPr id="{A4D15333-12A7-4B33-862D-1060C23F3176}" returnToParent="0" transitionDur="1000" showBg="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Slide Zoom 10">
                <a:extLst>
                  <a:ext uri="{FF2B5EF4-FFF2-40B4-BE49-F238E27FC236}">
                    <a16:creationId xmlns:a16="http://schemas.microsoft.com/office/drawing/2014/main" id="{20A824A3-1138-891D-1F11-50242CF595E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15733" y="4181475"/>
                <a:ext cx="3048000" cy="17145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A9F00262-4DDD-14FC-AE4B-D903E5AEA7BB}"/>
              </a:ext>
            </a:extLst>
          </p:cNvPr>
          <p:cNvSpPr txBox="1"/>
          <p:nvPr/>
        </p:nvSpPr>
        <p:spPr>
          <a:xfrm>
            <a:off x="2451275" y="3996809"/>
            <a:ext cx="1376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pseudocode</a:t>
            </a:r>
          </a:p>
        </p:txBody>
      </p:sp>
    </p:spTree>
    <p:extLst>
      <p:ext uri="{BB962C8B-B14F-4D97-AF65-F5344CB8AC3E}">
        <p14:creationId xmlns:p14="http://schemas.microsoft.com/office/powerpoint/2010/main" val="771878480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CD99CB-430F-7677-7D3B-65A1CEB3C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501015"/>
            <a:ext cx="9391650" cy="5855969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7E6DC371-A87B-E9E4-344D-A0A960C47C2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677275" y="5071109"/>
              <a:ext cx="2286000" cy="1285875"/>
            </p:xfrm>
            <a:graphic>
              <a:graphicData uri="http://schemas.microsoft.com/office/powerpoint/2016/slidezoom">
                <pslz:sldZm>
                  <pslz:sldZmObj sldId="424" cId="4212526997">
                    <pslz:zmPr id="{444D2613-0895-4488-975A-6A4BED3E9EDF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28587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extLst>
                  <a:ext uri="{FF2B5EF4-FFF2-40B4-BE49-F238E27FC236}">
                    <a16:creationId xmlns:a16="http://schemas.microsoft.com/office/drawing/2014/main" id="{7E6DC371-A87B-E9E4-344D-A0A960C47C2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77275" y="5071109"/>
                <a:ext cx="2286000" cy="128587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A31EF0E-35F0-86B2-A28C-CA2BDD6782E0}"/>
              </a:ext>
            </a:extLst>
          </p:cNvPr>
          <p:cNvSpPr txBox="1"/>
          <p:nvPr/>
        </p:nvSpPr>
        <p:spPr>
          <a:xfrm>
            <a:off x="9131817" y="4787384"/>
            <a:ext cx="907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C code</a:t>
            </a:r>
          </a:p>
        </p:txBody>
      </p:sp>
    </p:spTree>
    <p:extLst>
      <p:ext uri="{BB962C8B-B14F-4D97-AF65-F5344CB8AC3E}">
        <p14:creationId xmlns:p14="http://schemas.microsoft.com/office/powerpoint/2010/main" val="3370320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BAE72A-C44D-ABAB-B852-1CEFB62ECC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0" t="706" b="-1"/>
          <a:stretch>
            <a:fillRect/>
          </a:stretch>
        </p:blipFill>
        <p:spPr>
          <a:xfrm>
            <a:off x="2457450" y="154485"/>
            <a:ext cx="5676900" cy="666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526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1803C-8D0A-77FA-81B5-AD30EE2AE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CD782E27-5733-2848-A6BD-0FE4222A10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CD782E27-5733-2848-A6BD-0FE4222A10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8D0113D3-BB30-DEE3-A728-C171029EA4E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288371-5FD6-0F8D-99BF-5619C92CBFFC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3&amp;9 	pg. 31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F14433D-E388-286A-3010-C4453B95CD6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813D469-A945-2C71-28BD-006DD5EB21B7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6611ED9-AF03-4A13-D202-FB5224870264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D240EE91-A0EA-F02D-52F8-33F390E1813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76D1CC2-2718-BA4D-180D-5A2ECE290770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29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C9F7A2F-01F7-708A-622D-65B26FE05CF9}"/>
              </a:ext>
            </a:extLst>
          </p:cNvPr>
          <p:cNvSpPr/>
          <p:nvPr/>
        </p:nvSpPr>
        <p:spPr>
          <a:xfrm>
            <a:off x="2933905" y="573346"/>
            <a:ext cx="5964637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NESTED CONTROL STRUCTURES 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8AA320-127F-D128-958B-8C9D69F7C357}"/>
              </a:ext>
            </a:extLst>
          </p:cNvPr>
          <p:cNvSpPr/>
          <p:nvPr/>
        </p:nvSpPr>
        <p:spPr>
          <a:xfrm>
            <a:off x="7299668" y="1641062"/>
            <a:ext cx="4568482" cy="41381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This refers to the placement of one control statement (such as an </a:t>
            </a:r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if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, </a:t>
            </a:r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if-else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, </a:t>
            </a:r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while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LM Roman 12" panose="00000500000000000000" pitchFamily="50" charset="0"/>
              </a:rPr>
              <a:t>etc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) inside the body of another control statement.</a:t>
            </a:r>
            <a:endParaRPr lang="en-US" sz="2000" dirty="0">
              <a:solidFill>
                <a:srgbClr val="FFFF00"/>
              </a:solidFill>
              <a:latin typeface="LM Roman 12" panose="00000500000000000000" pitchFamily="50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A5D637-3592-6322-1581-2FCC0DFC68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2424112"/>
            <a:ext cx="7284653" cy="1552575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Slide Zoom 10">
                <a:extLst>
                  <a:ext uri="{FF2B5EF4-FFF2-40B4-BE49-F238E27FC236}">
                    <a16:creationId xmlns:a16="http://schemas.microsoft.com/office/drawing/2014/main" id="{7A12D051-61A0-D749-3E66-73D1CEFF6C7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615733" y="4181475"/>
              <a:ext cx="3048000" cy="1714500"/>
            </p:xfrm>
            <a:graphic>
              <a:graphicData uri="http://schemas.microsoft.com/office/powerpoint/2016/slidezoom">
                <pslz:sldZm>
                  <pslz:sldZmObj sldId="423" cId="3370320786">
                    <pslz:zmPr id="{A4D15333-12A7-4B33-862D-1060C23F3176}" returnToParent="0" transitionDur="1000" showBg="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Slide Zoom 10">
                <a:extLst>
                  <a:ext uri="{FF2B5EF4-FFF2-40B4-BE49-F238E27FC236}">
                    <a16:creationId xmlns:a16="http://schemas.microsoft.com/office/drawing/2014/main" id="{7A12D051-61A0-D749-3E66-73D1CEFF6C7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15733" y="4181475"/>
                <a:ext cx="3048000" cy="17145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BB0B790D-B39A-263E-447B-E00780367F6D}"/>
              </a:ext>
            </a:extLst>
          </p:cNvPr>
          <p:cNvSpPr txBox="1"/>
          <p:nvPr/>
        </p:nvSpPr>
        <p:spPr>
          <a:xfrm>
            <a:off x="2451275" y="3996809"/>
            <a:ext cx="1376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pseudocode</a:t>
            </a:r>
          </a:p>
        </p:txBody>
      </p:sp>
    </p:spTree>
    <p:extLst>
      <p:ext uri="{BB962C8B-B14F-4D97-AF65-F5344CB8AC3E}">
        <p14:creationId xmlns:p14="http://schemas.microsoft.com/office/powerpoint/2010/main" val="6009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29353-A1A4-8BB2-382D-A171EE962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6D525FB7-6803-93EE-82B0-BD7B059F68E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6D525FB7-6803-93EE-82B0-BD7B059F68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30928E62-15D9-D9A3-759D-A433A6F3391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F495A1-BB97-1852-A023-CB75C903EFF5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3&amp;9 	pg. 31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3E2B61C-6CE2-43F1-A5D6-DFF06B918E5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CAFCB74-895A-CED1-E4BC-03F632FCDF74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641564D-C38A-7F8E-E423-0331094236FD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F52B4858-C2BE-C575-08F5-BA1768C23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95F8DF6-1A0E-BA93-50E7-1713E3E0FDC0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29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3FD41E1D-5BA8-7639-C831-0EE29352C99F}"/>
              </a:ext>
            </a:extLst>
          </p:cNvPr>
          <p:cNvSpPr/>
          <p:nvPr/>
        </p:nvSpPr>
        <p:spPr>
          <a:xfrm>
            <a:off x="2933905" y="573346"/>
            <a:ext cx="5964637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SIMPLIFYING ASSIGNMENT EXPRESSION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0E82A9-C6E8-8E91-BB00-7B866E8D9E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540" y="2202583"/>
            <a:ext cx="6654510" cy="329733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2CB5D09-A38C-B315-E005-CCE5AEB20B53}"/>
              </a:ext>
            </a:extLst>
          </p:cNvPr>
          <p:cNvSpPr/>
          <p:nvPr/>
        </p:nvSpPr>
        <p:spPr>
          <a:xfrm>
            <a:off x="7299668" y="1641062"/>
            <a:ext cx="4568482" cy="41381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Assignment operators 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can be simplified, to make the code easier to read and compiler quicker.</a:t>
            </a:r>
          </a:p>
        </p:txBody>
      </p:sp>
    </p:spTree>
    <p:extLst>
      <p:ext uri="{BB962C8B-B14F-4D97-AF65-F5344CB8AC3E}">
        <p14:creationId xmlns:p14="http://schemas.microsoft.com/office/powerpoint/2010/main" val="708737250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F8F89-4706-98DF-EE19-232B5CF1A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6D53D028-2A7F-68CE-0AA0-B3F6B25921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6D53D028-2A7F-68CE-0AA0-B3F6B25921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500ED1B2-E80B-5DD1-907E-1CF9375E96F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BCA3A9-FA11-BB61-4519-3060EACB1BC2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3&amp;9 	pg. 31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263B1E0-6619-FA24-1E87-5E6F3AFA4FB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8851F56-43CD-BD0F-25B2-25FDA43DEF3E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C375480-951A-7997-ECD3-88FF23E71BDA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195CE9DC-6B31-16FB-0D39-F86D21388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1F121E2-E1C0-B257-5B26-7277C39F8A9D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29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1DDBBF55-AC02-E2C1-0AF2-5F56F072AD07}"/>
              </a:ext>
            </a:extLst>
          </p:cNvPr>
          <p:cNvSpPr/>
          <p:nvPr/>
        </p:nvSpPr>
        <p:spPr>
          <a:xfrm>
            <a:off x="2933905" y="573346"/>
            <a:ext cx="5964637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ASSIGNMENT OPERATORS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811B06-9748-C829-6477-B0DE3785203D}"/>
              </a:ext>
            </a:extLst>
          </p:cNvPr>
          <p:cNvSpPr/>
          <p:nvPr/>
        </p:nvSpPr>
        <p:spPr>
          <a:xfrm>
            <a:off x="7299668" y="1641062"/>
            <a:ext cx="4568482" cy="41381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Incrementing or decrementing by 1 can also be simplified. E.g., counter++ or counter-- for updating the counter by 1 after the first current instance of the process, and ++c or --c for updating the counter before the instance of the process.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E2A848-6DA7-7172-348C-967CD153C0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840" y="2066925"/>
            <a:ext cx="6849602" cy="3384582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Slide Zoom 9">
                <a:extLst>
                  <a:ext uri="{FF2B5EF4-FFF2-40B4-BE49-F238E27FC236}">
                    <a16:creationId xmlns:a16="http://schemas.microsoft.com/office/drawing/2014/main" id="{B5934685-CA94-187A-9985-E2310F8F584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852676" y="4570959"/>
              <a:ext cx="1862667" cy="1047750"/>
            </p:xfrm>
            <a:graphic>
              <a:graphicData uri="http://schemas.microsoft.com/office/powerpoint/2016/slidezoom">
                <pslz:sldZm>
                  <pslz:sldZmObj sldId="429" cId="3984832383">
                    <pslz:zmPr id="{4D4DFEB8-E880-4B6F-9B5F-CCEB82E7EE13}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62667" cy="104775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Slide Zoom 9">
                <a:extLst>
                  <a:ext uri="{FF2B5EF4-FFF2-40B4-BE49-F238E27FC236}">
                    <a16:creationId xmlns:a16="http://schemas.microsoft.com/office/drawing/2014/main" id="{B5934685-CA94-187A-9985-E2310F8F584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852676" y="4570959"/>
                <a:ext cx="1862667" cy="104775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5154906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DDA90B-AC3A-0738-07DC-00AF45E42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575" y="405774"/>
            <a:ext cx="7296150" cy="626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8323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892</Words>
  <Application>Microsoft Office PowerPoint</Application>
  <PresentationFormat>Widescreen</PresentationFormat>
  <Paragraphs>186</Paragraphs>
  <Slides>21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Aptos</vt:lpstr>
      <vt:lpstr>Aptos Display</vt:lpstr>
      <vt:lpstr>Arial</vt:lpstr>
      <vt:lpstr>Bradley Hand ITC</vt:lpstr>
      <vt:lpstr>Calibri</vt:lpstr>
      <vt:lpstr>LM Roman 12</vt:lpstr>
      <vt:lpstr>Segoe UI Black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Khobo</dc:creator>
  <cp:lastModifiedBy>Isaac Khobo</cp:lastModifiedBy>
  <cp:revision>1</cp:revision>
  <dcterms:created xsi:type="dcterms:W3CDTF">2026-08-23T20:07:37Z</dcterms:created>
  <dcterms:modified xsi:type="dcterms:W3CDTF">2026-08-23T20:07:57Z</dcterms:modified>
</cp:coreProperties>
</file>