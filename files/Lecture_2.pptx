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3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4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6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9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0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1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43" r:id="rId2"/>
    <p:sldId id="345" r:id="rId3"/>
    <p:sldId id="346" r:id="rId4"/>
    <p:sldId id="347" r:id="rId5"/>
    <p:sldId id="348" r:id="rId6"/>
    <p:sldId id="349" r:id="rId7"/>
    <p:sldId id="350" r:id="rId8"/>
    <p:sldId id="355" r:id="rId9"/>
    <p:sldId id="357" r:id="rId10"/>
    <p:sldId id="351" r:id="rId11"/>
    <p:sldId id="353" r:id="rId12"/>
    <p:sldId id="358" r:id="rId13"/>
    <p:sldId id="366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7" r:id="rId22"/>
    <p:sldId id="368" r:id="rId23"/>
    <p:sldId id="369" r:id="rId24"/>
    <p:sldId id="3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F975D-5C69-498E-B1C1-9BA1C13508F7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29316-0766-4733-894D-CE689A77E02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1111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AEFFA-722C-79DA-43D5-BBD290F6D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ED1A3-BB59-8865-8154-6687B9268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9DC58-62E0-6979-7AC4-01CE20BD7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D4FC6-256D-42CF-CAA4-7D90B016B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0120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5E65A-6549-D349-B9AA-E110940C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96BCB-06A2-ADD6-435E-442AFD0A0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093AE-DA63-D0C8-02B1-FDACD1FC3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667AC-BC08-2B14-8249-5995FA80C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015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00F3-8345-8862-743A-EDB6551CE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BBA61-63DB-863C-B57A-B0DDDB5AE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45AF5-8ACF-E2B1-9E15-FBE629724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2E760-933B-46E7-6117-2D098FEAA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293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8F57-051E-600F-A39D-67F76B7D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70788-AAD8-DBA5-D2FD-B726B0771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1C2B5-0461-FF69-FC04-EB86DD9A2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AED9A-95AD-A93E-ACF8-D67A82780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807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F6D2F-B57D-E925-3D80-2F39AACA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3EB6D-487E-A556-8A2B-C22807C1E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BAB2C-23CA-12C6-1E60-9D459BEB6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CA398-68C8-5BE3-3FB1-719A0CE22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3801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D4FD3-50AF-E418-AF6E-A9174429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78346-7F02-9EF5-5E8F-56CD7AA0C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67171-5F6A-F94C-618F-2BB4B1D4C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9B5C0-97E0-0D08-587D-3FDFE239E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6387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2A578-6626-E6AB-D8A4-E61E5313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45FA5-0569-BB3E-A055-46D124AC9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F88CF-FADA-0FDC-BCEA-5EFED838F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01AE4-88A2-4ABF-59B0-FBE9D1FE3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974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1A0E-E6E2-E317-781D-E1FB3C66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FFEFF-92B9-F8EE-F2D7-683162536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443E4-2B51-F248-4D13-BE4FAEF96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4725A-B026-842E-52FC-E417EB0D2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683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FE6F7-52F5-16DF-F6DD-DECC3A5D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D9FA4-2C32-3FB3-87E5-5DF67ED1A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77343-9E21-E41D-D22F-3D7C57302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03B1F-17E7-A148-D7E6-9F3285150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225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D44F-FAB3-9B54-D6B1-B4F7C250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EC39C-A11B-C17E-5EC6-98A441E70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EEA27-B4C0-3D42-C85F-903A08E33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D82FD-7B43-DCEE-84BD-8E06DE2D2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6845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20080-902A-8571-21B2-0C5DC046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4B54-2972-2B61-315D-5AB70036F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AE795-6A66-1D89-E396-9478FFA5E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9C753-9E52-5639-D12C-5B49A0C5A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020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DD3A4-446B-E59D-6F54-6E1333C49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50EFA-15F4-6FC0-2D44-3BC1D8ADF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8C15E-0F13-6301-2321-7DDD6F5EC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CCF72-5174-ECA8-B623-ED3039E54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564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CE59-EAC0-541C-46F8-F8E2B5B3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D3DD5-F37F-540D-113A-BB13B3ECA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313AD-B84F-2CBF-7C3C-5DFC75300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4A343-C86C-CE2D-C616-BB365F613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008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9A1B-150F-10B8-0E38-DC108CECE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D8B99-44C0-BC8F-AFC7-4E72D3CA7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9F554-282B-EB08-BD18-4C11F669E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142C-9BA6-A308-3114-B615247E2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8525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76E24-9206-CEFF-FD97-B232BF0A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C6070-7167-5AC8-3C32-2D1D47952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3D43B-8A11-13E1-1E1D-2C7C6FA66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CA156-29A7-8844-2574-FA3B565FF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794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D0A20-3E68-1B96-7371-A083F3355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51F94-637A-C87E-25B7-73B1B8D0B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DFABE-D413-B52C-3214-D46486C77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57696-00DC-566B-F5EC-3F61503B7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815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33B43-4A24-5843-14A5-F8FAD8AD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7E986-20FD-C43D-D61A-1D45B47BA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12E09-3446-1BAD-868A-E74120585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FCEB2-431D-20A2-7DED-7656B8DFA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927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2B2F3-0D68-7A47-C652-F73699B5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2642C-7470-B50F-912D-3762DFE71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1ADD7-090A-6107-84F0-6A4088162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15E32-350D-D50D-E1F1-F5DDF9C83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5747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B45A-3D5D-91A4-FBA3-1B0BEF16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58DB1-D460-F7A5-BBA2-ED24601F7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052B8-B1F1-E3A8-6DAF-62CC1CC02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5E69B-42C8-F41E-BD2E-099612B3C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9155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2276B-11F0-9D92-E3AB-261CD251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642DD-DDA9-7E2D-D596-468B4A4A6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A434E-CE4A-0973-B34E-ACED17B9D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A4AC7-01EB-F6EB-ABE6-6A0B24038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81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0C603-4659-1C59-6E9F-703BFCC5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E4293-CD52-6CD3-F00A-B14D63E23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66E2C-027D-CADB-4851-D4970BE11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70B5F-FFD6-9064-1432-F2543F26A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246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855C-1815-E577-DF41-7471055E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95E24-B34A-6FD6-82A9-905974F40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69DF3-62DE-5B0B-752B-07A70415C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8D220-3538-F643-F555-7026C823D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675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44F22-DB07-55B9-2EE5-F24F4114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29514-1FB6-401B-E546-C428BDE83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87346-5D74-85A3-CBD1-074146BD3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C05F0-5255-428A-0617-768A1EAE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EEC20-FD20-6C9F-B632-F7D930AC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5568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180AB-8BCB-BDA1-F43D-3358C8F3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74014-B973-FF52-90F8-3DD025F85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06810-B94A-9A50-81C5-AF6FCD24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6414C-99F1-BF0C-A1A8-0FABA87E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91733-3C63-CC80-5809-DC7B42F7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960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6913-808C-A811-12A1-193AA0286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616C4-0D36-0B83-6256-7626B7682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724DB-43C8-CB33-85FB-BFF86874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883F5-EF75-BCBE-37A0-900F8B0E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D97C3-533F-5649-A33D-6936C6A5A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186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E871-7166-6C68-7E51-E6D7FE4F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341AB-6732-F82C-18A3-71B506D14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BD1B5-EBC4-AE66-FFCA-BFA6D9329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58389-834C-3CE0-08A4-84832B9CD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6337A-C45D-4F7E-2BF6-403A467B0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79295-0FC2-D0FA-D266-80299CA8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4520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F4A80-23FE-16F8-4615-C0090CDE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AE347-B791-55EA-E572-349C5FFE8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CACDC-C129-7B70-F107-096F75D6B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24E36-7E50-2101-E843-FA9452667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857AB-FA25-CF8B-7FA2-175D015CF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326826-5E40-1782-9702-25DFED7A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B1A378-A9D0-12B0-891A-A1AE7A60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5E736E-7251-C398-57C8-F78547E7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329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AF99-9057-9882-1B69-BC36D36E4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750FC-DCF5-0003-BEFD-34F4CB8A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5BE4D-E664-54E4-ADBF-608661AB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E733D-F7CE-5E96-9783-DE5165FCE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431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83382-E365-42DC-0276-C6C441BAE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E191EA-7252-052E-EB70-47E34DC89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64AA9-0CEC-8CA3-8635-97C5805D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069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145F-02F7-8267-E198-0A3F3FAA3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776-E1D2-6FFE-79B4-DC7F5B04B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BC5B6-4B1E-45D1-4A56-08705EB04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3C56B-1365-8A4A-058D-9D94B911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09F99-0B39-6186-722F-2C2FFBE2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5EC24-140E-95D2-8A4E-576CA651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151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03AC-CF29-486A-0870-D5BE5325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26358-7F0B-8D92-5538-8B5A6E781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8FA49-75F7-3B1F-AD4F-85EA30EBB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2A157-AF27-8A5E-E594-B0E75F7D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C1176-1803-2308-1865-F95EE81F0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1A716-A2EE-E906-DE27-EAD38B12C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122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2092F-CD2E-0250-0EAE-9BE747A5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47B34-F329-7370-AD0B-963CFDB60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8CBD6-BEBD-90A5-02EA-817B5533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AE236-9BCE-F5EE-F40E-C13837442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B3DC-B503-2126-54B0-F1CD98662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130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E18604-1D2E-8716-02AF-6D4A93E50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76702-61F3-F1E1-BCA5-A45C10A84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3384-0E2F-680C-C793-D4A83170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9BD53-4BCE-DEB3-1A23-61264DB6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1F055-933A-1B84-BFB6-F3CC8EEA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357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6C741D-2EF9-A694-360F-C479FB1A7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7492F-C53B-EE88-DB3D-97216AD96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37205-F537-09A6-1FE3-EECEC233D8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A2981-6832-4638-B08A-6A2811BC915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ED1BF-7306-219A-E0FB-4BC46612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31463-FB0E-EEB1-3241-B41C78D79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A6EE1-7D15-47B1-8C59-12F29CF359D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572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12" Type="http://schemas.openxmlformats.org/officeDocument/2006/relationships/image" Target="../media/image300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emf"/><Relationship Id="rId11" Type="http://schemas.openxmlformats.org/officeDocument/2006/relationships/image" Target="../media/image7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40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7.xml"/><Relationship Id="rId9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9.xml"/><Relationship Id="rId9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0.xml"/><Relationship Id="rId9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5962-4012-E1F2-E412-25E484709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4432356-6D51-93B6-738A-934C00DB18FA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920000"/>
          </a:solidFill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B0F3E0-9304-7CF6-39AE-77085BFE4D12}"/>
              </a:ext>
            </a:extLst>
          </p:cNvPr>
          <p:cNvSpPr txBox="1"/>
          <p:nvPr/>
        </p:nvSpPr>
        <p:spPr>
          <a:xfrm>
            <a:off x="1352484" y="1838271"/>
            <a:ext cx="1052322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dirty="0">
                <a:latin typeface="LM Roman 12" panose="00000500000000000000" pitchFamily="50" charset="0"/>
              </a:rPr>
              <a:t>2</a:t>
            </a:r>
            <a:r>
              <a:rPr lang="en-ZA" sz="8800" b="0" i="0" u="none" strike="noStrike" baseline="0" dirty="0">
                <a:latin typeface="LM Roman 12" panose="00000500000000000000" pitchFamily="50" charset="0"/>
              </a:rPr>
              <a:t>. </a:t>
            </a:r>
            <a:r>
              <a:rPr lang="en-ZA" sz="8800" dirty="0">
                <a:latin typeface="LM Roman 12" panose="00000500000000000000" pitchFamily="50" charset="0"/>
              </a:rPr>
              <a:t>Print, Arithmetic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</a:t>
            </a:r>
            <a:r>
              <a:rPr lang="en-US" dirty="0">
                <a:latin typeface="LM Roman 12" panose="00000500000000000000" pitchFamily="50" charset="0"/>
              </a:rPr>
              <a:t>2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| Introduction to Programming in C continued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  Printing text</a:t>
            </a:r>
          </a:p>
          <a:p>
            <a:pPr algn="l"/>
            <a:r>
              <a:rPr lang="en-US" sz="1800" b="0" i="0" u="none" strike="noStrike" baseline="0" dirty="0">
                <a:latin typeface="LM Roman 12" panose="00000500000000000000" pitchFamily="50" charset="0"/>
              </a:rPr>
              <a:t>	  Adding two inte</a:t>
            </a:r>
            <a:r>
              <a:rPr lang="en-US" dirty="0">
                <a:latin typeface="LM Roman 12" panose="00000500000000000000" pitchFamily="50" charset="0"/>
              </a:rPr>
              <a:t>gers</a:t>
            </a:r>
          </a:p>
          <a:p>
            <a:pPr algn="l"/>
            <a:r>
              <a:rPr lang="en-US" sz="1800" b="0" i="0" u="none" strike="noStrike" baseline="0" dirty="0">
                <a:latin typeface="LM Roman 12" panose="00000500000000000000" pitchFamily="50" charset="0"/>
              </a:rPr>
              <a:t>	  Memory concepts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       	  Arithmetic</a:t>
            </a:r>
          </a:p>
          <a:p>
            <a:pPr algn="l"/>
            <a:r>
              <a:rPr lang="en-US" sz="1800" b="0" i="0" u="none" strike="noStrike" baseline="0" dirty="0">
                <a:latin typeface="LM Roman 12" panose="00000500000000000000" pitchFamily="50" charset="0"/>
              </a:rPr>
              <a:t>              User input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</a:t>
            </a:r>
            <a:endParaRPr lang="en-US" sz="1800" b="0" i="0" u="none" strike="noStrike" baseline="0" dirty="0">
              <a:latin typeface="LM Roman 12" panose="00000500000000000000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D61FF6-FD76-6579-6F39-A2793A70141E}"/>
              </a:ext>
            </a:extLst>
          </p:cNvPr>
          <p:cNvSpPr txBox="1"/>
          <p:nvPr/>
        </p:nvSpPr>
        <p:spPr>
          <a:xfrm>
            <a:off x="1352484" y="531747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660714-4F03-0ECD-D716-387CCF1C51B5}"/>
              </a:ext>
            </a:extLst>
          </p:cNvPr>
          <p:cNvSpPr txBox="1"/>
          <p:nvPr/>
        </p:nvSpPr>
        <p:spPr>
          <a:xfrm>
            <a:off x="2690150" y="526023"/>
            <a:ext cx="5878718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>
                    <a:lumMod val="85000"/>
                  </a:schemeClr>
                </a:solidFill>
                <a:latin typeface="LM Roman 12" panose="00000500000000000000" pitchFamily="50" charset="0"/>
              </a:rPr>
              <a:t>A. WELCOME TO CP143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16CDC6B-D78D-4FF6-03FB-0F7284611C8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349FC9D-3B27-CE11-CE58-4BE5237B534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30EC02-9FB1-5994-C359-FEC7600F1CD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AA1A0F3-78EA-D247-D698-BB011727960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FBFE882-7FDF-CAFE-B77D-DA4DF665EE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92A613F-B012-4FCF-B1F2-0C08D46238F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22 July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774E0BF-CAA3-E147-8994-FC5450C00E9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95F2B72-46FF-0C71-F945-7E18B45D9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448" y="3531042"/>
            <a:ext cx="4568256" cy="28535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2DE98CD-70E9-FF97-5AEE-410188146631}"/>
              </a:ext>
            </a:extLst>
          </p:cNvPr>
          <p:cNvSpPr txBox="1"/>
          <p:nvPr/>
        </p:nvSpPr>
        <p:spPr>
          <a:xfrm>
            <a:off x="7691452" y="6331977"/>
            <a:ext cx="354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 2: Intro to C continued</a:t>
            </a:r>
          </a:p>
        </p:txBody>
      </p:sp>
    </p:spTree>
    <p:extLst>
      <p:ext uri="{BB962C8B-B14F-4D97-AF65-F5344CB8AC3E}">
        <p14:creationId xmlns:p14="http://schemas.microsoft.com/office/powerpoint/2010/main" val="37583832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A42B-DCAA-9FC7-66E3-5A183C99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FBA26011-9FF4-F4F4-C35A-2E84B2C75C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FBA26011-9FF4-F4F4-C35A-2E84B2C75C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519F16D2-5D75-C2F5-E3FA-4BD93D174AD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F85BC4-845E-754D-70AE-73A65900CF02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7AAB50-0DF9-93DB-19E2-5B9B18950BB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7A8FC9C-7D2B-1032-01F8-00B5840CA020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D0B9E9C-7924-B27F-C770-7ED7CEC7129A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482C5888-2EE3-4C1C-B169-9B3D1DD18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42B4679-A51C-1B30-EB80-6861C6BC02C7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EB5685B-8C0D-D9A7-8CF3-7C6D0228F4AE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PRACTICAL 1 &amp; PRACTICE TEST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ADF28B-6CB3-4FF6-3A75-91FB39EC0AA1}"/>
              </a:ext>
            </a:extLst>
          </p:cNvPr>
          <p:cNvGrpSpPr/>
          <p:nvPr/>
        </p:nvGrpSpPr>
        <p:grpSpPr>
          <a:xfrm>
            <a:off x="3542274" y="969646"/>
            <a:ext cx="4467723" cy="5796853"/>
            <a:chOff x="456174" y="1056919"/>
            <a:chExt cx="4467723" cy="579685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739CE13-814E-C9EE-8CE9-6D86F2196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224" y="3429000"/>
              <a:ext cx="4448673" cy="34247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3FD2151-693B-743E-ADFD-7C1D97A79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6174" y="1056919"/>
              <a:ext cx="3943410" cy="102112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2161C98-2340-5CE2-92D7-B9B6A00B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5224" y="2098832"/>
              <a:ext cx="4448673" cy="13301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878624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CCD6A-0480-C222-8BEF-1B784DF20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70BDA88-CFD7-C765-F433-FDF384C449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70BDA88-CFD7-C765-F433-FDF384C449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4F4A9E30-DD40-32B7-1F76-6BCAD651711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E2849-7BF3-7F40-579A-4B3A358A8B6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1292B2A-44AB-A61E-EDF7-3BE621D0B87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25AEA5-41C2-74D4-CDCE-E5EFA8F25292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A5F27F-3F0D-D1BB-84C2-7B47368D181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29B2DB31-A0D1-5331-D69C-A7AC61725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130069A-6028-E175-B31D-D628B6A477A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A25D69B-3453-5388-9AFF-3E1500FD7ACF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Single line &amp; block comments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36CE6A-9692-BC46-C66B-ADDCD1F25535}"/>
              </a:ext>
            </a:extLst>
          </p:cNvPr>
          <p:cNvGrpSpPr/>
          <p:nvPr/>
        </p:nvGrpSpPr>
        <p:grpSpPr>
          <a:xfrm>
            <a:off x="322513" y="1061147"/>
            <a:ext cx="4467723" cy="5796853"/>
            <a:chOff x="456174" y="1056919"/>
            <a:chExt cx="4467723" cy="57968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C17B66-970E-EE5E-24C2-993B49C2C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224" y="3429000"/>
              <a:ext cx="4448673" cy="34247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8919A2B-9601-F15D-514B-C5495EC50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6174" y="1056919"/>
              <a:ext cx="3943410" cy="10211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0C74CCA-A831-23BE-A5D3-689BB4819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5224" y="2098832"/>
              <a:ext cx="4448673" cy="1330168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12412669-6439-1007-5524-5173EDE17225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M Roman 12" panose="00000500000000000000" pitchFamily="50" charset="0"/>
              </a:rPr>
              <a:t>Comments: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Surrounded by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/*</a:t>
            </a:r>
            <a:r>
              <a:rPr lang="en-US" dirty="0">
                <a:latin typeface="LM Roman 12" panose="00000500000000000000" pitchFamily="50" charset="0"/>
              </a:rPr>
              <a:t>…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*/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---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Intended to make code easier to understand.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Ignored by compiler </a:t>
            </a: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C975BC1F-45AD-E3EF-3E2C-C1F69B1B8EB8}"/>
              </a:ext>
            </a:extLst>
          </p:cNvPr>
          <p:cNvSpPr/>
          <p:nvPr/>
        </p:nvSpPr>
        <p:spPr>
          <a:xfrm>
            <a:off x="3433343" y="3635248"/>
            <a:ext cx="2009775" cy="619125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3855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DBBA6-0A15-5B90-A239-3462130B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2E21D46-C08D-A981-3491-EC81AFED82A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2E21D46-C08D-A981-3491-EC81AFED82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88E17AD-99E0-6312-A08F-36773FCA92C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E55754-BEE8-8457-55A6-75F27F94E549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53D4B4-B84D-A5DD-0FE6-48A98E132C5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B4BCB20-842F-EB99-0171-AA4B15742001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D211CED-4ABF-96B6-3CDE-3C8F17DFF247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348EDB20-D113-F31D-5CD6-2D64970D6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4B270D5-A08F-11A0-47F1-C20DF83F3888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7B33CC-CAF4-BC21-CAFF-CF85053D0446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RECAP: STANDARD C LIBRARY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&lt;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stdio.h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&gt;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9304E5-2838-A6DB-1D29-907998A3A39A}"/>
              </a:ext>
            </a:extLst>
          </p:cNvPr>
          <p:cNvGrpSpPr/>
          <p:nvPr/>
        </p:nvGrpSpPr>
        <p:grpSpPr>
          <a:xfrm>
            <a:off x="322513" y="1061147"/>
            <a:ext cx="4467723" cy="5796853"/>
            <a:chOff x="456174" y="1056919"/>
            <a:chExt cx="4467723" cy="57968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AE6BC8-42F7-5D7F-AAA0-64CD78838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224" y="3429000"/>
              <a:ext cx="4448673" cy="34247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18EFF7C-0B96-47BE-F719-ACD641741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6174" y="1056919"/>
              <a:ext cx="3943410" cy="10211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01CBFEE-2B47-B004-0EB6-1793D822B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5224" y="2098832"/>
              <a:ext cx="4448673" cy="1330168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F6F1ACD-8837-72AE-27C1-8CB6D26076DA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M Roman 12" panose="00000500000000000000" pitchFamily="50" charset="0"/>
              </a:rPr>
              <a:t>&lt;</a:t>
            </a:r>
            <a:r>
              <a:rPr lang="en-US" dirty="0" err="1">
                <a:latin typeface="LM Roman 12" panose="00000500000000000000" pitchFamily="50" charset="0"/>
              </a:rPr>
              <a:t>stdio.h</a:t>
            </a:r>
            <a:r>
              <a:rPr lang="en-US" dirty="0">
                <a:latin typeface="LM Roman 12" panose="00000500000000000000" pitchFamily="50" charset="0"/>
              </a:rPr>
              <a:t>&gt;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Includes functions like </a:t>
            </a:r>
            <a:r>
              <a:rPr lang="en-US" dirty="0" err="1">
                <a:solidFill>
                  <a:srgbClr val="FFFF00"/>
                </a:solidFill>
                <a:latin typeface="LM Roman 12" panose="00000500000000000000" pitchFamily="50" charset="0"/>
              </a:rPr>
              <a:t>printf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() </a:t>
            </a:r>
            <a:r>
              <a:rPr lang="en-US" dirty="0">
                <a:latin typeface="LM Roman 12" panose="00000500000000000000" pitchFamily="50" charset="0"/>
              </a:rPr>
              <a:t>--- output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And </a:t>
            </a:r>
            <a:r>
              <a:rPr lang="en-US" dirty="0" err="1">
                <a:solidFill>
                  <a:srgbClr val="FFFF00"/>
                </a:solidFill>
                <a:latin typeface="LM Roman 12" panose="00000500000000000000" pitchFamily="50" charset="0"/>
              </a:rPr>
              <a:t>scanf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() </a:t>
            </a:r>
            <a:r>
              <a:rPr lang="en-US" dirty="0">
                <a:latin typeface="LM Roman 12" panose="00000500000000000000" pitchFamily="50" charset="0"/>
              </a:rPr>
              <a:t>--- input (today’s lecture)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And file open </a:t>
            </a:r>
            <a:r>
              <a:rPr lang="en-US" dirty="0" err="1">
                <a:solidFill>
                  <a:srgbClr val="FFFF00"/>
                </a:solidFill>
                <a:latin typeface="LM Roman 12" panose="00000500000000000000" pitchFamily="50" charset="0"/>
              </a:rPr>
              <a:t>fopen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() </a:t>
            </a:r>
            <a:r>
              <a:rPr lang="en-US" dirty="0">
                <a:latin typeface="LM Roman 12" panose="00000500000000000000" pitchFamily="50" charset="0"/>
              </a:rPr>
              <a:t>or close a file </a:t>
            </a:r>
            <a:r>
              <a:rPr lang="en-US" dirty="0" err="1">
                <a:solidFill>
                  <a:srgbClr val="FFFF00"/>
                </a:solidFill>
                <a:latin typeface="LM Roman 12" panose="00000500000000000000" pitchFamily="50" charset="0"/>
              </a:rPr>
              <a:t>fclose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()</a:t>
            </a: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2532389A-6CFF-2E5F-9095-AF9A88E77196}"/>
              </a:ext>
            </a:extLst>
          </p:cNvPr>
          <p:cNvSpPr/>
          <p:nvPr/>
        </p:nvSpPr>
        <p:spPr>
          <a:xfrm>
            <a:off x="1747418" y="5406898"/>
            <a:ext cx="2009775" cy="619125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0827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ACA6F-BD52-940D-8732-632C06A8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7566D731-4929-3036-33EA-2216779081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7566D731-4929-3036-33EA-2216779081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29E46084-6D7E-7C58-3857-D78A7D5091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42BD2D-6625-7F13-6296-A32817572ECE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5C07E9-C76F-8540-927C-99690249171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56924CD-4856-856A-BE61-BE8FE040A44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4B7D4B-A3BC-5B7A-1A43-A00623AF404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63EDD815-6EE9-4ABA-7F47-77BEE5ED9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2670208-9FCF-D8D7-087C-73C22908C4D2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752F8B0-1BA7-1383-4FE2-43C6605A3140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RECAP: MAIN FUNCTION INITIATION &lt;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int main()&gt;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ED1ECA-E65C-25CA-CFAF-BB2628231ECC}"/>
              </a:ext>
            </a:extLst>
          </p:cNvPr>
          <p:cNvGrpSpPr/>
          <p:nvPr/>
        </p:nvGrpSpPr>
        <p:grpSpPr>
          <a:xfrm>
            <a:off x="322513" y="1061147"/>
            <a:ext cx="4467723" cy="5796853"/>
            <a:chOff x="456174" y="1056919"/>
            <a:chExt cx="4467723" cy="57968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37FCB5-5624-F8DB-2CDB-96346AE43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224" y="3429000"/>
              <a:ext cx="4448673" cy="34247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A4DFFB3-EAEC-154A-F5F1-EB4411AAC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6174" y="1056919"/>
              <a:ext cx="3943410" cy="10211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7EC8C8-60B9-C323-0ED5-D8929D5A3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5224" y="2098832"/>
              <a:ext cx="4448673" cy="1330168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DB9A810-06D5-05BA-FB63-5E543575D263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M Roman 12" panose="00000500000000000000" pitchFamily="50" charset="0"/>
              </a:rPr>
              <a:t>The </a:t>
            </a:r>
            <a:r>
              <a:rPr lang="en-US" dirty="0">
                <a:solidFill>
                  <a:srgbClr val="0070C0"/>
                </a:solidFill>
                <a:latin typeface="LM Roman 12" panose="00000500000000000000" pitchFamily="50" charset="0"/>
              </a:rPr>
              <a:t>main() </a:t>
            </a:r>
            <a:r>
              <a:rPr lang="en-US" dirty="0">
                <a:latin typeface="LM Roman 12" panose="00000500000000000000" pitchFamily="50" charset="0"/>
              </a:rPr>
              <a:t>function contains what your code is supposed to do</a:t>
            </a:r>
            <a:endParaRPr lang="en-US" dirty="0">
              <a:solidFill>
                <a:srgbClr val="0070C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91C1C046-F638-ECD4-AC87-F43F5DED2390}"/>
              </a:ext>
            </a:extLst>
          </p:cNvPr>
          <p:cNvSpPr/>
          <p:nvPr/>
        </p:nvSpPr>
        <p:spPr>
          <a:xfrm>
            <a:off x="1166393" y="5721405"/>
            <a:ext cx="2009775" cy="619125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9564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15EDE-DDE2-B725-48A9-05D791A32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1FD66650-B149-3AA2-3D7E-1D8A40C96E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1FD66650-B149-3AA2-3D7E-1D8A40C96E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E848D229-63A3-F4C4-2F44-957EB3166A1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FF7068-0077-6936-9DD5-F4BAED3235E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E838498-ABD1-47D2-66B9-3C418528C89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697C16F-20D8-1E15-7D93-E6254E119E4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5A6ED7-8456-F3BC-85FD-A4DA942A696B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0C9D3214-5CA0-E1B0-02E8-463AB5FB7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ABB7E5-B295-6AC2-04F3-AF0BCD0C4779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1D42765-214E-7B5E-A3CF-2A43388517EB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RECAP: PRINT TEXT using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prinf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() </a:t>
            </a: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library function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583A59-275E-1DDC-0CF2-BC093405014E}"/>
              </a:ext>
            </a:extLst>
          </p:cNvPr>
          <p:cNvGrpSpPr/>
          <p:nvPr/>
        </p:nvGrpSpPr>
        <p:grpSpPr>
          <a:xfrm>
            <a:off x="322513" y="1061147"/>
            <a:ext cx="4467723" cy="5796853"/>
            <a:chOff x="456174" y="1056919"/>
            <a:chExt cx="4467723" cy="57968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814FD2-17CC-0E92-6270-52D9368A5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224" y="3429000"/>
              <a:ext cx="4448673" cy="34247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114F3F-B317-62EC-D54D-66CC37929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6174" y="1056919"/>
              <a:ext cx="3943410" cy="10211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12A523-CF48-9B7C-BFC0-433777E8C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5224" y="2098832"/>
              <a:ext cx="4448673" cy="1330168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18FE8D15-7EB2-4391-AC64-B30682863349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LM Roman 12" panose="00000500000000000000" pitchFamily="50" charset="0"/>
              </a:rPr>
              <a:t>printf</a:t>
            </a:r>
            <a:r>
              <a:rPr lang="en-US" dirty="0">
                <a:solidFill>
                  <a:srgbClr val="0070C0"/>
                </a:solidFill>
                <a:latin typeface="LM Roman 12" panose="00000500000000000000" pitchFamily="50" charset="0"/>
              </a:rPr>
              <a:t>() 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prints formatted output (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“Hello World”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,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“Hello Pluto”, “Feeling like a planet yet?”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) to the standard output (console)</a:t>
            </a: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BE40F489-8753-F396-0CA3-90CF96C91EFA}"/>
              </a:ext>
            </a:extLst>
          </p:cNvPr>
          <p:cNvSpPr/>
          <p:nvPr/>
        </p:nvSpPr>
        <p:spPr>
          <a:xfrm>
            <a:off x="2294218" y="5886790"/>
            <a:ext cx="2009775" cy="619125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03988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3E3B2-A772-72BC-F1E3-F0F651CCA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2FCC8145-F800-99DB-D5F8-2D53286E88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2FCC8145-F800-99DB-D5F8-2D53286E88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E9A96F1B-3DEA-55EF-0805-C62856922B3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2EA3BF-2C16-8945-B8C3-20664B9B8ABD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8895E6-BE83-6DC7-03B4-6156720615D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8A931E-4FDC-7BEF-2A86-49900A3C4EBA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60B45B-A3AD-1CB7-1E72-4E6D3BC0F1A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427842DA-32CC-2DAB-FBF2-CC77BDF69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E162394-5D87-F517-68EA-34938BB4103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CA3BA15-E09A-E7C4-A9F9-5EA93C9ED3E0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RECAP: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return 0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E23733-01E9-A7D9-0D2F-0B3FB7E5AA71}"/>
              </a:ext>
            </a:extLst>
          </p:cNvPr>
          <p:cNvGrpSpPr/>
          <p:nvPr/>
        </p:nvGrpSpPr>
        <p:grpSpPr>
          <a:xfrm>
            <a:off x="322513" y="1061147"/>
            <a:ext cx="4467723" cy="5796853"/>
            <a:chOff x="456174" y="1056919"/>
            <a:chExt cx="4467723" cy="57968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BDAA6D7-FE99-685A-9701-6AE8372AC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224" y="3429000"/>
              <a:ext cx="4448673" cy="34247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8B4917C-3106-AD2B-495D-6F5871639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6174" y="1056919"/>
              <a:ext cx="3943410" cy="10211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4D504D4-90BB-4A55-7F75-AFBD05743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5224" y="2098832"/>
              <a:ext cx="4448673" cy="1330168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E4D5093-6AF6-106D-6B30-1F6C34C424E9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LM Roman 12" panose="00000500000000000000" pitchFamily="50" charset="0"/>
              </a:rPr>
              <a:t>return 0 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terminates the program. If your code has errors in it, then the exit outcome is 1.</a:t>
            </a: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D79DE14A-007F-7F9F-01E3-2C6C9E6EE53E}"/>
              </a:ext>
            </a:extLst>
          </p:cNvPr>
          <p:cNvSpPr/>
          <p:nvPr/>
        </p:nvSpPr>
        <p:spPr>
          <a:xfrm>
            <a:off x="1352484" y="6238875"/>
            <a:ext cx="2009775" cy="619125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3142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72F3-3303-F918-6B09-11890AEE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B39B2333-106C-E873-8194-199C96BFD58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B39B2333-106C-E873-8194-199C96BFD5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CBDE2F6-6E0B-37EF-CF2F-18FD1014586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5AF37-B242-1013-66AA-014222F7FDE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AF9453-2EF3-45BE-7966-511B599B4C3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DEA17F6-732A-E62F-75FF-98D9A0AEE210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24BFB9-1610-02D1-BCF1-6AFAEBE949A2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D2823FA2-C6AA-1E91-3E45-740A82B66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78CE8C0-8352-9170-6B05-99DDA92F10B1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5B640CF-6FB4-F49B-0F3F-F91F28AB268F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ESCAPE SEQUENCE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\n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8555EE-9AA0-BF19-C530-44822C6A10B6}"/>
              </a:ext>
            </a:extLst>
          </p:cNvPr>
          <p:cNvGrpSpPr/>
          <p:nvPr/>
        </p:nvGrpSpPr>
        <p:grpSpPr>
          <a:xfrm>
            <a:off x="322513" y="1061147"/>
            <a:ext cx="4467723" cy="5796853"/>
            <a:chOff x="456174" y="1056919"/>
            <a:chExt cx="4467723" cy="57968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D0D381-D25C-82B5-2A19-6FDAB9BCB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224" y="3429000"/>
              <a:ext cx="4448673" cy="34247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F04AB2B-B139-DFDE-2571-12A5C583F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6174" y="1056919"/>
              <a:ext cx="3943410" cy="102112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A17C8C8-1DB3-064A-70B7-9D6FB047B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5224" y="2098832"/>
              <a:ext cx="4448673" cy="1330168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AC18DB3-B71A-9D75-9CB3-C12798910044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Escape sequences tell the compiler to behave in a certain way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LM Roman 12" panose="00000500000000000000" pitchFamily="50" charset="0"/>
              </a:rPr>
              <a:t>\n 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– newline escape sequence</a:t>
            </a:r>
          </a:p>
          <a:p>
            <a:pPr algn="ctr"/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A4506161-E8F6-63C9-CA01-7A06BE448BBD}"/>
              </a:ext>
            </a:extLst>
          </p:cNvPr>
          <p:cNvSpPr/>
          <p:nvPr/>
        </p:nvSpPr>
        <p:spPr>
          <a:xfrm>
            <a:off x="3038243" y="6062832"/>
            <a:ext cx="2009775" cy="619125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99ACBBA7-9F73-FEB7-BEF5-91E47B2BE9A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88435" y="2806539"/>
              <a:ext cx="3972089" cy="2234301"/>
            </p:xfrm>
            <a:graphic>
              <a:graphicData uri="http://schemas.microsoft.com/office/powerpoint/2016/slidezoom">
                <pslz:sldZm>
                  <pslz:sldZmObj sldId="357" cId="1622180726">
                    <pslz:zmPr id="{B4555F6A-1183-49F1-8FF5-EDB20A93703D}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972089" cy="2234301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extLst>
                  <a:ext uri="{FF2B5EF4-FFF2-40B4-BE49-F238E27FC236}">
                    <a16:creationId xmlns:a16="http://schemas.microsoft.com/office/drawing/2014/main" id="{99ACBBA7-9F73-FEB7-BEF5-91E47B2BE9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88435" y="2806539"/>
                <a:ext cx="3972089" cy="223430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0606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2B19B2-B6E0-6A16-402A-EBC981688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90575"/>
            <a:ext cx="10718471" cy="522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80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6C53F-1DA1-6984-11E5-633F34435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FA2E8A61-45DB-E5CC-A1E0-D4295B8643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FA2E8A61-45DB-E5CC-A1E0-D4295B8643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4149A064-6271-CF7D-FEA2-6381F22A671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436235-5948-83DF-17AD-BA2E40C5B53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F25D01-47A8-4611-683A-EA595F0B36D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5381F9-3945-0BF4-4EB7-178E8A2D4CB7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693897-29D1-131D-64BF-108F996D24D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96D6FEB9-341C-15CF-EBC6-00CA10B94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D804596-B28A-38AE-9020-E0E8AAE7D43C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DD52A1A-54D1-F824-A140-08FC3A4FE5D0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ESCAPE CHARACTERS DEMONSTRATION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940CC3-FFA1-EC07-923A-B62925977B5E}"/>
              </a:ext>
            </a:extLst>
          </p:cNvPr>
          <p:cNvGrpSpPr/>
          <p:nvPr/>
        </p:nvGrpSpPr>
        <p:grpSpPr>
          <a:xfrm>
            <a:off x="1216047" y="1814824"/>
            <a:ext cx="9759906" cy="3480047"/>
            <a:chOff x="1216047" y="1814824"/>
            <a:chExt cx="9759906" cy="34800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EC96F17-D272-6137-A08D-CB882007A9D7}"/>
                </a:ext>
              </a:extLst>
            </p:cNvPr>
            <p:cNvSpPr/>
            <p:nvPr/>
          </p:nvSpPr>
          <p:spPr>
            <a:xfrm>
              <a:off x="1216047" y="1814824"/>
              <a:ext cx="9759906" cy="348004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 1:</a:t>
              </a:r>
            </a:p>
            <a:p>
              <a:pPr algn="ctr"/>
              <a:r>
                <a:rPr lang="en-ZA" sz="2400" dirty="0">
                  <a:solidFill>
                    <a:schemeClr val="bg1"/>
                  </a:solidFill>
                  <a:latin typeface="LM Roman 12" panose="00000500000000000000" pitchFamily="50" charset="0"/>
                </a:rPr>
                <a:t>Print the following text on the console:</a:t>
              </a: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FEB5741-2940-DB0A-29A1-AC41E9B0DF94}"/>
                </a:ext>
              </a:extLst>
            </p:cNvPr>
            <p:cNvSpPr/>
            <p:nvPr/>
          </p:nvSpPr>
          <p:spPr>
            <a:xfrm>
              <a:off x="2352675" y="3990975"/>
              <a:ext cx="7696200" cy="1038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ZA" dirty="0">
                  <a:solidFill>
                    <a:srgbClr val="0070C0"/>
                  </a:solidFill>
                </a:rPr>
                <a:t>Today’s lecture is about: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	1. Printing text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	2. Adding two integers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52832BF-64BE-23D3-D07A-B57A79CFA6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047" y="5578021"/>
            <a:ext cx="7331075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2552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B5AF4-3497-7970-CAC2-9EBA1CC9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F90FDCD6-A13E-D2E6-91F4-B43A1F5AE0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F90FDCD6-A13E-D2E6-91F4-B43A1F5AE0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DAD2AD69-D3EC-A7B0-D07E-0CCF291F09B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0E2FF-9EE4-F14E-F14F-6ABC88F5F8C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76CD7A-0156-2F1A-8DE1-2F71621B65E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C7FB1A5-F632-CFFC-F7CF-69C03A8295EA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76355B-FB04-08E9-F33F-DA65F94B1204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95C65687-5B8C-5F7D-350F-BB22CFA3B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9E75AC-09B2-8D35-E57D-9A86B61C52BD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E9347E2-323C-35FD-03C5-51E2581CF2C8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ADDING TWO INTEGERS PART 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583EE2-12EB-BBDD-B2B9-D649F4F2C2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0222" y="1484328"/>
            <a:ext cx="6294496" cy="352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8616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43CB-7527-EA79-EE23-2B48970D3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BB05ED80-C750-77C5-F61D-6BAE059AF2C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BB05ED80-C750-77C5-F61D-6BAE059AF2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1B06814-5BF4-0983-C823-A3EFDC53A2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6F61C8-E0EB-25DD-BE00-16CD09FA671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19DF56-ABCB-8387-5D88-D3910F685C1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D6A8A6-A0E5-2CA2-AC2C-D683306D1893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633A88-5A42-AD36-304B-9DB55870A7BF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20E0AA53-0A3E-0D79-8B3A-0D018CB78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FD01E64-40D3-1A1E-7826-27899E821392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D3F4ADA-5ACF-435F-1B1A-FA5EB485CF75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DECLARATIONS OF VARIABLES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766F40-7A8F-479F-3FA8-6F9222AEBB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47" y="1645120"/>
            <a:ext cx="5892446" cy="33006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0C0168-63DA-9C8C-250E-24A4DFB2178E}"/>
              </a:ext>
            </a:extLst>
          </p:cNvPr>
          <p:cNvSpPr/>
          <p:nvPr/>
        </p:nvSpPr>
        <p:spPr>
          <a:xfrm>
            <a:off x="7644091" y="1645120"/>
            <a:ext cx="4195483" cy="3403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Variables are locations in memory where a value can be stored.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int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here tells the compiler the variable (with the name “integer1” is an integer i.e. …,-2.-1,0,1,2,…).</a:t>
            </a:r>
          </a:p>
          <a:p>
            <a:pPr algn="ctr"/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Variables much be declared at the beginning of the code block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(don’t use c keywords!!!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rgbClr val="0070C0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936C72C3-4909-19D7-C66E-6BE13D27F24C}"/>
              </a:ext>
            </a:extLst>
          </p:cNvPr>
          <p:cNvSpPr/>
          <p:nvPr/>
        </p:nvSpPr>
        <p:spPr>
          <a:xfrm>
            <a:off x="1498449" y="2219324"/>
            <a:ext cx="3730776" cy="809625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AFC28F4F-F3FC-E3FD-8E87-3D04946CD2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38400" y="3702521"/>
              <a:ext cx="3691465" cy="2076449"/>
            </p:xfrm>
            <a:graphic>
              <a:graphicData uri="http://schemas.microsoft.com/office/powerpoint/2016/slidezoom">
                <pslz:sldZm>
                  <pslz:sldZmObj sldId="366" cId="2798994667">
                    <pslz:zmPr id="{E7623C89-FE97-4493-887F-884ED0C33F96}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91465" cy="207644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extLst>
                  <a:ext uri="{FF2B5EF4-FFF2-40B4-BE49-F238E27FC236}">
                    <a16:creationId xmlns:a16="http://schemas.microsoft.com/office/drawing/2014/main" id="{AFC28F4F-F3FC-E3FD-8E87-3D04946CD2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38400" y="3702521"/>
                <a:ext cx="3691465" cy="20764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0111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2EB6B-207B-02E0-CD55-24DE0A87D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0" y="876300"/>
            <a:ext cx="1115641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94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AB0C3-1F4C-A928-51FD-E0B489E14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6007A71F-12EE-7CA0-F0C0-60DF6F73AA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6007A71F-12EE-7CA0-F0C0-60DF6F73AA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5CBEC9D-D762-DCF8-BE59-787D242DD65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C0F7D4-B9AD-75A9-E442-2F53D38984CF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6D9BD0D-7415-6CA7-D3DC-DF30C561D74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8A1A7D6-E4DD-7D73-0DB4-D9BA7EA05DCB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1437BD9-D3A3-BEEB-6C14-463429DC6E38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03DFB04B-8224-90A9-B3C1-FF3BAF270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2E6E018-C1EF-96B3-4C0E-AE2CF0CE5166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A7E2221-528D-FD96-5CDE-405987E17CD5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ASSIGNMENT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189FF3-F5E9-E5FA-5014-0505DCCE0D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47" y="1645120"/>
            <a:ext cx="5892446" cy="33006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DC7AF26-3F18-5C01-12B5-8C8F8B7E8292}"/>
              </a:ext>
            </a:extLst>
          </p:cNvPr>
          <p:cNvSpPr/>
          <p:nvPr/>
        </p:nvSpPr>
        <p:spPr>
          <a:xfrm>
            <a:off x="7644091" y="1645120"/>
            <a:ext cx="4195483" cy="3403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Equals sign “=” tells the compiler to assign the values in that memory location </a:t>
            </a:r>
            <a:endParaRPr lang="en-ZA" dirty="0">
              <a:solidFill>
                <a:srgbClr val="0070C0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E3D98027-5128-512E-EB39-230E130D2ADB}"/>
              </a:ext>
            </a:extLst>
          </p:cNvPr>
          <p:cNvSpPr/>
          <p:nvPr/>
        </p:nvSpPr>
        <p:spPr>
          <a:xfrm>
            <a:off x="1555599" y="2890615"/>
            <a:ext cx="3730776" cy="809625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5136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0457F-1F4B-DD62-4BAE-F9184C8E9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1E5AD41-B2FE-5810-E6D4-8EEA811A7A6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1E5AD41-B2FE-5810-E6D4-8EEA811A7A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FDD6F94B-2500-E5C6-878C-968587C09D9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29D21B-7ECD-DB2D-A7F2-2DF14EEEAA0C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29FDC2-6E86-05CE-733F-44812AE1BA7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0B8856-2D78-0CC4-863C-ED5C5908318E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AD7A669-15D1-241E-CE19-DF30C2609B03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BB1073F8-2423-BC87-DF94-0EB82BAA4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AD1000-D1F7-1A40-65F7-F8ABC17F5977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77860DF-1851-414E-2878-8B37DB93DAFB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PRINT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3DEAA4-BCA5-667D-11C1-715F402E17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47" y="1645120"/>
            <a:ext cx="5892446" cy="33006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1B8D4C-8395-517F-CD90-CA40A9F2DB72}"/>
              </a:ext>
            </a:extLst>
          </p:cNvPr>
          <p:cNvSpPr/>
          <p:nvPr/>
        </p:nvSpPr>
        <p:spPr>
          <a:xfrm>
            <a:off x="7644091" y="1645120"/>
            <a:ext cx="4195483" cy="3403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Print statements tell the compiler to print the text in quotes and the assigned values in memory.</a:t>
            </a:r>
          </a:p>
          <a:p>
            <a:pPr algn="ctr"/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Important to note the special character %d. </a:t>
            </a:r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%d tells the compiler that the printed integer value is a decimal integer.</a:t>
            </a:r>
            <a:endParaRPr lang="en-ZA" dirty="0">
              <a:solidFill>
                <a:srgbClr val="0070C0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B978E989-05AD-1136-A8B6-D876EABD9884}"/>
              </a:ext>
            </a:extLst>
          </p:cNvPr>
          <p:cNvSpPr/>
          <p:nvPr/>
        </p:nvSpPr>
        <p:spPr>
          <a:xfrm>
            <a:off x="3803499" y="3429000"/>
            <a:ext cx="3730776" cy="809625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7928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147A-5E8C-19BE-4763-9DB9AB88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FCEC6D91-3435-3954-D4B8-DA7B7B0DAD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FCEC6D91-3435-3954-D4B8-DA7B7B0DAD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2ACC0B95-D109-D66E-065C-1696409EA0B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A623DE-1880-F2E6-61D0-0A527B47D2A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9DFBFF9-E64C-518A-B54C-D29011766DB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E93D53-89EE-A4B8-24B5-F030D99E8ED0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579A79-AE42-ECED-56F2-15BCDC93F0F9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8000D714-4964-0A8E-111A-6C804B07E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4F99ECA-E3E3-4347-77B3-482088B7CCC8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6D59B58-EA54-F230-9394-5B5E8AA2391F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ASSIGNMENT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AA1C7F-917E-99F3-846B-3897FDD03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47" y="1645120"/>
            <a:ext cx="5892446" cy="33006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D5D92F-9AA7-605F-DBFB-EF1CB89EAAAF}"/>
              </a:ext>
            </a:extLst>
          </p:cNvPr>
          <p:cNvSpPr/>
          <p:nvPr/>
        </p:nvSpPr>
        <p:spPr>
          <a:xfrm>
            <a:off x="7644091" y="1645120"/>
            <a:ext cx="4195483" cy="3403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Assign the value stored in integer1 plus the value stored in integer2 to the variable location “sum” which is declared as an integer too.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Note: variable receiving value on the left!! (incorrect syntax: </a:t>
            </a: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integer1 + integer2 = sum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489F58E6-C10C-2156-9119-7417EAC0475C}"/>
              </a:ext>
            </a:extLst>
          </p:cNvPr>
          <p:cNvSpPr/>
          <p:nvPr/>
        </p:nvSpPr>
        <p:spPr>
          <a:xfrm>
            <a:off x="2488042" y="3743325"/>
            <a:ext cx="3730776" cy="809625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B7BC3-EEA3-013C-2DBA-58818F4D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05054571-1E98-634A-A077-B1611A64AF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05054571-1E98-634A-A077-B1611A64AF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44F2D2C9-B746-DF21-4F29-B00D5E31674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AF91B-4882-9FDF-3F59-3753B79867B9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3E4591-9CC7-0AC0-D3B0-F57450944F1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898EA80-361B-B8D3-BF40-2A50BDCF0F1E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03C8EF-0A2F-73A4-D975-B7EBBD5B1404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B6923628-2CD2-ABCD-274B-40B7F264C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B7C0619-E137-C7BC-E80E-6DF5B132978D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ED0396C-FCA1-77E5-45A8-30C168C3D249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PRINT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050BE8-CC03-370F-B95A-05F244BFB0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47" y="1645120"/>
            <a:ext cx="5892446" cy="33006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C70F8A-1927-DDF8-20C4-C8BFFEEEB39C}"/>
              </a:ext>
            </a:extLst>
          </p:cNvPr>
          <p:cNvSpPr/>
          <p:nvPr/>
        </p:nvSpPr>
        <p:spPr>
          <a:xfrm>
            <a:off x="7644091" y="1645120"/>
            <a:ext cx="4195483" cy="3403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Print the text and the value stored in variable “sum”</a:t>
            </a:r>
            <a:endParaRPr lang="en-ZA" dirty="0">
              <a:solidFill>
                <a:srgbClr val="0070C0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C2B72E6D-2171-D094-19F9-E91C11959B2B}"/>
              </a:ext>
            </a:extLst>
          </p:cNvPr>
          <p:cNvSpPr/>
          <p:nvPr/>
        </p:nvSpPr>
        <p:spPr>
          <a:xfrm>
            <a:off x="2773792" y="3933825"/>
            <a:ext cx="3730776" cy="809625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1593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53DE9-496C-9F42-0C1D-CC673A410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0AEAF0D-B9B2-70E2-A587-ED6945813D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0AEAF0D-B9B2-70E2-A587-ED6945813D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AB9F5866-C637-8FBD-4C5D-30FCAF44C3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03FEDD-0E23-E329-FA25-718B7FB7D6A7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37B148-9495-F2C5-7BBA-B2F4C787772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79CB939-5F84-BC45-9ECE-DF08A07A76A6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474174-C33A-3113-3040-F1A3B0BBE74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D579FBBF-ECDE-BA39-3DE9-D09FC5567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C7DD432-3494-4CE1-C3E0-8A8001BAAAD3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6C5B2B7-15DC-453D-2FED-9853F84C1DF8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termination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8C1140-F198-FF2F-B554-1342460929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47" y="1645120"/>
            <a:ext cx="5892446" cy="33006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7A3F62-A30A-3BAB-F5F3-40FA1C276224}"/>
              </a:ext>
            </a:extLst>
          </p:cNvPr>
          <p:cNvSpPr/>
          <p:nvPr/>
        </p:nvSpPr>
        <p:spPr>
          <a:xfrm>
            <a:off x="7644091" y="1645120"/>
            <a:ext cx="4195483" cy="3403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Exit program</a:t>
            </a:r>
            <a:endParaRPr lang="en-ZA" dirty="0">
              <a:solidFill>
                <a:srgbClr val="0070C0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8F471D54-4BD8-1363-D2A9-ACA1988AE4E7}"/>
              </a:ext>
            </a:extLst>
          </p:cNvPr>
          <p:cNvSpPr/>
          <p:nvPr/>
        </p:nvSpPr>
        <p:spPr>
          <a:xfrm>
            <a:off x="1169282" y="4314825"/>
            <a:ext cx="3730776" cy="809625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4432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B551-3FD0-C9F3-3EF3-1E3B16C8D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9A944AB1-8383-B3FE-B138-FCAF3FEC33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9A944AB1-8383-B3FE-B138-FCAF3FEC33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DFDB2386-FBF0-312D-DD05-874ECABAB70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2DED88-AD52-A323-E159-C36067C81109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9EC29D-CF41-9E21-B47C-6107EC44070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F20335B-32F7-E88D-E417-817FA64BE6A8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B505DFD-C36C-54C2-0E1A-004D41070C75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38C23458-7104-35E3-82AC-61A9E2797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7B9609-942F-4248-8BAD-EB1AFDD2D18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6A864AD-0F49-CD1A-50DB-ED968C3D53A6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termination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48C300-E539-10B6-4A2D-C681D7F06D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47" y="1645120"/>
            <a:ext cx="5892446" cy="33006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BF5941-38DC-6797-D6AE-7D1C7BAF450E}"/>
              </a:ext>
            </a:extLst>
          </p:cNvPr>
          <p:cNvSpPr/>
          <p:nvPr/>
        </p:nvSpPr>
        <p:spPr>
          <a:xfrm>
            <a:off x="7644091" y="1645120"/>
            <a:ext cx="4195483" cy="34031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The sum of 45 + 72 is 117</a:t>
            </a:r>
            <a:endParaRPr lang="en-ZA" dirty="0">
              <a:solidFill>
                <a:srgbClr val="0070C0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61774550-CE5F-D44E-AD32-4356308DEF32}"/>
              </a:ext>
            </a:extLst>
          </p:cNvPr>
          <p:cNvSpPr/>
          <p:nvPr/>
        </p:nvSpPr>
        <p:spPr>
          <a:xfrm>
            <a:off x="5778703" y="5345215"/>
            <a:ext cx="3730776" cy="809625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769A8A-9EE4-75D0-871D-42FC7F9BD4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47" y="5268750"/>
            <a:ext cx="5646909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2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3A312-0EFE-F8F4-B318-878465B24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B12215F3-E33F-F501-E894-4BA3999D5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B12215F3-E33F-F501-E894-4BA3999D5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287BD050-82BE-C8D9-9852-69912999EF3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D2E152-3812-D609-1DA3-39100654BDF3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10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C3E124-8922-6062-C883-B7D37A04D2B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D61119-6D11-E644-927E-6E7F90C5ECCA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1EB804D-4691-A8BA-D6C6-145D1C7C93EF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DD59003C-B87F-D586-9DC2-EF9CC4624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76DCB25-8259-3400-3A4E-1AC10BE98CA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41B3194-75CB-1929-B687-407674B7AED0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MEMORY CONCEPTS: VARIABLES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92014-CFD6-74B9-DC31-4AAF58950D1E}"/>
              </a:ext>
            </a:extLst>
          </p:cNvPr>
          <p:cNvSpPr/>
          <p:nvPr/>
        </p:nvSpPr>
        <p:spPr>
          <a:xfrm>
            <a:off x="577126" y="1486645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125E6F-855D-02C2-9A75-FB9A70483847}"/>
              </a:ext>
            </a:extLst>
          </p:cNvPr>
          <p:cNvSpPr/>
          <p:nvPr/>
        </p:nvSpPr>
        <p:spPr>
          <a:xfrm>
            <a:off x="817581" y="1430307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AA635-B7D6-D5CF-726E-49C1FB229CEA}"/>
              </a:ext>
            </a:extLst>
          </p:cNvPr>
          <p:cNvSpPr txBox="1"/>
          <p:nvPr/>
        </p:nvSpPr>
        <p:spPr>
          <a:xfrm>
            <a:off x="817580" y="1490134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Variables are used as temporary storage within the computer memory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8E80-5E83-DF2A-153D-24E65A0E4F30}"/>
              </a:ext>
            </a:extLst>
          </p:cNvPr>
          <p:cNvSpPr/>
          <p:nvPr/>
        </p:nvSpPr>
        <p:spPr>
          <a:xfrm>
            <a:off x="577126" y="2272703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4E45F4-98C5-81AE-43CA-8F963E4C1A1D}"/>
              </a:ext>
            </a:extLst>
          </p:cNvPr>
          <p:cNvSpPr/>
          <p:nvPr/>
        </p:nvSpPr>
        <p:spPr>
          <a:xfrm>
            <a:off x="817581" y="2216365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DC227-850B-BD03-E9AB-A6747D7C7AFE}"/>
              </a:ext>
            </a:extLst>
          </p:cNvPr>
          <p:cNvSpPr txBox="1"/>
          <p:nvPr/>
        </p:nvSpPr>
        <p:spPr>
          <a:xfrm>
            <a:off x="817580" y="2276192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Every variable has a name, a type, a size, and a value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6B907B-9EF7-46AF-4052-8B6E768187A5}"/>
              </a:ext>
            </a:extLst>
          </p:cNvPr>
          <p:cNvSpPr/>
          <p:nvPr/>
        </p:nvSpPr>
        <p:spPr>
          <a:xfrm>
            <a:off x="577126" y="3198243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21848D-0036-9559-BEAD-22038666BAB0}"/>
              </a:ext>
            </a:extLst>
          </p:cNvPr>
          <p:cNvSpPr/>
          <p:nvPr/>
        </p:nvSpPr>
        <p:spPr>
          <a:xfrm>
            <a:off x="817581" y="3141905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BBE8E-054B-0698-0702-C972258355D8}"/>
              </a:ext>
            </a:extLst>
          </p:cNvPr>
          <p:cNvSpPr txBox="1"/>
          <p:nvPr/>
        </p:nvSpPr>
        <p:spPr>
          <a:xfrm>
            <a:off x="817580" y="3201732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Variables correspond to locations in the computer’s memory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13FB02-0543-B18B-E6D5-161FAE8B2C09}"/>
              </a:ext>
            </a:extLst>
          </p:cNvPr>
          <p:cNvSpPr/>
          <p:nvPr/>
        </p:nvSpPr>
        <p:spPr>
          <a:xfrm>
            <a:off x="577126" y="4145970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AB3D19-577F-96C9-8321-70A9801C3B9F}"/>
              </a:ext>
            </a:extLst>
          </p:cNvPr>
          <p:cNvSpPr/>
          <p:nvPr/>
        </p:nvSpPr>
        <p:spPr>
          <a:xfrm>
            <a:off x="817581" y="4089632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C648AD-BB49-B022-C5BA-E0916BBBA134}"/>
              </a:ext>
            </a:extLst>
          </p:cNvPr>
          <p:cNvSpPr txBox="1"/>
          <p:nvPr/>
        </p:nvSpPr>
        <p:spPr>
          <a:xfrm>
            <a:off x="817580" y="4149459"/>
            <a:ext cx="10556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Whenever a new value is placed into a variable, it replaces the previous value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D44F13-61D0-B411-34A0-02CF690EA005}"/>
              </a:ext>
            </a:extLst>
          </p:cNvPr>
          <p:cNvSpPr/>
          <p:nvPr/>
        </p:nvSpPr>
        <p:spPr>
          <a:xfrm>
            <a:off x="577126" y="4964437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34643B-8954-C726-8FDD-4CD896275AFF}"/>
              </a:ext>
            </a:extLst>
          </p:cNvPr>
          <p:cNvSpPr/>
          <p:nvPr/>
        </p:nvSpPr>
        <p:spPr>
          <a:xfrm>
            <a:off x="817581" y="4908099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BBC9B6-2D3B-9699-1610-752BDD92C47C}"/>
              </a:ext>
            </a:extLst>
          </p:cNvPr>
          <p:cNvSpPr txBox="1"/>
          <p:nvPr/>
        </p:nvSpPr>
        <p:spPr>
          <a:xfrm>
            <a:off x="817580" y="4967926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Reading variable from memory doesn’t change them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A6C53A-7516-85FC-FC3C-6ABC528DC6F7}"/>
              </a:ext>
            </a:extLst>
          </p:cNvPr>
          <p:cNvSpPr/>
          <p:nvPr/>
        </p:nvSpPr>
        <p:spPr>
          <a:xfrm>
            <a:off x="635316" y="5869376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6C7530-6327-8D6D-436A-4198A24F9296}"/>
              </a:ext>
            </a:extLst>
          </p:cNvPr>
          <p:cNvSpPr/>
          <p:nvPr/>
        </p:nvSpPr>
        <p:spPr>
          <a:xfrm>
            <a:off x="875771" y="5813038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E5A52C-896F-6297-02FD-4A8EC30A9656}"/>
              </a:ext>
            </a:extLst>
          </p:cNvPr>
          <p:cNvSpPr txBox="1"/>
          <p:nvPr/>
        </p:nvSpPr>
        <p:spPr>
          <a:xfrm>
            <a:off x="875770" y="5872865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Important: All variables must be declared before they are used.</a:t>
            </a:r>
          </a:p>
        </p:txBody>
      </p:sp>
    </p:spTree>
    <p:extLst>
      <p:ext uri="{BB962C8B-B14F-4D97-AF65-F5344CB8AC3E}">
        <p14:creationId xmlns:p14="http://schemas.microsoft.com/office/powerpoint/2010/main" val="25016863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9" grpId="0" animBg="1"/>
      <p:bldP spid="12" grpId="0"/>
      <p:bldP spid="13" grpId="0" animBg="1"/>
      <p:bldP spid="15" grpId="0"/>
      <p:bldP spid="17" grpId="0" animBg="1"/>
      <p:bldP spid="20" grpId="0"/>
      <p:bldP spid="21" grpId="0" animBg="1"/>
      <p:bldP spid="23" grpId="0"/>
      <p:bldP spid="25" grpId="0" animBg="1"/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7FF9-D363-9E22-C363-17067C027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38A8293E-71DC-FF87-C69A-9566AEE3E41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38A8293E-71DC-FF87-C69A-9566AEE3E4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08EE4B09-B880-98A2-9C3D-557B9F31D88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E4A8E4-7616-FFC8-B408-54800CC0AADD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11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10548C8-5F13-0042-928C-77268A192E2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6C8F93-BA0D-295E-6E27-FAEE0D40950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3A9FB9-D8EE-73BB-179E-DA2B0F8AF2AF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F465F852-8826-65AB-41BE-3F2A85D3F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7F101C9-1FFC-7163-03A8-B81528B5C4BB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7DCEE99-BF69-3E25-AB37-1C8A2074E8BF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MEMORY CONCEPTS: VISUAL REPRESENTATION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358BC1-545F-18DC-0193-656A386016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7608" y="1045810"/>
            <a:ext cx="6392852" cy="38786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69B078-D67D-FB8A-BF4F-678E142F3E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3958" y="5002445"/>
            <a:ext cx="6356502" cy="166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5522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89162-F2FC-17F8-7842-605071E8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67FA6C96-23E0-458F-DD8B-3EF8ACD870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67FA6C96-23E0-458F-DD8B-3EF8ACD870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DA9E4897-6756-B7E1-6A0B-B838068F1AF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501194-2973-5161-4132-2E18EC061013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12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BADABC7-1073-1073-68F4-9014E355E65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B17E91-A2D6-0546-83A8-5310F631A4D1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F171B27-898B-4F80-B7F3-69A9D79C9499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3D6C2796-9D7A-AF53-75C0-5B937A754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017FC2A-D0F6-5226-2002-DE1725595E67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B4C4BAC-D7EE-7878-7358-F65A46F65A28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ARITHMETIC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64530-BC16-B46E-F1D8-A8090DD744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579499"/>
            <a:ext cx="6992688" cy="21306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DD92FD-049B-CD78-09C4-EE0CA0695C10}"/>
              </a:ext>
            </a:extLst>
          </p:cNvPr>
          <p:cNvSpPr/>
          <p:nvPr/>
        </p:nvSpPr>
        <p:spPr>
          <a:xfrm>
            <a:off x="7239000" y="1474436"/>
            <a:ext cx="4878138" cy="47634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Use * for multiplication and / for division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Integer division truncates remainder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7/5 evaluates to 1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Modulus operator ( % ) returns the remainder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7%5 evaluates to 2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Some arithmetic operators act before others (i.e., multiplication before addition)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Use parenthesis when needed</a:t>
            </a:r>
          </a:p>
          <a:p>
            <a:pPr algn="ctr"/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Example: Find the average of three variables a, b and c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Do not use: a + b + c / 3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Use: (a + b + c ) / 3</a:t>
            </a:r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642F5E-29CA-1A6C-FDF3-18ECFEC597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14" y="3853634"/>
            <a:ext cx="6913774" cy="300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97727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74C0-E0BF-44B9-00D7-89B3AEB2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02A9326-2551-FA06-D84A-5DADF75F67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02A9326-2551-FA06-D84A-5DADF75F67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CDC61BE6-A730-2744-C3D2-E7DF9644475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855DCC-776E-C9A9-3F81-53F199DCA4E2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13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5D99111-8B9A-E16E-EDFB-B7AF084C5A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5A93DB-F278-69A8-AFA2-9C75DB96E643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E23FCD-4AC8-D54C-81CC-0BE50B9CB52E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F28355E2-5460-9F30-2D6B-C032F2B99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43B38F-8E2F-5A20-FDB1-901B9ED76F6D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00C84E0-CCA6-1CC3-9A88-551D68DCC111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USER INPUT WITH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scanf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EC9E0-4085-F3AB-88D5-478847E766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645120"/>
            <a:ext cx="6905625" cy="29807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0561C2-F54E-0F32-8C43-D75D0E2E24DC}"/>
              </a:ext>
            </a:extLst>
          </p:cNvPr>
          <p:cNvSpPr/>
          <p:nvPr/>
        </p:nvSpPr>
        <p:spPr>
          <a:xfrm>
            <a:off x="7115175" y="1474436"/>
            <a:ext cx="5001963" cy="47634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Obtains a value from the user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--</a:t>
            </a:r>
            <a:r>
              <a:rPr lang="en-US" dirty="0" err="1">
                <a:solidFill>
                  <a:srgbClr val="FFFF00"/>
                </a:solidFill>
                <a:latin typeface="LM Roman 12" panose="00000500000000000000" pitchFamily="50" charset="0"/>
              </a:rPr>
              <a:t>scanf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uses standard input (usually keyboard)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This </a:t>
            </a:r>
            <a:r>
              <a:rPr lang="en-US" dirty="0" err="1">
                <a:solidFill>
                  <a:schemeClr val="bg1"/>
                </a:solidFill>
                <a:latin typeface="LM Roman 12" panose="00000500000000000000" pitchFamily="50" charset="0"/>
              </a:rPr>
              <a:t>scanf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 statement has two arguments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--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%d 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- indicates data should be a decimal integer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&amp;integer1 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- location in memory to store variable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--- &amp; 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is confusing in beginning — for now, just remember to include it with the variable name in </a:t>
            </a:r>
            <a:r>
              <a:rPr lang="en-US" dirty="0" err="1">
                <a:solidFill>
                  <a:schemeClr val="bg1"/>
                </a:solidFill>
                <a:latin typeface="LM Roman 12" panose="00000500000000000000" pitchFamily="50" charset="0"/>
              </a:rPr>
              <a:t>scanf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 statements</a:t>
            </a:r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414099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9149-47A2-AD55-1E80-A5581981D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68FF3E3E-7887-354A-5BE8-86258012D4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68FF3E3E-7887-354A-5BE8-86258012D4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5DEC144F-B216-647D-DFF2-67AA50F3B06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1D8FC7-CF9F-3F2C-1358-F685CD3EE842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23AA80E-B411-1524-C169-7B7B9A62AE3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7C4C5E-E65D-33E0-7754-8FCFDD424C2A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FBC0F4D-AE7E-53D9-A4F2-277A143A194B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5B0923E8-1370-166A-D77E-6BB328A43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B9928E-7310-2D01-C7FE-88ED94C8A1A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22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EAB53A8-D6AA-8FE7-E0CD-AD1549C577ED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ADDING INTEGERS DEMONSTRATION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627952-F4E8-BF75-9490-42A355A3610C}"/>
              </a:ext>
            </a:extLst>
          </p:cNvPr>
          <p:cNvGrpSpPr/>
          <p:nvPr/>
        </p:nvGrpSpPr>
        <p:grpSpPr>
          <a:xfrm>
            <a:off x="1216047" y="1814824"/>
            <a:ext cx="9759906" cy="3480047"/>
            <a:chOff x="1216047" y="1814824"/>
            <a:chExt cx="9759906" cy="34800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D9A080-41A5-CACD-946C-E9E7E235ADD1}"/>
                </a:ext>
              </a:extLst>
            </p:cNvPr>
            <p:cNvSpPr/>
            <p:nvPr/>
          </p:nvSpPr>
          <p:spPr>
            <a:xfrm>
              <a:off x="1216047" y="1814824"/>
              <a:ext cx="9759906" cy="348004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 2:</a:t>
              </a:r>
            </a:p>
            <a:p>
              <a:pPr algn="ctr"/>
              <a:r>
                <a:rPr lang="en-ZA" sz="2400" dirty="0">
                  <a:solidFill>
                    <a:schemeClr val="bg1"/>
                  </a:solidFill>
                  <a:latin typeface="LM Roman 12" panose="00000500000000000000" pitchFamily="50" charset="0"/>
                </a:rPr>
                <a:t>Print the following text on the console:</a:t>
              </a: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3282BDE-E5A3-323E-9881-5B4E4809292D}"/>
                </a:ext>
              </a:extLst>
            </p:cNvPr>
            <p:cNvSpPr/>
            <p:nvPr/>
          </p:nvSpPr>
          <p:spPr>
            <a:xfrm>
              <a:off x="2352675" y="3314701"/>
              <a:ext cx="7696200" cy="17145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ZA" dirty="0">
                  <a:solidFill>
                    <a:srgbClr val="0070C0"/>
                  </a:solidFill>
                </a:rPr>
                <a:t>Addition: 10 + 5 = 15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Subtraction: 10 – 5 = 5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Division: 10 / 5 = 2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Modulus: 10 % 5 = 2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Multiplication: 10 * 5 = 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7821202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Microsoft Office PowerPoint</Application>
  <PresentationFormat>Widescreen</PresentationFormat>
  <Paragraphs>189</Paragraphs>
  <Slides>24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Bradley Hand ITC</vt:lpstr>
      <vt:lpstr>Calibri</vt:lpstr>
      <vt:lpstr>LM Roman 12</vt:lpstr>
      <vt:lpstr>Segoe UI Black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2026-08-23T20:04:38Z</dcterms:created>
  <dcterms:modified xsi:type="dcterms:W3CDTF">2026-08-23T20:05:11Z</dcterms:modified>
</cp:coreProperties>
</file>