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0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2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3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4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5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6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7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8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9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430" r:id="rId2"/>
    <p:sldId id="433" r:id="rId3"/>
    <p:sldId id="434" r:id="rId4"/>
    <p:sldId id="432" r:id="rId5"/>
    <p:sldId id="435" r:id="rId6"/>
    <p:sldId id="438" r:id="rId7"/>
    <p:sldId id="436" r:id="rId8"/>
    <p:sldId id="437" r:id="rId9"/>
    <p:sldId id="439" r:id="rId10"/>
    <p:sldId id="440" r:id="rId11"/>
    <p:sldId id="441" r:id="rId12"/>
    <p:sldId id="442" r:id="rId13"/>
    <p:sldId id="443" r:id="rId14"/>
    <p:sldId id="444" r:id="rId15"/>
    <p:sldId id="445" r:id="rId16"/>
    <p:sldId id="446" r:id="rId17"/>
    <p:sldId id="447" r:id="rId18"/>
    <p:sldId id="448" r:id="rId19"/>
    <p:sldId id="449" r:id="rId20"/>
    <p:sldId id="450" r:id="rId21"/>
    <p:sldId id="451" r:id="rId22"/>
    <p:sldId id="45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CEFF2-590A-4E6C-BD75-1DE63AED2C05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F4B0B9-22DB-4E39-906F-F07987BFF78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3072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A7997-11A6-FDE8-211C-870E8C928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A75ED-BF7C-4EC3-09B4-82E4C2627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478F1D-78B1-9566-90B9-0AD00AB53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7EFDD-6A13-5990-9F95-26DC2791F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98623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F9686-C68F-A7CE-C3A0-C4362F012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2ACED-C0FF-1498-684C-4B54A686F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2A1A0F-ECE4-C47E-768B-FAE39B705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F4A79-A0C3-FD03-ACB4-285CA13F9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5491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04FE3-11A0-A888-60F0-0330B432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0E8C0B-C3AD-799D-5927-0178C43EB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69238-560C-85B4-32E5-C455D4E8E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FAF93-A484-706E-6DDE-58C700732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4902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9481E-8EDA-163A-CFB2-6A04DF447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70FAB-BC8F-7ABD-8678-39509106D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B256E-2223-2A13-DD9F-FA550EDB4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EFDCE-D363-5CA4-2CE4-15566E7697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3275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07E56-E286-A9C9-BF99-F7E540CEE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984C4-EBCB-6011-3A3E-BD424B0A8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1BCC4-4CE8-C09C-0909-A358E2DB7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42EA3-487F-8798-A04A-30EE1F977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1186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30B42-C80C-D25A-A6E2-D3CCCA66E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6F932C-21D3-C1B2-6C44-7BEDFD73A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935410-A85E-707C-7E6A-6161F3A12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3FF27-8873-2ACD-B493-52F25362B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565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448F7-3751-5B52-5E4A-F83352B4E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36770-ADD0-C441-E175-FA2F87692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DEF1B-26AE-D4B8-6440-772734793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7E90B-7299-F49D-91C2-38C319268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712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1EA55-5A56-B124-3A96-764F9C650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3CC879-769B-F79E-F5AE-F527D00DE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9C4C1-929F-399E-65CB-F2B861F27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92B14-2996-011C-1061-E6097B128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4428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AE264-AF92-B5C8-0417-7BDBDE58C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4A767-FBF2-2262-0473-DB3B4C71A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593D9-F57B-B661-AB54-19053E086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757F8-460D-6F23-5989-1014DD371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9619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7AA92-5899-C0B7-EF01-DA9232D9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DC587-C813-0E19-B415-CD75EC4CD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87D8B6-EFB0-4AE5-A30D-F597E458B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D7917-F739-CD1F-E3CF-9ACA8055A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8061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95DEB-82A7-D5D1-6254-CA7A3994D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1EB0CC-7B0A-004C-1113-1ADB160BD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4D9E4-CD66-DEBA-763C-EF172FAAD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9F9E7-8CAF-0A0E-5439-BCE5764AF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4059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B25F6-0018-33B9-0F38-B148E3D29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B159B-4CAD-1A2C-E44E-089AED9E9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3F5FF-05F6-41E9-B90E-34118F1AA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7C63E-9CEB-D2AE-A269-05FAC4005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58231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F1836-CD3F-DD49-8F08-EEF6C5945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D0D83-50C2-2392-7FA0-BB78D31D1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F4016-F55A-913F-03F6-99D8EE143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48638-5F4D-1769-BFB7-5F089FE3D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41274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552A9-3F2F-B357-3FC5-8B1E8B441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F9451-F4E5-63F6-9957-178792E99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8ABA85-8DD3-F93F-78F9-22EFCF59F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1838F-8F98-F1B9-90B0-90256AEA1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3058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BFB00-5A99-634B-222A-8918668A5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5B7F13-71BD-65FE-B461-916AB1797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1D161-5B20-1013-AB3D-2EE1AACA0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25492-2411-8303-B607-940F3E1BD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13981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9B82E-0745-A6AE-86B4-A903EA511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B2DD6-11F3-6185-D58D-14FCA4CA9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3A578-8A95-925A-8B06-CBDAC3DBB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F1711-799D-7049-24F1-D8564EAD9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66418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3E41-1241-125D-1CAC-2A86B8790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4529F-0EA9-29B9-6CD6-A54FB23AB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370EB-5731-A48B-7C60-32C417142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8E56E-805D-3D43-E09D-08C289793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99511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74239-D717-52EC-A70B-664172642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86AEC-DAD3-3C66-8508-7F3AF3128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285621-72B0-84CD-AAD4-03DA57802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A4FB0-CAF3-A9BE-F4EA-39DF70636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9614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A0B9B-6CB6-9381-A827-FCD3ACD0F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723D9-754F-585E-942B-81453A879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6C80D-4BE8-562D-9CCD-0C95EA87C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95EEB-DD0B-03AA-8778-0F7CB78A6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2131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C2DCF-D159-3A38-B532-F7BBD4F7C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77E6D3-57FF-C03A-404B-E2042EAC9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D5165-2233-5DDC-0129-9E64390A0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90448-2DEB-0AC9-1F7F-F2E60D7E2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9933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55343-2B7C-B6A4-E4D8-E34F43DC9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20877-D334-6A1F-DE94-979554C33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F84BD-859F-6567-3AAA-D5A279E4F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9365-66C2-42A8-98C8-D9DEBE0C3554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61F42-CEE4-2F0E-8130-2F936BD0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D525B-CBEE-C816-9580-5E0DD482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FEFA-7EB1-4FB5-AE04-6538264241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632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36D96-277D-186C-BBAD-D053F08A4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86C84-4327-700C-9945-42214F44A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DE970-DF08-505D-9CE3-DB04B9003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9365-66C2-42A8-98C8-D9DEBE0C3554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3BD54-EBC7-CB5E-D888-052964D08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E7A66-9F4C-B76B-F038-6911B7CD6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FEFA-7EB1-4FB5-AE04-6538264241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406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39FDA-9891-56D1-D838-BBFAE3604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52746-7456-6C10-AE71-59B773A60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FEAE6-3F3D-0356-E117-B0782A55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9365-66C2-42A8-98C8-D9DEBE0C3554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33317-9EA2-1C89-7B97-28E09C7B0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6B7F7-0FF9-C02A-6DE7-3EFEE350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FEFA-7EB1-4FB5-AE04-6538264241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91107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125BC-41AF-76EF-9DA1-F1701775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056B0-F401-42CF-BF97-766AE8B6C4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0133B-7B1C-ADBD-4BA6-A7D32BAF7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E6F93-8B50-1287-6669-84227EDCF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9365-66C2-42A8-98C8-D9DEBE0C3554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EA889-1A8B-0A4F-8FB3-F8E65098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110AF-3CBA-4388-8C57-70807AC6C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FEFA-7EB1-4FB5-AE04-6538264241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44817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7C188-1113-D139-4E2D-CBAF163E0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BE584-9863-2B83-151F-E3127F9EA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73A8B-95C6-5730-56E5-33CA81C28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2D1E24-DD4E-F087-6D69-D0B1DCED2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B90E05-61BE-EF61-5F5D-23D889B371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C90E5D-D5C9-A2B4-A063-ECBA4D11D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9365-66C2-42A8-98C8-D9DEBE0C3554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E1052F-962A-7648-17FE-5638196F1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1A358A-A3E1-47B7-687E-6FD4AF033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FEFA-7EB1-4FB5-AE04-6538264241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4258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23B9C-9EC1-E6B2-37AC-5624DD818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28AC4E-4595-6613-CA95-EE7FCAAC7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9365-66C2-42A8-98C8-D9DEBE0C3554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4A906-42D1-A526-AB58-7FCFC4E61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C5C5C0-3909-DA4D-0917-B201FD2C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FEFA-7EB1-4FB5-AE04-6538264241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0108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3CE226-8E88-E6BB-BA5A-012D2A0C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9365-66C2-42A8-98C8-D9DEBE0C3554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4E350D-8DC3-F204-4374-D4EBA8461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79BDE-5BEE-4EB4-F6FF-8E7EE286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FEFA-7EB1-4FB5-AE04-6538264241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2647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B556A-504D-67B7-4DC0-1EF7E2749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5F2BC-F505-81B9-51C1-FFB9A92C2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4FBCA-294F-63F4-6701-A658EAC1F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2B7D0-8556-DADC-22EA-EDD47AAB2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9365-66C2-42A8-98C8-D9DEBE0C3554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AEEC2-D443-E7D8-3C71-972458565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1A74E-A037-7CD8-D53C-47959D28E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FEFA-7EB1-4FB5-AE04-6538264241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3248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C731-7D53-5843-AE7D-3FD57E409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EDB92C-C16E-BD2B-F9FA-B3288CEF58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29BB8-1D8B-81C3-F6D2-D31607D73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597B3-B00C-BD5A-BB34-1E8894D3F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9365-66C2-42A8-98C8-D9DEBE0C3554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0ED9D-2BB0-DE3A-FE7D-431ABFB5D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D7A4C-9527-7645-1C39-37D8EADF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FEFA-7EB1-4FB5-AE04-6538264241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7948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D5D4A-8527-EDDB-8CF2-68BCE3D19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EAC0E0-A6DE-E28E-98CA-8FDF0BDD8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52C24-B821-CB97-BD77-2529954DC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9365-66C2-42A8-98C8-D9DEBE0C3554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8EB85-9424-3756-E2D0-1866F90B5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B8FAE-7C6B-23CA-9CDF-970C10C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FEFA-7EB1-4FB5-AE04-6538264241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8347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D95CDC-8338-E9C1-56E6-6191ADFF3F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4DC3BC-83C8-24EC-A9CE-735838478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84968-E23C-02F0-8857-9ED8745B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9365-66C2-42A8-98C8-D9DEBE0C3554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B5815-AFEE-0CAC-E556-76ED02753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E8EC2-49DB-4130-526B-6BD5AC083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FEFA-7EB1-4FB5-AE04-6538264241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5128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07C9C-D646-77F7-56BC-6DCD27470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2533A-3672-A6AB-F47C-722D2281A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05BCB-45B4-8175-BD07-C699154102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749365-66C2-42A8-98C8-D9DEBE0C3554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2A1CD-94A9-EB05-7869-6EFB81761B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56B9F-F748-D56F-4E8B-5CACD36CD2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FFEFA-7EB1-4FB5-AE04-6538264241B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81051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9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3.pn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12" Type="http://schemas.openxmlformats.org/officeDocument/2006/relationships/image" Target="../media/image17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3.emf"/><Relationship Id="rId11" Type="http://schemas.openxmlformats.org/officeDocument/2006/relationships/image" Target="../media/image16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5.png"/><Relationship Id="rId4" Type="http://schemas.openxmlformats.org/officeDocument/2006/relationships/notesSlide" Target="../notesSlides/notesSlide12.xml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3.xml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4.xml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25.png"/><Relationship Id="rId4" Type="http://schemas.openxmlformats.org/officeDocument/2006/relationships/notesSlide" Target="../notesSlides/notesSlide16.xml"/><Relationship Id="rId9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28.png"/><Relationship Id="rId4" Type="http://schemas.openxmlformats.org/officeDocument/2006/relationships/notesSlide" Target="../notesSlides/notesSlide17.xml"/><Relationship Id="rId9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1.png"/><Relationship Id="rId4" Type="http://schemas.openxmlformats.org/officeDocument/2006/relationships/notesSlide" Target="../notesSlides/notesSlide18.xml"/><Relationship Id="rId9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4.png"/><Relationship Id="rId4" Type="http://schemas.openxmlformats.org/officeDocument/2006/relationships/notesSlide" Target="../notesSlides/notesSlide19.xml"/><Relationship Id="rId9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12" Type="http://schemas.openxmlformats.org/officeDocument/2006/relationships/image" Target="../media/image1530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3.emf"/><Relationship Id="rId11" Type="http://schemas.openxmlformats.org/officeDocument/2006/relationships/image" Target="../media/image37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520.png"/><Relationship Id="rId4" Type="http://schemas.openxmlformats.org/officeDocument/2006/relationships/notesSlide" Target="../notesSlides/notesSlide20.xml"/><Relationship Id="rId9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0D2C-7BD5-AA72-1DBE-0C7AB4A61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A19047-5B8F-4446-3427-9D014C4B35C0}"/>
              </a:ext>
            </a:extLst>
          </p:cNvPr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920000"/>
          </a:solidFill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814C31-6549-3A7C-EA0D-9D3BBAE78A68}"/>
              </a:ext>
            </a:extLst>
          </p:cNvPr>
          <p:cNvSpPr txBox="1"/>
          <p:nvPr/>
        </p:nvSpPr>
        <p:spPr>
          <a:xfrm>
            <a:off x="210516" y="1255757"/>
            <a:ext cx="11332779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ZA" sz="8800" b="0" i="0" u="none" strike="noStrike" baseline="0" dirty="0">
                <a:latin typeface="LM Roman 12" panose="00000500000000000000" pitchFamily="50" charset="0"/>
              </a:rPr>
              <a:t>4. </a:t>
            </a:r>
            <a:r>
              <a:rPr lang="en-ZA" sz="8800" dirty="0">
                <a:latin typeface="LM Roman 12" panose="00000500000000000000" pitchFamily="50" charset="0"/>
              </a:rPr>
              <a:t>Program </a:t>
            </a:r>
          </a:p>
          <a:p>
            <a:pPr algn="l"/>
            <a:r>
              <a:rPr lang="en-ZA" sz="8800" dirty="0">
                <a:latin typeface="LM Roman 12" panose="00000500000000000000" pitchFamily="50" charset="0"/>
              </a:rPr>
              <a:t>control</a:t>
            </a:r>
            <a:endParaRPr lang="en-ZA" sz="4800" b="0" i="0" u="none" strike="noStrike" baseline="0" dirty="0">
              <a:latin typeface="LM Roman 12" panose="00000500000000000000" pitchFamily="50" charset="0"/>
            </a:endParaRPr>
          </a:p>
          <a:p>
            <a:r>
              <a:rPr lang="en-US" dirty="0">
                <a:latin typeface="LM Roman 12" panose="00000500000000000000" pitchFamily="50" charset="0"/>
              </a:rPr>
              <a:t>Lecture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 </a:t>
            </a:r>
            <a:r>
              <a:rPr lang="en-US" dirty="0">
                <a:latin typeface="LM Roman 12" panose="00000500000000000000" pitchFamily="50" charset="0"/>
              </a:rPr>
              <a:t>6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| Essentials of iterations and counter-controlled </a:t>
            </a:r>
            <a:r>
              <a:rPr lang="en-US" dirty="0">
                <a:latin typeface="LM Roman 12" panose="00000500000000000000" pitchFamily="50" charset="0"/>
              </a:rPr>
              <a:t>repetition</a:t>
            </a:r>
          </a:p>
          <a:p>
            <a:r>
              <a:rPr lang="en-US" dirty="0">
                <a:latin typeface="LM Roman 12" panose="00000500000000000000" pitchFamily="50" charset="0"/>
              </a:rPr>
              <a:t>	  The </a:t>
            </a:r>
            <a:r>
              <a:rPr lang="en-US" dirty="0">
                <a:solidFill>
                  <a:srgbClr val="0070C0"/>
                </a:solidFill>
                <a:latin typeface="LM Roman 12" panose="00000500000000000000" pitchFamily="50" charset="0"/>
              </a:rPr>
              <a:t>for</a:t>
            </a:r>
            <a:r>
              <a:rPr lang="en-US" dirty="0">
                <a:latin typeface="LM Roman 12" panose="00000500000000000000" pitchFamily="50" charset="0"/>
              </a:rPr>
              <a:t> loop (repetition) statement</a:t>
            </a:r>
          </a:p>
          <a:p>
            <a:r>
              <a:rPr lang="en-US" dirty="0">
                <a:latin typeface="LM Roman 12" panose="00000500000000000000" pitchFamily="50" charset="0"/>
              </a:rPr>
              <a:t>	  </a:t>
            </a:r>
            <a:r>
              <a:rPr lang="en-US" dirty="0">
                <a:solidFill>
                  <a:srgbClr val="0070C0"/>
                </a:solidFill>
                <a:latin typeface="LM Roman 12" panose="00000500000000000000" pitchFamily="50" charset="0"/>
              </a:rPr>
              <a:t>For</a:t>
            </a:r>
            <a:r>
              <a:rPr lang="en-US" dirty="0">
                <a:latin typeface="LM Roman 12" panose="00000500000000000000" pitchFamily="50" charset="0"/>
              </a:rPr>
              <a:t> loop examples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881B48-9479-B128-7008-486EBC89035A}"/>
              </a:ext>
            </a:extLst>
          </p:cNvPr>
          <p:cNvSpPr txBox="1"/>
          <p:nvPr/>
        </p:nvSpPr>
        <p:spPr>
          <a:xfrm>
            <a:off x="322513" y="530649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LM Roman 12" panose="00000500000000000000" pitchFamily="50" charset="0"/>
              </a:rPr>
              <a:t>Isaac Khobo, PhD (</a:t>
            </a:r>
            <a:r>
              <a:rPr lang="en-US" sz="1800" b="0" i="0" u="none" strike="noStrike" baseline="0" dirty="0">
                <a:latin typeface="LM Roman 12" panose="00000500000000000000" pitchFamily="50" charset="0"/>
                <a:hlinkClick r:id="rId3"/>
              </a:rPr>
              <a:t>ilkhobo@sun.ac.za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)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DD7C48-9C2C-29A2-FFDF-4AD0F145435A}"/>
              </a:ext>
            </a:extLst>
          </p:cNvPr>
          <p:cNvSpPr txBox="1"/>
          <p:nvPr/>
        </p:nvSpPr>
        <p:spPr>
          <a:xfrm>
            <a:off x="2690150" y="526023"/>
            <a:ext cx="5878718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ZA" dirty="0">
                <a:solidFill>
                  <a:schemeClr val="bg1">
                    <a:lumMod val="85000"/>
                  </a:schemeClr>
                </a:solidFill>
                <a:latin typeface="LM Roman 12" panose="00000500000000000000" pitchFamily="50" charset="0"/>
              </a:rPr>
              <a:t>A. WELCOME TO CP143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87BBD31-3090-326F-32DC-8C68795D172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1031A37-971E-D1A5-FA15-7606673ECF4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EB2B9BE-E205-B88A-46A1-AC00A77618A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32AB3FE-5893-568F-16A7-371B4E29C22D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A58E76F3-9EB9-8A0B-1C34-A311C6B851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680C2E-FBC4-8263-3ECB-8137740DEB9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6856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31 July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AB43D12-A7FD-C552-AEA4-5ACA1AA1306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62E0206-B643-028F-92E6-9F5787FC306E}"/>
              </a:ext>
            </a:extLst>
          </p:cNvPr>
          <p:cNvSpPr txBox="1"/>
          <p:nvPr/>
        </p:nvSpPr>
        <p:spPr>
          <a:xfrm>
            <a:off x="7967780" y="5856143"/>
            <a:ext cx="3118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u="sng" dirty="0">
                <a:solidFill>
                  <a:srgbClr val="C00000"/>
                </a:solidFill>
                <a:latin typeface="LM Roman 12" panose="00000500000000000000" pitchFamily="50" charset="0"/>
              </a:rPr>
              <a:t>Chapters 4 Program control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165004-A3A8-817F-48B5-86848E256E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7654" y="2562225"/>
            <a:ext cx="5254346" cy="329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55070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3915-2CAA-FEF1-39A7-79EF6F452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0B26AFF4-0F29-ED5E-AE64-CC1F3A9ABAE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0B26AFF4-0F29-ED5E-AE64-CC1F3A9ABA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E6425ADE-7B86-7555-FE5C-9B6F1E7BF7A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0AE5D1-5256-6DCE-7F65-26CFB4F30569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3, 4 &amp; 9	pg. 32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DDF331D-60BD-4EFB-F2A2-03B447969F7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11045C1-A801-EE9A-19D5-4197B06C5516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BF2523F-F23D-CEA8-7FD2-5E5C096DF395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B9F09EF2-870B-E25D-4767-FAC133BF64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EF615D5-AF33-7B34-78F6-9A7DCB38296A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6873763-A5CF-B2D3-301E-A30ED1206E92}"/>
              </a:ext>
            </a:extLst>
          </p:cNvPr>
          <p:cNvSpPr/>
          <p:nvPr/>
        </p:nvSpPr>
        <p:spPr>
          <a:xfrm>
            <a:off x="3528311" y="584240"/>
            <a:ext cx="5135378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IMPORTANT RECAP: LOOPS/REPETITIONS</a:t>
            </a:r>
          </a:p>
        </p:txBody>
      </p:sp>
      <p:pic>
        <p:nvPicPr>
          <p:cNvPr id="2" name="Picture 1" descr="Qu'est-ce que la répétition dans les organigrammes">
            <a:extLst>
              <a:ext uri="{FF2B5EF4-FFF2-40B4-BE49-F238E27FC236}">
                <a16:creationId xmlns:a16="http://schemas.microsoft.com/office/drawing/2014/main" id="{21FF4F88-AE8D-8806-AE6D-1DB781AC98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" y="1460549"/>
            <a:ext cx="3561905" cy="44285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1C0AFC-7D45-46D3-F7C4-4B7BFD1BC17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3714305" y="1530765"/>
            <a:ext cx="3033071" cy="21793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279AFB-E08E-2F62-F4EE-94380DE747CC}"/>
              </a:ext>
            </a:extLst>
          </p:cNvPr>
          <p:cNvSpPr txBox="1"/>
          <p:nvPr/>
        </p:nvSpPr>
        <p:spPr>
          <a:xfrm>
            <a:off x="4036818" y="1262696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 code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E9D54A-6104-7319-56B6-E9DF89D97B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0395" y="3978226"/>
            <a:ext cx="1958510" cy="17679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47CEAC-DF57-C93E-F707-DE4E4F3E6037}"/>
              </a:ext>
            </a:extLst>
          </p:cNvPr>
          <p:cNvSpPr txBox="1"/>
          <p:nvPr/>
        </p:nvSpPr>
        <p:spPr>
          <a:xfrm>
            <a:off x="3840395" y="3659526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1C8AAA-0E18-CBD8-75BC-3716CFC45088}"/>
              </a:ext>
            </a:extLst>
          </p:cNvPr>
          <p:cNvSpPr/>
          <p:nvPr/>
        </p:nvSpPr>
        <p:spPr>
          <a:xfrm>
            <a:off x="7102594" y="1530765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COUNTER-CONTROLLED: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Definite repetition: known beforehand how many times loop will execute</a:t>
            </a:r>
          </a:p>
          <a:p>
            <a:pPr algn="ctr"/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Control variable 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used to count repetitions</a:t>
            </a:r>
          </a:p>
        </p:txBody>
      </p:sp>
    </p:spTree>
    <p:extLst>
      <p:ext uri="{BB962C8B-B14F-4D97-AF65-F5344CB8AC3E}">
        <p14:creationId xmlns:p14="http://schemas.microsoft.com/office/powerpoint/2010/main" val="762654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DA6B-0DB1-7706-CDC2-8A060815D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A34A219A-8281-3E3F-5A49-B9DA58A76F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A34A219A-8281-3E3F-5A49-B9DA58A76F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4EAD477C-4242-2E71-C8E2-0C2109AC5AD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61B077-A495-1BCD-905F-E9853B1C86FE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3, 4 &amp; 9	pg. 33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176936-F1F5-F692-C14E-38AD3D72C1E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40307E8-9250-4B09-6259-23EBC060C505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B8504F5-C4B3-26D9-C64B-3CB8E6897F0C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D0928C7F-8452-1E67-A2EA-734D437E1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683F195-9900-57E9-279D-8E70090068E7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4B06A95-DD9B-5D35-420B-85FE6F445642}"/>
              </a:ext>
            </a:extLst>
          </p:cNvPr>
          <p:cNvSpPr/>
          <p:nvPr/>
        </p:nvSpPr>
        <p:spPr>
          <a:xfrm>
            <a:off x="3528311" y="584240"/>
            <a:ext cx="5135378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IMPORTANT RECAP: LOOPS/REPETITIONS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CE4E9C-4186-A361-0E60-649A95F543A0}"/>
              </a:ext>
            </a:extLst>
          </p:cNvPr>
          <p:cNvSpPr/>
          <p:nvPr/>
        </p:nvSpPr>
        <p:spPr>
          <a:xfrm>
            <a:off x="7502644" y="1530765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SENTINEL-CONTROLLED: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Indefinite repetition: not known beforehand how many times loop will 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Execute.</a:t>
            </a:r>
          </a:p>
          <a:p>
            <a:pPr algn="ctr"/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Sentinel value 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indicates “end of data”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43155F-6769-C726-8564-939A19D2D1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8041" y="3690012"/>
            <a:ext cx="4941459" cy="19456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1F7B9E-58DA-6A38-9C13-C000C925643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737"/>
          <a:stretch>
            <a:fillRect/>
          </a:stretch>
        </p:blipFill>
        <p:spPr>
          <a:xfrm>
            <a:off x="2488040" y="1393188"/>
            <a:ext cx="5014603" cy="20358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BEA413C-AE20-FBDF-2515-02DC6166552F}"/>
              </a:ext>
            </a:extLst>
          </p:cNvPr>
          <p:cNvSpPr txBox="1"/>
          <p:nvPr/>
        </p:nvSpPr>
        <p:spPr>
          <a:xfrm>
            <a:off x="4550706" y="1293277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 code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8F140D-F095-EFC0-86F2-DB6372C25555}"/>
              </a:ext>
            </a:extLst>
          </p:cNvPr>
          <p:cNvSpPr txBox="1"/>
          <p:nvPr/>
        </p:nvSpPr>
        <p:spPr>
          <a:xfrm>
            <a:off x="4492934" y="3341472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Output</a:t>
            </a:r>
          </a:p>
        </p:txBody>
      </p:sp>
      <p:pic>
        <p:nvPicPr>
          <p:cNvPr id="15" name="Picture 14" descr="while Loop in C - GeeksforGeeks">
            <a:extLst>
              <a:ext uri="{FF2B5EF4-FFF2-40B4-BE49-F238E27FC236}">
                <a16:creationId xmlns:a16="http://schemas.microsoft.com/office/drawing/2014/main" id="{F8FDBC9F-9F12-E3AA-9879-34C4992897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00" y="2600325"/>
            <a:ext cx="2322276" cy="250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3493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5C137-C835-999E-15C0-B7792E8A8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AA2B4CEF-A999-4F05-6E49-2CD014901B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AA2B4CEF-A999-4F05-6E49-2CD014901B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7B8EAFF5-3506-A8AC-2CAB-F0007231E16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91110C-886C-447A-140D-BEAF0940C85A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3, 4 &amp; 9	pg. 34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0A590D-4860-E54C-D3CA-2D0A2CC5CA2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BA4BF2F-EF9F-65D2-AD5D-3D0F26E5C289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1D1D69B-E727-E7A4-552A-29E5E2F7F159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83CDAC50-0490-794E-1375-FEF683262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83CFB28-3345-6DDD-FEF1-65FD18D7E371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214675E-BF2A-6606-30C1-D21F01C39956}"/>
              </a:ext>
            </a:extLst>
          </p:cNvPr>
          <p:cNvSpPr/>
          <p:nvPr/>
        </p:nvSpPr>
        <p:spPr>
          <a:xfrm>
            <a:off x="1674997" y="584240"/>
            <a:ext cx="8720035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RECAP: POST/PRE- INCREMENT EXAMPLE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E9A4788-1B7F-6A03-11AB-A9A492C3E7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430307"/>
            <a:ext cx="11692480" cy="419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49434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3650A-EFB1-AC03-C58C-4E81C6EA1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F1BB9258-CDE0-D6BF-7E28-31DACC5F23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F1BB9258-CDE0-D6BF-7E28-31DACC5F23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84E61945-33DD-B41B-E4C9-897263E8946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4D3F90-7E84-B940-6E15-3CC20B6598DC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34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D976FFA-E49A-C511-A0E3-63B6CCCACCB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5D06E04-6649-39BD-2319-AEAC45B88725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A646FA8-C234-FA72-45EC-C8D299EFB4F0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4B1D8F59-12C5-CD32-6236-FE1A761F8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3500E3B-D295-AB13-5B8D-83FBCF78A9F5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3F9251D-A5CF-E947-1AA8-8599E2F137A8}"/>
              </a:ext>
            </a:extLst>
          </p:cNvPr>
          <p:cNvSpPr/>
          <p:nvPr/>
        </p:nvSpPr>
        <p:spPr>
          <a:xfrm>
            <a:off x="1674997" y="584240"/>
            <a:ext cx="8720035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REPETITION STATEMENT 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24725D-778A-0E34-9C25-7F1C059868FB}"/>
              </a:ext>
            </a:extLst>
          </p:cNvPr>
          <p:cNvSpPr/>
          <p:nvPr/>
        </p:nvSpPr>
        <p:spPr>
          <a:xfrm>
            <a:off x="780502" y="1766153"/>
            <a:ext cx="1421606" cy="8309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3A2352-9EF2-86C7-1142-F897EB464CC8}"/>
              </a:ext>
            </a:extLst>
          </p:cNvPr>
          <p:cNvSpPr/>
          <p:nvPr/>
        </p:nvSpPr>
        <p:spPr>
          <a:xfrm>
            <a:off x="1020957" y="1709815"/>
            <a:ext cx="5075043" cy="8937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07AB56-D0B1-6C26-75C7-0770644ADD41}"/>
              </a:ext>
            </a:extLst>
          </p:cNvPr>
          <p:cNvSpPr txBox="1"/>
          <p:nvPr/>
        </p:nvSpPr>
        <p:spPr>
          <a:xfrm>
            <a:off x="1020956" y="1769642"/>
            <a:ext cx="11266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You use a </a:t>
            </a:r>
            <a:r>
              <a:rPr lang="en-ZA" sz="2400" dirty="0">
                <a:solidFill>
                  <a:srgbClr val="0070C0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for</a:t>
            </a: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 loop when you want to execute a block of code predetermined number of times.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AC9351-E315-8F33-BF7A-D6C4608CA933}"/>
              </a:ext>
            </a:extLst>
          </p:cNvPr>
          <p:cNvSpPr/>
          <p:nvPr/>
        </p:nvSpPr>
        <p:spPr>
          <a:xfrm>
            <a:off x="780502" y="2845742"/>
            <a:ext cx="1421606" cy="8309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00930B-FAC1-78B6-E87D-F9C65000C65C}"/>
              </a:ext>
            </a:extLst>
          </p:cNvPr>
          <p:cNvSpPr/>
          <p:nvPr/>
        </p:nvSpPr>
        <p:spPr>
          <a:xfrm>
            <a:off x="1020957" y="2789404"/>
            <a:ext cx="5075043" cy="8937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6F793-82AF-D724-5A12-1F30A5885414}"/>
              </a:ext>
            </a:extLst>
          </p:cNvPr>
          <p:cNvSpPr txBox="1"/>
          <p:nvPr/>
        </p:nvSpPr>
        <p:spPr>
          <a:xfrm>
            <a:off x="1020956" y="2849231"/>
            <a:ext cx="11266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srgbClr val="0070C0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For</a:t>
            </a: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 and </a:t>
            </a:r>
            <a:r>
              <a:rPr lang="en-ZA" sz="2400" dirty="0">
                <a:solidFill>
                  <a:srgbClr val="0070C0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while</a:t>
            </a: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 (</a:t>
            </a:r>
            <a:r>
              <a:rPr lang="en-ZA" sz="2400" b="1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counter-controlled</a:t>
            </a: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) loops are interchangeable. But </a:t>
            </a:r>
            <a:r>
              <a:rPr lang="en-ZA" sz="2400" dirty="0">
                <a:solidFill>
                  <a:srgbClr val="0070C0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for</a:t>
            </a: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 loops tend to be simpler (cleaner) to implement.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93A8DC1-C4F5-6DB2-F9F4-115B4C45A310}"/>
              </a:ext>
            </a:extLst>
          </p:cNvPr>
          <p:cNvGrpSpPr/>
          <p:nvPr/>
        </p:nvGrpSpPr>
        <p:grpSpPr>
          <a:xfrm>
            <a:off x="146613" y="4339531"/>
            <a:ext cx="11539222" cy="1285611"/>
            <a:chOff x="265403" y="1230571"/>
            <a:chExt cx="11539222" cy="128561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BFD34B9-CAAF-AC68-3E12-CB054C11F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5403" y="1430307"/>
              <a:ext cx="11539222" cy="108587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8D6263D-B2D3-251E-1BBF-C5C21FD349B2}"/>
                </a:ext>
              </a:extLst>
            </p:cNvPr>
            <p:cNvSpPr/>
            <p:nvPr/>
          </p:nvSpPr>
          <p:spPr>
            <a:xfrm>
              <a:off x="2114550" y="124564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INITIALISATION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54397E7-C4CE-A082-9011-40F2B7098925}"/>
                </a:ext>
              </a:extLst>
            </p:cNvPr>
            <p:cNvSpPr/>
            <p:nvPr/>
          </p:nvSpPr>
          <p:spPr>
            <a:xfrm>
              <a:off x="5392049" y="123057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CONDITION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AF49957-365E-7E0F-4B5E-ED59FD851DA8}"/>
                </a:ext>
              </a:extLst>
            </p:cNvPr>
            <p:cNvSpPr/>
            <p:nvPr/>
          </p:nvSpPr>
          <p:spPr>
            <a:xfrm>
              <a:off x="8361540" y="123057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UPDATE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19456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11" grpId="0" animBg="1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0E2B8-162C-0441-C954-97BCDFD82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61AE8D20-4357-D0A0-7148-42AD06700DE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61AE8D20-4357-D0A0-7148-42AD06700D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DE8219B0-055D-AEB8-C4A4-2188D393282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A3FBFE-6E2F-159F-F3ED-27AF6723FAFE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35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945F0B-E84D-8823-7371-0C577A1E766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4AB3E89-4E50-D38C-A9FE-DFB1BC0D953C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EF22E6E-2DA4-387B-FBDA-22F1E6B72A28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34833EC8-292A-EA53-FBC7-3605760A9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3EE2622-321A-397C-92BF-BD99522F4879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395AEB2-A142-9F1A-7BED-115FC28AB652}"/>
              </a:ext>
            </a:extLst>
          </p:cNvPr>
          <p:cNvSpPr/>
          <p:nvPr/>
        </p:nvSpPr>
        <p:spPr>
          <a:xfrm>
            <a:off x="1674997" y="584240"/>
            <a:ext cx="8720035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REPETITION STATEMENT I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BF48412-8433-46C8-70B8-5EF4DB4C3536}"/>
              </a:ext>
            </a:extLst>
          </p:cNvPr>
          <p:cNvGrpSpPr/>
          <p:nvPr/>
        </p:nvGrpSpPr>
        <p:grpSpPr>
          <a:xfrm>
            <a:off x="265403" y="1230571"/>
            <a:ext cx="11539222" cy="1285611"/>
            <a:chOff x="265403" y="1230571"/>
            <a:chExt cx="11539222" cy="128561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E338254-1BD0-EE2B-BA98-F173C4EA3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5403" y="1430307"/>
              <a:ext cx="11539222" cy="108587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955F85C-B2F4-5F3E-B97E-FBE4606FEEBE}"/>
                </a:ext>
              </a:extLst>
            </p:cNvPr>
            <p:cNvSpPr/>
            <p:nvPr/>
          </p:nvSpPr>
          <p:spPr>
            <a:xfrm>
              <a:off x="2114550" y="124564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INITIALISATION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6AE2D8C-CA61-399D-53A6-9E8CFC5106FA}"/>
                </a:ext>
              </a:extLst>
            </p:cNvPr>
            <p:cNvSpPr/>
            <p:nvPr/>
          </p:nvSpPr>
          <p:spPr>
            <a:xfrm>
              <a:off x="5392049" y="123057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CONDITION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BF00289-8CA3-7018-8BD7-B21E9423934E}"/>
                </a:ext>
              </a:extLst>
            </p:cNvPr>
            <p:cNvSpPr/>
            <p:nvPr/>
          </p:nvSpPr>
          <p:spPr>
            <a:xfrm>
              <a:off x="8361540" y="123057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UPDATE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6273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4527D-B0D9-4FD1-16B4-9082964F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E0A14D26-EA4A-81DA-2573-5FD02F7759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E0A14D26-EA4A-81DA-2573-5FD02F7759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CDD0C41C-1D2C-8F25-9831-0B2223ECE83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EBB70-2F32-6C9B-0D4E-E104BF7B61B3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35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3A3A79-CA81-FB02-8FDF-E13F3C5AB4E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DBB0E90-95A5-D485-BE06-2442DBE70063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4F811B8-032A-EFA1-E66C-4B0BC75F52C0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EFE1E975-D157-4321-033F-00A0697ED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A40380-FA21-A78A-F787-61198F5FA3FC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B67C270-2B61-A492-FAC1-1007DF0FC477}"/>
              </a:ext>
            </a:extLst>
          </p:cNvPr>
          <p:cNvSpPr/>
          <p:nvPr/>
        </p:nvSpPr>
        <p:spPr>
          <a:xfrm>
            <a:off x="1674997" y="584240"/>
            <a:ext cx="8720035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REPETITION STATEMENT I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EE75904-AC06-CBCA-BDFC-CC79818F2211}"/>
              </a:ext>
            </a:extLst>
          </p:cNvPr>
          <p:cNvGrpSpPr/>
          <p:nvPr/>
        </p:nvGrpSpPr>
        <p:grpSpPr>
          <a:xfrm>
            <a:off x="265403" y="1230571"/>
            <a:ext cx="11539222" cy="1285611"/>
            <a:chOff x="265403" y="1230571"/>
            <a:chExt cx="11539222" cy="128561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35E95C5-99FD-069B-4B08-DEDAF0DC8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5403" y="1430307"/>
              <a:ext cx="11539222" cy="108587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B7631FF-9291-3CF9-73B0-215CFC0ABC8F}"/>
                </a:ext>
              </a:extLst>
            </p:cNvPr>
            <p:cNvSpPr/>
            <p:nvPr/>
          </p:nvSpPr>
          <p:spPr>
            <a:xfrm>
              <a:off x="2114550" y="124564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INITIALISATION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DC6DF86-C68B-C8D4-94E4-11AC7E9BC7BE}"/>
                </a:ext>
              </a:extLst>
            </p:cNvPr>
            <p:cNvSpPr/>
            <p:nvPr/>
          </p:nvSpPr>
          <p:spPr>
            <a:xfrm>
              <a:off x="5392049" y="123057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CONDITION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7B16C48-A7C8-1639-14AA-1B828F3BA9E4}"/>
                </a:ext>
              </a:extLst>
            </p:cNvPr>
            <p:cNvSpPr/>
            <p:nvPr/>
          </p:nvSpPr>
          <p:spPr>
            <a:xfrm>
              <a:off x="8361540" y="123057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UPDATE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5C477C6-E676-602C-B39C-B76DB18983EB}"/>
              </a:ext>
            </a:extLst>
          </p:cNvPr>
          <p:cNvSpPr/>
          <p:nvPr/>
        </p:nvSpPr>
        <p:spPr>
          <a:xfrm>
            <a:off x="3806733" y="3429000"/>
            <a:ext cx="4554807" cy="30351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Keyword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: </a:t>
            </a:r>
            <a:r>
              <a:rPr lang="en-US" sz="2000" dirty="0">
                <a:solidFill>
                  <a:srgbClr val="0070C0"/>
                </a:solidFill>
                <a:latin typeface="LM Roman 12" panose="00000500000000000000" pitchFamily="50" charset="0"/>
              </a:rPr>
              <a:t>for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LM Roman 12" panose="00000500000000000000" pitchFamily="50" charset="0"/>
              </a:rPr>
              <a:t>Shows you’re performing a </a:t>
            </a:r>
            <a:r>
              <a:rPr lang="en-US" sz="2000" b="1" dirty="0">
                <a:solidFill>
                  <a:srgbClr val="0070C0"/>
                </a:solidFill>
                <a:latin typeface="LM Roman 12" panose="00000500000000000000" pitchFamily="50" charset="0"/>
              </a:rPr>
              <a:t>for</a:t>
            </a:r>
            <a:r>
              <a:rPr lang="en-US" sz="2000" b="1" dirty="0">
                <a:solidFill>
                  <a:schemeClr val="bg1"/>
                </a:solidFill>
                <a:latin typeface="LM Roman 12" panose="00000500000000000000" pitchFamily="50" charset="0"/>
              </a:rPr>
              <a:t> loop</a:t>
            </a: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F33B07F5-C0D4-FC7F-311A-B1D266EE1D40}"/>
              </a:ext>
            </a:extLst>
          </p:cNvPr>
          <p:cNvCxnSpPr>
            <a:stCxn id="4" idx="1"/>
          </p:cNvCxnSpPr>
          <p:nvPr/>
        </p:nvCxnSpPr>
        <p:spPr>
          <a:xfrm rot="10800000">
            <a:off x="1097281" y="2093976"/>
            <a:ext cx="2709453" cy="28525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230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D0C0F-C3C0-8828-71D4-E99F64B5C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441B5851-5A12-4545-6896-43923831E23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441B5851-5A12-4545-6896-43923831E2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8F3FC8FF-48C9-13BA-250A-961F6F4C3A1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077AB4-861C-B06B-5AF5-FF5F8A65A934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35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CDEF39-A249-3020-397D-CB358A44F43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F05D4D0-FD8A-4E44-F03C-908781B8A381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7C75662-A72A-D688-6AC9-5124B5E0E13B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2142F29D-A091-2E16-476F-EFC837AFB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A22EBE9-8E97-78BD-3EEB-F4831A46B1DC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D1492D53-C58D-66B9-3631-CA43504E9070}"/>
              </a:ext>
            </a:extLst>
          </p:cNvPr>
          <p:cNvSpPr/>
          <p:nvPr/>
        </p:nvSpPr>
        <p:spPr>
          <a:xfrm>
            <a:off x="1674997" y="584240"/>
            <a:ext cx="8720035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REPETITION STATEMENT 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64BB10-79F4-D42B-9C6A-39218BF530DB}"/>
              </a:ext>
            </a:extLst>
          </p:cNvPr>
          <p:cNvGrpSpPr/>
          <p:nvPr/>
        </p:nvGrpSpPr>
        <p:grpSpPr>
          <a:xfrm>
            <a:off x="265403" y="1230571"/>
            <a:ext cx="11539222" cy="1285611"/>
            <a:chOff x="265403" y="1230571"/>
            <a:chExt cx="11539222" cy="128561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DEA3749-26DA-53A9-1E0D-01437FBEC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5403" y="1430307"/>
              <a:ext cx="11539222" cy="108587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030652-9CFA-C013-2843-167E06D34DB9}"/>
                </a:ext>
              </a:extLst>
            </p:cNvPr>
            <p:cNvSpPr/>
            <p:nvPr/>
          </p:nvSpPr>
          <p:spPr>
            <a:xfrm>
              <a:off x="2114550" y="124564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INITIALISATION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6617B5-61F7-F763-48D7-4EAC0A155C52}"/>
                </a:ext>
              </a:extLst>
            </p:cNvPr>
            <p:cNvSpPr/>
            <p:nvPr/>
          </p:nvSpPr>
          <p:spPr>
            <a:xfrm>
              <a:off x="5392049" y="123057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CONDITION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0A3D83-B47E-E366-384E-50FDB245172E}"/>
                </a:ext>
              </a:extLst>
            </p:cNvPr>
            <p:cNvSpPr/>
            <p:nvPr/>
          </p:nvSpPr>
          <p:spPr>
            <a:xfrm>
              <a:off x="8361540" y="123057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UPDATE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4F323E74-16A3-92F9-4133-9882ADE1DD12}"/>
              </a:ext>
            </a:extLst>
          </p:cNvPr>
          <p:cNvSpPr/>
          <p:nvPr/>
        </p:nvSpPr>
        <p:spPr>
          <a:xfrm>
            <a:off x="3806733" y="3429000"/>
            <a:ext cx="4554807" cy="30351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Control variable name: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Assigns the starting value to the control variable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7F7F066-B9F5-D1F0-D628-D70BF54E0C69}"/>
              </a:ext>
            </a:extLst>
          </p:cNvPr>
          <p:cNvCxnSpPr>
            <a:stCxn id="20" idx="1"/>
          </p:cNvCxnSpPr>
          <p:nvPr/>
        </p:nvCxnSpPr>
        <p:spPr>
          <a:xfrm rot="10800000">
            <a:off x="3236977" y="2075688"/>
            <a:ext cx="569757" cy="287088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402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10186-F7ED-CAE5-5BA2-A64F35412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4004537B-17B5-3BAB-6136-75C78A57BF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4004537B-17B5-3BAB-6136-75C78A57BF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91B6413F-E1CC-6FCB-AD4A-43FAE54E09C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3CC708-779E-45B7-02C6-0BFD6E4BDB5F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35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5E20BF5-B6F1-8000-CF7A-BDBC3C26F44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F312B4-F240-2318-541C-BD1DC230F714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673B06A-4A57-3775-81BD-3C40E0488253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646A1EC5-F716-C02A-E211-76161AF62A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7383BE7-0CCB-9EC9-8068-B9F05E21C2E2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DBE3490-F256-E0BD-7C44-C8267AED2B2C}"/>
              </a:ext>
            </a:extLst>
          </p:cNvPr>
          <p:cNvSpPr/>
          <p:nvPr/>
        </p:nvSpPr>
        <p:spPr>
          <a:xfrm>
            <a:off x="1674997" y="584240"/>
            <a:ext cx="8720035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REPETITION STATEMENT 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B6D1621-2271-2A94-4A96-5B2C78C337A6}"/>
              </a:ext>
            </a:extLst>
          </p:cNvPr>
          <p:cNvGrpSpPr/>
          <p:nvPr/>
        </p:nvGrpSpPr>
        <p:grpSpPr>
          <a:xfrm>
            <a:off x="265403" y="1230571"/>
            <a:ext cx="11539222" cy="1285611"/>
            <a:chOff x="265403" y="1230571"/>
            <a:chExt cx="11539222" cy="128561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D415A02-A669-6CB8-5CF9-4D12942C4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5403" y="1430307"/>
              <a:ext cx="11539222" cy="108587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37DF396-D66A-65A0-E33C-5129B9E9D3B5}"/>
                </a:ext>
              </a:extLst>
            </p:cNvPr>
            <p:cNvSpPr/>
            <p:nvPr/>
          </p:nvSpPr>
          <p:spPr>
            <a:xfrm>
              <a:off x="2114550" y="124564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INITIALISATION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0E448E-CBE8-D6A6-A923-F29D6EA4A96C}"/>
                </a:ext>
              </a:extLst>
            </p:cNvPr>
            <p:cNvSpPr/>
            <p:nvPr/>
          </p:nvSpPr>
          <p:spPr>
            <a:xfrm>
              <a:off x="5392049" y="123057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CONDITION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78C16D-BCB2-C96D-2CDB-5B08C7E4C785}"/>
                </a:ext>
              </a:extLst>
            </p:cNvPr>
            <p:cNvSpPr/>
            <p:nvPr/>
          </p:nvSpPr>
          <p:spPr>
            <a:xfrm>
              <a:off x="8361540" y="123057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UPDATE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C4ADAFF-3EFB-5ADF-C110-22EB2A4ED922}"/>
              </a:ext>
            </a:extLst>
          </p:cNvPr>
          <p:cNvSpPr/>
          <p:nvPr/>
        </p:nvSpPr>
        <p:spPr>
          <a:xfrm>
            <a:off x="3806733" y="3429000"/>
            <a:ext cx="4554807" cy="30351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Loop-continuation condition:</a:t>
            </a:r>
          </a:p>
          <a:p>
            <a:pPr algn="ctr"/>
            <a:r>
              <a:rPr lang="en-ZA" sz="2000" dirty="0">
                <a:latin typeface="LM Roman 12" panose="00000500000000000000" pitchFamily="50" charset="0"/>
              </a:rPr>
              <a:t>Compares the control variable against a boundary value. The loop continues only if this evaluates to true.</a:t>
            </a:r>
          </a:p>
          <a:p>
            <a:pPr algn="ctr"/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Defines final value of control variable for which the condition is true.</a:t>
            </a:r>
            <a:endParaRPr lang="en-US" sz="2000" dirty="0">
              <a:solidFill>
                <a:schemeClr val="bg1"/>
              </a:solidFill>
              <a:latin typeface="LM Roman 12" panose="00000500000000000000" pitchFamily="50" charset="0"/>
            </a:endParaRP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6E6A29CC-8C12-E916-B6D5-88155641F53D}"/>
              </a:ext>
            </a:extLst>
          </p:cNvPr>
          <p:cNvCxnSpPr>
            <a:stCxn id="28" idx="3"/>
          </p:cNvCxnSpPr>
          <p:nvPr/>
        </p:nvCxnSpPr>
        <p:spPr>
          <a:xfrm flipH="1" flipV="1">
            <a:off x="6647688" y="2075688"/>
            <a:ext cx="1713852" cy="2870882"/>
          </a:xfrm>
          <a:prstGeom prst="bentConnector4">
            <a:avLst>
              <a:gd name="adj1" fmla="val -13338"/>
              <a:gd name="adj2" fmla="val 7643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428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04ABA-EAE8-7B13-9756-4610D5F82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8BD6CF64-4FB9-CED8-3877-22165E755DC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8BD6CF64-4FB9-CED8-3877-22165E755D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E9DFB2AF-FA91-FEC5-823F-0A59758E862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61DB7C-BF6F-B82B-FBC4-486C198F80C6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35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632081E-0C27-B72B-5A82-E1E81A2BFFA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1857FE-98F0-842F-D1A2-FB572E1E6529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875F52E-09F4-BDBD-DB4A-338EA8B6B101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A71A0762-FC69-95BC-DEC5-96B53C262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5C1BE21-D0B8-CBB6-D822-495F8AB1ED74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BDB27F9-9AF1-A1E9-746C-5C59FE45CACC}"/>
              </a:ext>
            </a:extLst>
          </p:cNvPr>
          <p:cNvSpPr/>
          <p:nvPr/>
        </p:nvSpPr>
        <p:spPr>
          <a:xfrm>
            <a:off x="1674997" y="584240"/>
            <a:ext cx="8720035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REPETITION STATEMENT 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1A92C83-FF11-7D30-8FBB-682ED3D3FB12}"/>
              </a:ext>
            </a:extLst>
          </p:cNvPr>
          <p:cNvGrpSpPr/>
          <p:nvPr/>
        </p:nvGrpSpPr>
        <p:grpSpPr>
          <a:xfrm>
            <a:off x="265403" y="1230571"/>
            <a:ext cx="11539222" cy="1285611"/>
            <a:chOff x="265403" y="1230571"/>
            <a:chExt cx="11539222" cy="128561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940A85A-87FC-6740-194E-4D24B5DA1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5403" y="1430307"/>
              <a:ext cx="11539222" cy="108587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47314B5-DFB5-3855-A3B6-39C399273A6E}"/>
                </a:ext>
              </a:extLst>
            </p:cNvPr>
            <p:cNvSpPr/>
            <p:nvPr/>
          </p:nvSpPr>
          <p:spPr>
            <a:xfrm>
              <a:off x="2114550" y="124564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INITIALISATION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6B4148E-5151-A799-5AD0-080684ADCD89}"/>
                </a:ext>
              </a:extLst>
            </p:cNvPr>
            <p:cNvSpPr/>
            <p:nvPr/>
          </p:nvSpPr>
          <p:spPr>
            <a:xfrm>
              <a:off x="5392049" y="123057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CONDITION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955A3B-507C-CB9F-CE27-778AA8722E10}"/>
                </a:ext>
              </a:extLst>
            </p:cNvPr>
            <p:cNvSpPr/>
            <p:nvPr/>
          </p:nvSpPr>
          <p:spPr>
            <a:xfrm>
              <a:off x="8361540" y="123057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UPDATE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9526A2F5-66B7-07B7-64EE-756D5E03411B}"/>
              </a:ext>
            </a:extLst>
          </p:cNvPr>
          <p:cNvSpPr/>
          <p:nvPr/>
        </p:nvSpPr>
        <p:spPr>
          <a:xfrm>
            <a:off x="3806733" y="3429000"/>
            <a:ext cx="4554807" cy="30351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00"/>
                </a:solidFill>
                <a:latin typeface="LM Roman 12" panose="00000500000000000000" pitchFamily="50" charset="0"/>
              </a:rPr>
              <a:t>Update:</a:t>
            </a:r>
          </a:p>
          <a:p>
            <a:pPr algn="ctr"/>
            <a:r>
              <a:rPr lang="en-ZA" sz="2000" dirty="0">
                <a:latin typeface="LM Roman 12" panose="00000500000000000000" pitchFamily="50" charset="0"/>
              </a:rPr>
              <a:t>Increments or decrements the control variable after every iteration to move it closer to breaking the condition.</a:t>
            </a:r>
            <a:endParaRPr lang="en-US" sz="2000" b="1" dirty="0">
              <a:solidFill>
                <a:schemeClr val="bg1"/>
              </a:solidFill>
              <a:latin typeface="LM Roman 12" panose="00000500000000000000" pitchFamily="50" charset="0"/>
            </a:endParaRP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E397946-F05F-C3A4-3B6C-1B9FFF130280}"/>
              </a:ext>
            </a:extLst>
          </p:cNvPr>
          <p:cNvCxnSpPr>
            <a:stCxn id="21" idx="3"/>
          </p:cNvCxnSpPr>
          <p:nvPr/>
        </p:nvCxnSpPr>
        <p:spPr>
          <a:xfrm flipV="1">
            <a:off x="8361540" y="2130552"/>
            <a:ext cx="1395108" cy="281601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18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BF7B7-1D77-06D6-0910-1C3CAA444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288D27F0-FB57-7BBA-7C2D-CEC0C8B1B58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288D27F0-FB57-7BBA-7C2D-CEC0C8B1B5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BBED480C-A2AD-05AF-A886-77C128506A1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EEC0D3-5B45-F3E1-A3D7-B4A8319DC0A8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40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3DBB7C7-139A-81A3-E823-A1E7FADFD63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B92E932-06BA-5B91-CDCE-278A26F8BCAF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5594693-1422-C355-861E-1EA611296497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8DD9C7CE-E247-7C18-DC41-CE2BEFD37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1FF2CE7-6500-71BA-8DCB-2268AE15C2E8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493F6CE-F4C6-3BA4-48A0-A31501ABDD36}"/>
              </a:ext>
            </a:extLst>
          </p:cNvPr>
          <p:cNvSpPr/>
          <p:nvPr/>
        </p:nvSpPr>
        <p:spPr>
          <a:xfrm>
            <a:off x="1674997" y="584240"/>
            <a:ext cx="8720035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REPETITION STATEMENT 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EFC6C08-5B82-C78A-1050-03C2785577B3}"/>
              </a:ext>
            </a:extLst>
          </p:cNvPr>
          <p:cNvGrpSpPr/>
          <p:nvPr/>
        </p:nvGrpSpPr>
        <p:grpSpPr>
          <a:xfrm>
            <a:off x="265403" y="1230571"/>
            <a:ext cx="11539222" cy="1285611"/>
            <a:chOff x="265403" y="1230571"/>
            <a:chExt cx="11539222" cy="128561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28196D8-F942-66C9-5E68-531A7196F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5403" y="1430307"/>
              <a:ext cx="11539222" cy="108587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B34DAAD-8C95-495B-679F-CC74918D0BD8}"/>
                </a:ext>
              </a:extLst>
            </p:cNvPr>
            <p:cNvSpPr/>
            <p:nvPr/>
          </p:nvSpPr>
          <p:spPr>
            <a:xfrm>
              <a:off x="2114550" y="124564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INITIALISATION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267D949-64C5-62AE-D5BE-B1068FC939D5}"/>
                </a:ext>
              </a:extLst>
            </p:cNvPr>
            <p:cNvSpPr/>
            <p:nvPr/>
          </p:nvSpPr>
          <p:spPr>
            <a:xfrm>
              <a:off x="5392049" y="123057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CONDITION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2E880E2-B7F9-D2C3-7299-5EFE5896E131}"/>
                </a:ext>
              </a:extLst>
            </p:cNvPr>
            <p:cNvSpPr/>
            <p:nvPr/>
          </p:nvSpPr>
          <p:spPr>
            <a:xfrm>
              <a:off x="8361540" y="123057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UPDATE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11EE291-E5CD-33D4-23B7-EC4A0DE87C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403" y="3162300"/>
            <a:ext cx="5287752" cy="20097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77A49C-680D-4AEB-0DBF-6EABAAA532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8226" y="3023049"/>
            <a:ext cx="4922947" cy="21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735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90766-B9D8-5302-100F-1C6005023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E297CF4F-7361-4312-D54D-44A2FCD94E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E297CF4F-7361-4312-D54D-44A2FCD94E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99B0B2C6-80A9-1BED-C5CB-8CC2B50B23A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A8AF14-486C-5D39-826B-3CB53EB4380E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41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765C135-5E20-CD5C-E586-F41785D18C9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41F3350-A6E7-2B7C-AF75-63901B5B645E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8E845F6-F7A7-DDC7-8E77-DBF97A2EDD62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F723FBB3-8CE5-CE19-D80C-EEB9430AE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EAD3C4C-267C-0B16-D97E-3339A269B7E9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2B0976A-AD73-B095-2F96-1D6FFABD0FF0}"/>
              </a:ext>
            </a:extLst>
          </p:cNvPr>
          <p:cNvSpPr/>
          <p:nvPr/>
        </p:nvSpPr>
        <p:spPr>
          <a:xfrm>
            <a:off x="1674997" y="584240"/>
            <a:ext cx="8720035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REPETITION STATEMENT 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7F7D635-52B6-85A8-7906-039C1A324B7F}"/>
              </a:ext>
            </a:extLst>
          </p:cNvPr>
          <p:cNvGrpSpPr/>
          <p:nvPr/>
        </p:nvGrpSpPr>
        <p:grpSpPr>
          <a:xfrm>
            <a:off x="265403" y="1230571"/>
            <a:ext cx="11539222" cy="1285611"/>
            <a:chOff x="265403" y="1230571"/>
            <a:chExt cx="11539222" cy="128561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41D8F13-314E-E152-6469-CF564CC4F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5403" y="1430307"/>
              <a:ext cx="11539222" cy="108587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5AA857-8BD0-3998-8BDE-9652BF2A68E2}"/>
                </a:ext>
              </a:extLst>
            </p:cNvPr>
            <p:cNvSpPr/>
            <p:nvPr/>
          </p:nvSpPr>
          <p:spPr>
            <a:xfrm>
              <a:off x="2114550" y="124564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INITIALISATION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392486E-3A4A-8931-5022-7C8D0E784209}"/>
                </a:ext>
              </a:extLst>
            </p:cNvPr>
            <p:cNvSpPr/>
            <p:nvPr/>
          </p:nvSpPr>
          <p:spPr>
            <a:xfrm>
              <a:off x="5392049" y="123057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CONDITION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22BB9E8-281C-50BF-79AB-8420F69169A2}"/>
                </a:ext>
              </a:extLst>
            </p:cNvPr>
            <p:cNvSpPr/>
            <p:nvPr/>
          </p:nvSpPr>
          <p:spPr>
            <a:xfrm>
              <a:off x="8361540" y="1230571"/>
              <a:ext cx="2760385" cy="10858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0070C0"/>
                  </a:solidFill>
                </a:rPr>
                <a:t>UPDATE</a:t>
              </a: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  <a:p>
              <a:pPr algn="ctr"/>
              <a:endParaRPr lang="en-ZA" dirty="0">
                <a:solidFill>
                  <a:srgbClr val="0070C0"/>
                </a:solidFill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EDC9FC7-5E1A-08AA-0BB7-123A63AA73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000" y="2729877"/>
            <a:ext cx="4688999" cy="23620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E78E41-8E51-5AD0-21C5-20378DC0D8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88" y="5241075"/>
            <a:ext cx="5006774" cy="58679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CD4A72-04B0-8167-EF6F-C9CBACE2351E}"/>
              </a:ext>
            </a:extLst>
          </p:cNvPr>
          <p:cNvCxnSpPr>
            <a:cxnSpLocks/>
          </p:cNvCxnSpPr>
          <p:nvPr/>
        </p:nvCxnSpPr>
        <p:spPr>
          <a:xfrm>
            <a:off x="5838825" y="2516182"/>
            <a:ext cx="0" cy="4219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67AE053-0D00-49D2-75D7-0F663AE6F0C5}"/>
              </a:ext>
            </a:extLst>
          </p:cNvPr>
          <p:cNvSpPr txBox="1"/>
          <p:nvPr/>
        </p:nvSpPr>
        <p:spPr>
          <a:xfrm>
            <a:off x="2028825" y="6410325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WHILE LOOP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10E8F7-B8CA-7CEF-51FF-03C8533C524A}"/>
              </a:ext>
            </a:extLst>
          </p:cNvPr>
          <p:cNvSpPr txBox="1"/>
          <p:nvPr/>
        </p:nvSpPr>
        <p:spPr>
          <a:xfrm>
            <a:off x="6353176" y="6410325"/>
            <a:ext cx="1443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FOR LOOP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5B0493-0B0B-F6CC-8384-CE07F6B2F4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03316" y="5241075"/>
            <a:ext cx="5018609" cy="58679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7F7EBFA-8978-C478-6942-3B5B0A87155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47763" y="2994495"/>
            <a:ext cx="5261081" cy="195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99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2531C-D992-2690-8564-8A0B89158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87887882-1AB2-74A2-6F58-884E00FD54D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87887882-1AB2-74A2-6F58-884E00FD54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12B6344C-AE07-CAD3-3735-9DCF8F61726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24F6BD-480D-23E6-B6D2-851DFA20E5AA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42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0C6DBD8-7AE9-818D-48E3-7027BF88C1A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6E8942-D97A-CE28-4B22-E19571C33A22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E927A03-ED99-3EA8-9240-C075C95E0ECF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63DBD820-2763-BD91-DEA5-B066029CA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F3D989A-DCAD-42C9-8630-E2200CD6FA92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7944D0F-2291-3C91-0814-77FB7AA0A768}"/>
              </a:ext>
            </a:extLst>
          </p:cNvPr>
          <p:cNvSpPr/>
          <p:nvPr/>
        </p:nvSpPr>
        <p:spPr>
          <a:xfrm>
            <a:off x="1674997" y="584240"/>
            <a:ext cx="8720035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REPETITION STATEMENT NOTES 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71A82C-1FFB-1A66-129D-A08F7504A93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55" r="1"/>
          <a:stretch>
            <a:fillRect/>
          </a:stretch>
        </p:blipFill>
        <p:spPr>
          <a:xfrm>
            <a:off x="161925" y="2154334"/>
            <a:ext cx="5317681" cy="2077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33B85F-4AF6-2872-7782-62F0A5DE5F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925" y="4428592"/>
            <a:ext cx="5553075" cy="18451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16D662D-AC29-6AFD-A809-9461308535A4}"/>
              </a:ext>
            </a:extLst>
          </p:cNvPr>
          <p:cNvSpPr/>
          <p:nvPr/>
        </p:nvSpPr>
        <p:spPr>
          <a:xfrm>
            <a:off x="6712396" y="1911430"/>
            <a:ext cx="4554807" cy="30351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LM Roman 12" panose="00000500000000000000" pitchFamily="50" charset="0"/>
              </a:rPr>
              <a:t>ADVANTAGE 1: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LM Roman 12" panose="00000500000000000000" pitchFamily="50" charset="0"/>
              </a:rPr>
              <a:t>Multiple control variables (can be used instead of nested control structures).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LM Roman 12" panose="00000500000000000000" pitchFamily="50" charset="0"/>
              </a:rPr>
              <a:t>Listed as comma separated list.</a:t>
            </a: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C0D5D0B8-1C3A-65DC-2030-EC1140DDBADC}"/>
              </a:ext>
            </a:extLst>
          </p:cNvPr>
          <p:cNvSpPr/>
          <p:nvPr/>
        </p:nvSpPr>
        <p:spPr>
          <a:xfrm rot="21134803">
            <a:off x="1466785" y="2727354"/>
            <a:ext cx="1733616" cy="43815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8935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FF0D5-BB16-A7D9-A172-C2DD4940F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295B0C78-E3B0-9E5D-66F4-59A073B36B0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295B0C78-E3B0-9E5D-66F4-59A073B36B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C3CD7FB0-D1EB-D38C-147B-FEE3441764C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2DD158-73D5-B89B-C529-59A65F4F0525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43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26DFE9D-12E1-B4AC-31FB-74C13C2D76F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B28DF02-A30C-72D9-D0DA-1DE9B9A559C0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DE24574-270A-66E3-899D-760FE0A32140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71121DF4-D5FE-BEAC-121C-ADD3AEC64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6DB4C7C-A808-95C1-008D-F1BCA0E7A8C0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FBD21E7-93EC-5D77-C513-A9226A18895D}"/>
              </a:ext>
            </a:extLst>
          </p:cNvPr>
          <p:cNvSpPr/>
          <p:nvPr/>
        </p:nvSpPr>
        <p:spPr>
          <a:xfrm>
            <a:off x="1674997" y="584240"/>
            <a:ext cx="8720035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REPETITION STATEMENT NOTES 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2EBDE-FAFB-1CF7-64DD-7E6ACFBBAE8E}"/>
              </a:ext>
            </a:extLst>
          </p:cNvPr>
          <p:cNvSpPr/>
          <p:nvPr/>
        </p:nvSpPr>
        <p:spPr>
          <a:xfrm>
            <a:off x="6712396" y="1911430"/>
            <a:ext cx="4554807" cy="30351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LM Roman 12" panose="00000500000000000000" pitchFamily="50" charset="0"/>
              </a:rPr>
              <a:t>ADVANTAGE 2:</a:t>
            </a:r>
          </a:p>
          <a:p>
            <a:pPr algn="ctr"/>
            <a:r>
              <a:rPr lang="en-US" sz="2000" b="1" dirty="0" err="1">
                <a:solidFill>
                  <a:schemeClr val="bg1"/>
                </a:solidFill>
                <a:latin typeface="LM Roman 12" panose="00000500000000000000" pitchFamily="50" charset="0"/>
              </a:rPr>
              <a:t>Initialisation</a:t>
            </a:r>
            <a:r>
              <a:rPr lang="en-US" sz="2000" b="1" dirty="0">
                <a:solidFill>
                  <a:schemeClr val="bg1"/>
                </a:solidFill>
                <a:latin typeface="LM Roman 12" panose="00000500000000000000" pitchFamily="50" charset="0"/>
              </a:rPr>
              <a:t>, condition (loop continuation), and update (increments/decrements) statements can be arithmetic expressions.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991EB0-FF5B-841C-DDF5-2303AB06EB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513" y="1498640"/>
            <a:ext cx="4732661" cy="2162838"/>
          </a:xfrm>
          <a:prstGeom prst="rect">
            <a:avLst/>
          </a:prstGeom>
        </p:spPr>
      </p:pic>
      <p:sp>
        <p:nvSpPr>
          <p:cNvPr id="17" name="Arrow: Left 16">
            <a:extLst>
              <a:ext uri="{FF2B5EF4-FFF2-40B4-BE49-F238E27FC236}">
                <a16:creationId xmlns:a16="http://schemas.microsoft.com/office/drawing/2014/main" id="{5AE07239-B744-78C6-80FD-8C02A77C8E6C}"/>
              </a:ext>
            </a:extLst>
          </p:cNvPr>
          <p:cNvSpPr/>
          <p:nvPr/>
        </p:nvSpPr>
        <p:spPr>
          <a:xfrm rot="19620359">
            <a:off x="3098616" y="1850281"/>
            <a:ext cx="1733616" cy="436347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4C24E4-DD1F-FFCE-1EFA-0D3C4B032A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513" y="4033381"/>
            <a:ext cx="5955267" cy="223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88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4541F-A3E5-328D-420B-D1B3CEC79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72FB8EE5-9255-FC96-19BC-DBE0DF7A94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72FB8EE5-9255-FC96-19BC-DBE0DF7A94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D1FBAB15-B961-EBCF-B527-73B26BE4E07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E8DC56-12B9-ADC2-A714-239567A8605B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44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8977E39-7646-6E7C-1900-CC5302E0D49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9DA03DB-7FBC-4FBB-8CC5-3752AC10B123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AAD18D4-5F6B-A234-F1C2-DDB7AB29D4E9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AB1C64C2-A1DA-0445-42B9-95D2060F9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E212F20-D9F6-C130-4B8E-554951DBA3B0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493642D-5297-D186-389B-1739D77F3269}"/>
              </a:ext>
            </a:extLst>
          </p:cNvPr>
          <p:cNvSpPr/>
          <p:nvPr/>
        </p:nvSpPr>
        <p:spPr>
          <a:xfrm>
            <a:off x="1674997" y="584240"/>
            <a:ext cx="8720035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REPETITION STATEMENT NOTES I (SUMMARY)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200E90-6B84-8A36-5917-4F57BF545D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0601" y="1129308"/>
            <a:ext cx="8131245" cy="52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825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356EB-A432-07B1-A635-37BAF2903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06939F95-C49A-3075-53D8-2CC73D01180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06939F95-C49A-3075-53D8-2CC73D0118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A62FD151-7B70-56CC-E43B-C8B813144B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86F7AF-AB1B-D1C6-2011-F822E34370BD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45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856D50C-196A-83D5-AB3A-BB7A162D173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0589670-379A-683A-7DF0-A628B3D3A9F9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59DAB92-52CF-3D4C-58A6-8F86229A75D6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A67404E7-4AC9-FCA1-2ED7-0CA7241A6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5CB7309-203B-4BB4-1F05-E4A76F6E4BAB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4484743-A5E6-CDD5-7412-88EBD6EA3347}"/>
              </a:ext>
            </a:extLst>
          </p:cNvPr>
          <p:cNvSpPr/>
          <p:nvPr/>
        </p:nvSpPr>
        <p:spPr>
          <a:xfrm>
            <a:off x="1674997" y="584240"/>
            <a:ext cx="8720035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REPETITION STATEMENT EXAMPLES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A08A40-5B23-8BF9-71A3-CE269303D5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1692" y="1328465"/>
            <a:ext cx="10581523" cy="565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BFFAA4-1CCF-5C85-8673-83D8F9A453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281" y="2335434"/>
            <a:ext cx="5140820" cy="25565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9ABD6D-271C-F527-C16D-00066FB4C6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6859" y="2952750"/>
            <a:ext cx="5938013" cy="140969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9BF604-0F61-BEDD-2F17-E009867B3EDB}"/>
              </a:ext>
            </a:extLst>
          </p:cNvPr>
          <p:cNvCxnSpPr>
            <a:cxnSpLocks/>
          </p:cNvCxnSpPr>
          <p:nvPr/>
        </p:nvCxnSpPr>
        <p:spPr>
          <a:xfrm>
            <a:off x="6096000" y="2121226"/>
            <a:ext cx="26775" cy="34710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BC2EEA2-4076-75B8-45CF-BE7951DD18B3}"/>
              </a:ext>
            </a:extLst>
          </p:cNvPr>
          <p:cNvSpPr txBox="1"/>
          <p:nvPr/>
        </p:nvSpPr>
        <p:spPr>
          <a:xfrm>
            <a:off x="2214624" y="5119698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SAMPLE CODE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B6AD56-DDD7-2065-D7F2-A442632139C9}"/>
              </a:ext>
            </a:extLst>
          </p:cNvPr>
          <p:cNvSpPr txBox="1"/>
          <p:nvPr/>
        </p:nvSpPr>
        <p:spPr>
          <a:xfrm>
            <a:off x="6538975" y="5119698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95153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1BC9D-6EE1-7FD7-1EC0-1F730BA7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54B7CFA3-E512-C013-AEC4-BE08DAC942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54B7CFA3-E512-C013-AEC4-BE08DAC942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1657D6ED-1A93-1755-EA5B-65C10FFABB0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7BF21C-7927-C043-898F-98866C9D315D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46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86A692F-EECF-E0CA-A6E1-7F6C01FFD35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1F6D76C-2D0B-3B9F-C107-151EE46B0214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E2F5A0-1E99-8441-5206-090773C59376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A973EE73-0180-C99F-AACA-8E6C643BF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2B9CB25-2997-5162-C449-5D35DED4F81C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CB09766-3018-D684-A09D-FD1225D2D488}"/>
              </a:ext>
            </a:extLst>
          </p:cNvPr>
          <p:cNvSpPr/>
          <p:nvPr/>
        </p:nvSpPr>
        <p:spPr>
          <a:xfrm>
            <a:off x="1674997" y="584240"/>
            <a:ext cx="8720035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REPETITION STATEMENT EXAMPLES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FC8876-5C11-222C-089E-CCF88FC66E10}"/>
              </a:ext>
            </a:extLst>
          </p:cNvPr>
          <p:cNvCxnSpPr>
            <a:cxnSpLocks/>
          </p:cNvCxnSpPr>
          <p:nvPr/>
        </p:nvCxnSpPr>
        <p:spPr>
          <a:xfrm>
            <a:off x="6096000" y="2121226"/>
            <a:ext cx="26775" cy="34710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8092040-5459-634C-3617-856B1B39953D}"/>
              </a:ext>
            </a:extLst>
          </p:cNvPr>
          <p:cNvSpPr txBox="1"/>
          <p:nvPr/>
        </p:nvSpPr>
        <p:spPr>
          <a:xfrm>
            <a:off x="2214624" y="5119698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SAMPLE CODE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79F0D7-54EF-1AFC-2CB9-5767753D7BE1}"/>
              </a:ext>
            </a:extLst>
          </p:cNvPr>
          <p:cNvSpPr txBox="1"/>
          <p:nvPr/>
        </p:nvSpPr>
        <p:spPr>
          <a:xfrm>
            <a:off x="6538975" y="5119698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61FF47-DEE5-D459-A88E-B864364381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8406" y="1108611"/>
            <a:ext cx="10041138" cy="5205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693801-4A9D-1C00-BCFB-1246DBBC1E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513" y="2410739"/>
            <a:ext cx="5507710" cy="23254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B89D23-CAD4-D95C-0AFF-FD863FEF59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1956" y="2937153"/>
            <a:ext cx="5845047" cy="12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686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A83E6-CA83-E4FC-385B-E0192A712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4F1A4232-DB25-182D-A25D-920E87E98A3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4F1A4232-DB25-182D-A25D-920E87E98A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537BDABF-8A92-492D-9A51-C9BDFC9566C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D57C05-0B70-7459-0466-9430E8314A70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47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44B0F52-0D49-C26A-1E17-FE35444D910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D220B5E-FA72-145E-CDF5-2D1E2A8A5A1F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F2BA49A-86A1-9CED-1A3B-4163418C7437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ED2DA879-8B80-D7E5-2105-33F4E62A2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A71DF79-DC1F-07D6-BF03-89E533A91726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B0EC277-9FFE-1314-6B8C-6A169E08A3C0}"/>
              </a:ext>
            </a:extLst>
          </p:cNvPr>
          <p:cNvSpPr/>
          <p:nvPr/>
        </p:nvSpPr>
        <p:spPr>
          <a:xfrm>
            <a:off x="1674997" y="584240"/>
            <a:ext cx="8720035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REPETITION STATEMENT EXAMPLES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88317E-B4C5-B3B3-2B8C-AB4FDB3E3081}"/>
              </a:ext>
            </a:extLst>
          </p:cNvPr>
          <p:cNvCxnSpPr>
            <a:cxnSpLocks/>
          </p:cNvCxnSpPr>
          <p:nvPr/>
        </p:nvCxnSpPr>
        <p:spPr>
          <a:xfrm>
            <a:off x="6096000" y="2121226"/>
            <a:ext cx="26775" cy="34710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EFEB554-71C3-8235-6756-CA22F0488382}"/>
              </a:ext>
            </a:extLst>
          </p:cNvPr>
          <p:cNvSpPr txBox="1"/>
          <p:nvPr/>
        </p:nvSpPr>
        <p:spPr>
          <a:xfrm>
            <a:off x="2214624" y="5119698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SAMPLE CODE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9C5AE7-E27A-E986-A7DF-8592FE177940}"/>
              </a:ext>
            </a:extLst>
          </p:cNvPr>
          <p:cNvSpPr txBox="1"/>
          <p:nvPr/>
        </p:nvSpPr>
        <p:spPr>
          <a:xfrm>
            <a:off x="6538975" y="5119698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0872F4-1D33-569F-1B8E-10F3FC3FB2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220" y="1245641"/>
            <a:ext cx="11448490" cy="5213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4DB6EE-324E-3B87-2E50-E9515AB26A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513" y="2482064"/>
            <a:ext cx="5528575" cy="22660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9545BB-3F63-E786-6170-0E20A02763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5922" y="3069189"/>
            <a:ext cx="5857116" cy="65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362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BD199-CFEF-B2CC-45B7-E2E53AAD3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7ED2C7E6-1D47-4B24-7472-93D35D09D4B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7ED2C7E6-1D47-4B24-7472-93D35D09D4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EDFB085E-190C-C8CE-DA98-A0EB335B5EA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028272-A69D-D604-6D2C-B83DC2B89263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48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185E3B9-8B24-591C-4A19-0183D7CCE57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D3B4A8D-B994-105C-6653-EE9FE2D6F60D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FD9EB0E-4BDC-8E07-BE60-69E2EC904EC3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1DAA9C38-B63E-8CFA-825D-A821E6221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0D02D0D-1703-D3AD-0D7B-E52260DF5CF3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38A1785-885E-8879-6868-EECBBF861655}"/>
              </a:ext>
            </a:extLst>
          </p:cNvPr>
          <p:cNvSpPr/>
          <p:nvPr/>
        </p:nvSpPr>
        <p:spPr>
          <a:xfrm>
            <a:off x="1674997" y="584240"/>
            <a:ext cx="8720035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REPETITION STATEMENT EXAMPLES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119F711-0D5C-DD60-0D20-06406B90BD04}"/>
              </a:ext>
            </a:extLst>
          </p:cNvPr>
          <p:cNvCxnSpPr>
            <a:cxnSpLocks/>
          </p:cNvCxnSpPr>
          <p:nvPr/>
        </p:nvCxnSpPr>
        <p:spPr>
          <a:xfrm>
            <a:off x="6096000" y="2121226"/>
            <a:ext cx="26775" cy="34710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04F61FB-6EC9-61FC-46F6-7C5073270705}"/>
              </a:ext>
            </a:extLst>
          </p:cNvPr>
          <p:cNvSpPr txBox="1"/>
          <p:nvPr/>
        </p:nvSpPr>
        <p:spPr>
          <a:xfrm>
            <a:off x="2214624" y="5119698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SAMPLE CODE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79397A-ADCB-68CA-F209-5278AAA42047}"/>
              </a:ext>
            </a:extLst>
          </p:cNvPr>
          <p:cNvSpPr txBox="1"/>
          <p:nvPr/>
        </p:nvSpPr>
        <p:spPr>
          <a:xfrm>
            <a:off x="6538975" y="5119698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ADAB49-5AD8-1B1C-76A2-F6E8821A8A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2484" y="1230571"/>
            <a:ext cx="9958288" cy="7689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0ACEF7-28D3-9A79-CEB8-39948DA6BF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9875" y="2762086"/>
            <a:ext cx="4417112" cy="19110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6E491F-C475-93CC-588A-650A3F81FD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675" y="3600605"/>
            <a:ext cx="6023610" cy="6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674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39733-0D30-AC17-FE2C-0D9E2A6D4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E963478C-092E-DD0C-43FE-1CEBE974B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E963478C-092E-DD0C-43FE-1CEBE974B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B76B96F5-0361-E97D-4772-1703C0ADE99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7EBFB3-F8D4-13D9-65C6-D47CBEF03630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49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8098B45-11F6-D2F4-28DB-8FCE6909973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0EC5953-23EC-BAE0-3BB2-6283A2568576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1161596-6090-595E-1F8F-8BB99462EAFD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794CEE6C-AA77-0333-27CE-95F5B57B6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EEB1D9B-5A89-017D-1586-15E74C1F6CCB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</a:t>
              </a:r>
              <a:r>
                <a:rPr lang="en-ZA" sz="2400" dirty="0">
                  <a:solidFill>
                    <a:prstClr val="white"/>
                  </a:solidFill>
                  <a:latin typeface="Aptos" panose="02110004020202020204"/>
                </a:rPr>
                <a:t>31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EBD97D1B-2C4B-B061-ED66-4E6FC5360D55}"/>
              </a:ext>
            </a:extLst>
          </p:cNvPr>
          <p:cNvSpPr/>
          <p:nvPr/>
        </p:nvSpPr>
        <p:spPr>
          <a:xfrm>
            <a:off x="1674997" y="584240"/>
            <a:ext cx="8720035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REPETITION STATEMENT EXAMPLES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337D13-135A-04B1-FD06-846549A83F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34" y="1829880"/>
            <a:ext cx="7583066" cy="39463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FE68B3-B1CD-D2EF-96EE-41F23083EE91}"/>
              </a:ext>
            </a:extLst>
          </p:cNvPr>
          <p:cNvSpPr txBox="1"/>
          <p:nvPr/>
        </p:nvSpPr>
        <p:spPr>
          <a:xfrm>
            <a:off x="4333875" y="1230571"/>
            <a:ext cx="3029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EXAMPLE FROM TEXTBOOK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9AA84559-9D55-FFA2-22A8-3593AA600D3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665000" y="1498640"/>
              <a:ext cx="4823056" cy="2712968"/>
            </p:xfrm>
            <a:graphic>
              <a:graphicData uri="http://schemas.microsoft.com/office/powerpoint/2016/slidezoom">
                <pslz:sldZm>
                  <pslz:sldZmObj sldId="451" cId="3937915245">
                    <pslz:zmPr id="{C676BC5E-7CBC-416D-8D5D-31E5AEF59C2B}" returnToParent="0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823056" cy="2712968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extLst>
                  <a:ext uri="{FF2B5EF4-FFF2-40B4-BE49-F238E27FC236}">
                    <a16:creationId xmlns:a16="http://schemas.microsoft.com/office/drawing/2014/main" id="{9AA84559-9D55-FFA2-22A8-3593AA600D3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65000" y="1498640"/>
                <a:ext cx="4823056" cy="27129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B42F117A-4254-101B-392C-5F1BA284B7D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53350" y="3447022"/>
              <a:ext cx="4140750" cy="2329172"/>
            </p:xfrm>
            <a:graphic>
              <a:graphicData uri="http://schemas.microsoft.com/office/powerpoint/2016/slidezoom">
                <pslz:sldZm>
                  <pslz:sldZmObj sldId="452" cId="1111974343">
                    <pslz:zmPr id="{0AE72FBC-3CCE-48F2-9B07-64170CD1ABF5}" returnToParent="0" transitionDur="1000" showBg="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140750" cy="232917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extLst>
                  <a:ext uri="{FF2B5EF4-FFF2-40B4-BE49-F238E27FC236}">
                    <a16:creationId xmlns:a16="http://schemas.microsoft.com/office/drawing/2014/main" id="{B42F117A-4254-101B-392C-5F1BA284B7D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753350" y="3447022"/>
                <a:ext cx="4140750" cy="232917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5234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1F267C-B043-9F67-4121-BBAD61C1D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095513"/>
            <a:ext cx="11138908" cy="369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915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A780DB-EDA3-30E8-B429-E593D1192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5" y="178944"/>
            <a:ext cx="7048500" cy="3983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EC8666-BA0B-D4AD-C612-CDDBCA151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25" y="4404492"/>
            <a:ext cx="6000750" cy="24535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95C06-B79C-50E5-A915-65C9B760E161}"/>
              </a:ext>
            </a:extLst>
          </p:cNvPr>
          <p:cNvSpPr txBox="1"/>
          <p:nvPr/>
        </p:nvSpPr>
        <p:spPr>
          <a:xfrm>
            <a:off x="7872709" y="2028825"/>
            <a:ext cx="461665" cy="91352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ZA" dirty="0"/>
              <a:t>C 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AA27A0-EB45-FCB8-2828-CBC665666B45}"/>
              </a:ext>
            </a:extLst>
          </p:cNvPr>
          <p:cNvSpPr txBox="1"/>
          <p:nvPr/>
        </p:nvSpPr>
        <p:spPr>
          <a:xfrm>
            <a:off x="7872710" y="5105400"/>
            <a:ext cx="461665" cy="92910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ZA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1119743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784</Words>
  <Application>Microsoft Office PowerPoint</Application>
  <PresentationFormat>Widescreen</PresentationFormat>
  <Paragraphs>171</Paragraphs>
  <Slides>22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Aptos</vt:lpstr>
      <vt:lpstr>Aptos Display</vt:lpstr>
      <vt:lpstr>Arial</vt:lpstr>
      <vt:lpstr>Bradley Hand ITC</vt:lpstr>
      <vt:lpstr>Calibri</vt:lpstr>
      <vt:lpstr>LM Roman 12</vt:lpstr>
      <vt:lpstr>Segoe UI Black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2026-08-23T20:08:22Z</dcterms:created>
  <dcterms:modified xsi:type="dcterms:W3CDTF">2026-08-23T20:08:43Z</dcterms:modified>
</cp:coreProperties>
</file>