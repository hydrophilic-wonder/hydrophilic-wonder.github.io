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97" r:id="rId2"/>
    <p:sldId id="610" r:id="rId3"/>
    <p:sldId id="613" r:id="rId4"/>
    <p:sldId id="614" r:id="rId5"/>
    <p:sldId id="615" r:id="rId6"/>
    <p:sldId id="616" r:id="rId7"/>
    <p:sldId id="617" r:id="rId8"/>
    <p:sldId id="619" r:id="rId9"/>
    <p:sldId id="620" r:id="rId10"/>
    <p:sldId id="621" r:id="rId11"/>
    <p:sldId id="622" r:id="rId12"/>
    <p:sldId id="623" r:id="rId13"/>
    <p:sldId id="642" r:id="rId14"/>
    <p:sldId id="624" r:id="rId15"/>
    <p:sldId id="626" r:id="rId16"/>
    <p:sldId id="627" r:id="rId17"/>
    <p:sldId id="628" r:id="rId18"/>
    <p:sldId id="630" r:id="rId19"/>
    <p:sldId id="631" r:id="rId20"/>
    <p:sldId id="632" r:id="rId21"/>
    <p:sldId id="633" r:id="rId22"/>
    <p:sldId id="634" r:id="rId23"/>
    <p:sldId id="635" r:id="rId24"/>
    <p:sldId id="636" r:id="rId25"/>
    <p:sldId id="637" r:id="rId26"/>
    <p:sldId id="638" r:id="rId27"/>
    <p:sldId id="639" r:id="rId28"/>
    <p:sldId id="640" r:id="rId29"/>
    <p:sldId id="641" r:id="rId30"/>
    <p:sldId id="64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470CC5-8E5D-49E9-A130-C51F43AC70FE}" v="29" dt="2026-08-21T07:15:55.0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1507" y="1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59638-6B04-4E3F-A215-54F7CF0B1BE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97C80E-F9E6-4C5F-A659-AB06FD89A1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9129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Welcome to lecture 14. Today’s content focuses on storing and manipulating strings or array of characters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94D90-D1D3-263E-C6A8-7E1DA4842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0943E-DA53-CF8F-815D-9923F95411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CA5682-B017-2518-AC0E-2E603A100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We have already learning how to declare and initialise arrays of integers, doubles, or characters. I just want to clarify a few things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3A075-F215-ED3F-B383-D261B2531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26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C70D-EA9F-0076-2153-AB5D3754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6D5DE-70CC-A7E1-8E0D-00ACEF450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64FEE-61B5-2791-6AC0-C776E606E5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E8A0B3-71DB-B2B1-A750-723C34E27B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678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C90E7-F539-675D-D40C-20617823F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567572-34F6-95F5-63D4-48B139252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7C03D6-1192-0260-E33C-0F25B87EE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69516-3AF0-6DBF-EDCC-B1F1231B4C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8622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3966E-7463-BBEB-A3FB-57B8CD32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7F4FE4-05D0-3D20-404C-B89C7DFAB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3999F2-D9DD-E9B3-216F-016BE1094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B5811-E734-E5EF-AFCF-147C8B5B8E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742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ACB2A-C493-49A9-337B-2CC3940A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E3A17-CFC0-8871-E412-0FCE05684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DD9A7-7666-CBAD-4F1D-EB226C3717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5E897-F8D7-D293-92C3-ECB3E1944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5733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6088C-1325-DD7C-047C-B3F56EAF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46C7B-04B0-D7FD-DFAD-B4D5EC4BEC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9A2FF-0AAA-E431-8C53-5ABB14A5E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E3EC6-085E-31AE-23DC-83B627342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0125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E54B2-9D37-6CA9-0D80-2E475133F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56092-10D7-6FFC-55C3-64B77069A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AAED04-1A7C-CFE2-0AFA-F34158120E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D4552-D0ED-74F8-8E4F-35133627C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8722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5AF0-785A-761A-4589-D02D8BC6A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4E2AD-DBA1-8DD6-F8AB-3D756F807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7C38F-C041-E8BA-BB38-990E194C9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E3A81-3887-4126-826D-BA6AE7BFB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067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5B8C-0100-8644-B587-C5EA34814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E4687-ED5A-57D9-C667-A063243002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B4835-E7AA-A74E-0084-482579382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FFB0D-F688-FE48-61EF-7B2295EBC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0450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AAFF9-A997-3D89-50FA-7D8046C8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52756-DF57-302D-21EC-AFF08B8CF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A5C8A-25A4-E98C-07D5-CFCF4487D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61CB-A653-BA3A-9858-588C1C9664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9437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FBD4-08F8-BE94-36E4-9D510C63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E884D-999E-B56C-4EF0-483260693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388E6-B8EE-1D16-1492-DF32E2D7F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fast; at most n steps, where 2n &gt; number of elements</a:t>
            </a:r>
          </a:p>
          <a:p>
            <a:r>
              <a:rPr lang="en-US" dirty="0"/>
              <a:t>A 30 element array takes at most 5 steps </a:t>
            </a:r>
          </a:p>
          <a:p>
            <a:r>
              <a:rPr lang="en-US" dirty="0"/>
              <a:t>24 &lt;30 &lt;25 so at most 5 steps</a:t>
            </a:r>
          </a:p>
          <a:p>
            <a:r>
              <a:rPr lang="en-US" dirty="0"/>
              <a:t>More efficient than linear search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AEB72-DC4D-9492-8FCA-F91473BA2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3474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0AD49-ACE6-30F9-B065-C973B26C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AA33AF-8CC5-24A8-DD9B-2B2975E0D4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FBD92-3BE4-1FC1-5B13-609DFB1D4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BDE3D-BD61-AB12-2B86-7761A329F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23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E90D-34AF-BD84-EB64-18C8E0B40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AD205C-A44C-1C0B-2230-1460BDABD6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0C85B-BF76-5870-2775-CAC10EAD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2C387-8FE9-5C98-B008-19550936C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649EA-7C51-D885-9E14-83661734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986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8D38-BB2E-322E-065F-AB7BC0617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12EA-DAC4-D481-DC24-D34547A0A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1BB7A-B8B5-7E53-1C12-13356B7CD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9D30-E71D-44A5-250B-3EFC5446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39406-09BE-FD2D-0BC1-FDB6FE49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85002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0739-0DDB-C256-009B-EDD6EB1D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4684F7-AEEB-591B-4930-E43B035F5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5E41C-D604-BA2A-FBC8-1C8E856A4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0A00B-6201-B6E9-43B0-4076C277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B95F8-1776-4B13-E920-C24902EA3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953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B452-328B-2386-5B13-491022F1C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41A06-04AB-097C-7BE0-663AF46A4A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8683CE-B78C-B9C6-FFA4-824ED3BF2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6DB0A-04EB-4AFE-280A-7EC98E16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F300A-E0B3-E4F2-B0E0-11464C12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8C321-CCE4-AA37-01F9-23FC613DF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34237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51439-7840-219C-4E56-F02C2E9E3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D14D6-E077-FAE9-D633-9EEBCDD8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084FD-F970-C683-7164-F0486C63C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C81C1-558F-DEB0-F4B6-6FFF15F45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CDF5A-904E-67D8-CFED-4E0B844899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587EA-E273-06B5-2F31-30E9B538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59CED3-EE93-9A8C-D8A3-8A716AC4B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D9C301-0BEC-569B-009F-9B86E4E7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6187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658B7-5C44-7B5E-5B9A-207B253FE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01E05D-F125-B49E-9FED-7C6895A0A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F74C7A-C1D7-EDC4-BA5E-6FBD7D0C2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A0470-6173-A70E-943A-4075D368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7325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AF0265-11B9-FDC2-B9AF-1FE0DC029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497651-E3C5-3766-CBAD-BD5FA623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8CA26-439A-0AA7-5CDE-D544BA70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4386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3592-78E1-7357-8E9C-EB7A3B5DF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8AF85-1AE9-F163-528B-5ABEFE565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9B9A1-71E3-2BA6-6D28-9F956F0CA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19A93-BD2E-F0B7-CD58-8BDA79C9E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1AF90-1384-0E5E-3FF1-F457C7D4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CEE92-28D9-E25F-5DD6-E41397E0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4830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906BD-2465-89E8-EAD0-D384FB51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9A3257-8E84-0B48-B19B-718788A3DB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0F000-440F-61A3-DED4-F0F7A33AC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0F65C-E1F4-EC1B-799A-74FD15CBC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9FF1A-0BE8-0824-857F-31F69BAD4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3A383-0E82-1E27-56F5-D48737DF9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64695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AAD6-1102-F37F-A5E6-7A3DDFDC8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B3F36-0A82-7A9A-B60F-6A4E9AA33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9C162-B30A-41BD-0528-2367AB2D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DFD498-6A3F-0BC0-CDF5-AF29A53D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D6E5E-4F4B-93E3-BDFC-14C6DE24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0896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D02140-90AB-AF3D-8AC4-BA220E907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84C6-42F0-7065-018D-AFCF3F154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B23E6-791E-EC4F-EA2E-562C3CE7B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7D7C2-93BA-A92B-3A2C-6D381155D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4F120-F5D7-BD00-02E9-918A43AF1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352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0FD85-7A2D-A79D-8176-661F74A5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9ED1E-843E-4594-AB2D-48F7CC0E6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CC5ED-C550-0C0F-66C9-C4E6382A3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A8272-51F7-4892-8746-9ED96CBD4A2A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F3CC7-3B9E-AF67-5A9A-16DAEB12E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4EB-4297-0F0B-3255-E6061591A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35BFE-AC06-4014-AF8E-D970F5D8635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063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gif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jpe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6. Arrays 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14| Storing &amp; manipulating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strings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 Passing strings to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 Searching arrays: linear and binary search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7980649" y="6304002"/>
            <a:ext cx="217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6: Arrays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839E-86FA-C032-F937-C78BFE4E0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987" y="2841912"/>
            <a:ext cx="5464013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66AD-BDCF-629C-D652-781980D6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5196452-7D4E-6BEB-1CE6-84B21DCB056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75E420C-D2E4-D58F-E760-FBE9E794646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3FC197-1DF5-0E9C-933C-4ABAA09C527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E544A47-7D9E-6F33-59D6-520B870BB6E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4357194-3C4C-2F0E-840E-8D6BB74081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9457925-36D3-E199-3DA7-8147B47E3E8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CAFEA60-268B-5E00-A1D6-DAAF289430C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Short recap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3243049-902A-45AE-5098-6980A09AA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0307"/>
            <a:ext cx="3889224" cy="1694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2C28C-D54D-1962-C75B-4D34B11829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72"/>
          <a:stretch>
            <a:fillRect/>
          </a:stretch>
        </p:blipFill>
        <p:spPr>
          <a:xfrm>
            <a:off x="4054852" y="1430307"/>
            <a:ext cx="3492578" cy="1953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1D6DAF-F56D-CE04-E175-C5BDE29FC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884" y="1344682"/>
            <a:ext cx="3449457" cy="2038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F68A22-EE59-3A9A-E52A-3681F6C627F5}"/>
              </a:ext>
            </a:extLst>
          </p:cNvPr>
          <p:cNvSpPr txBox="1"/>
          <p:nvPr/>
        </p:nvSpPr>
        <p:spPr>
          <a:xfrm>
            <a:off x="0" y="1400584"/>
            <a:ext cx="3929450" cy="20284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89DD8A-74D9-1854-473A-7F99081960D3}"/>
              </a:ext>
            </a:extLst>
          </p:cNvPr>
          <p:cNvSpPr txBox="1"/>
          <p:nvPr/>
        </p:nvSpPr>
        <p:spPr>
          <a:xfrm>
            <a:off x="4113277" y="1400584"/>
            <a:ext cx="3523581" cy="2038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90F82-0434-BA9C-A71D-05DCD6444470}"/>
              </a:ext>
            </a:extLst>
          </p:cNvPr>
          <p:cNvSpPr txBox="1"/>
          <p:nvPr/>
        </p:nvSpPr>
        <p:spPr>
          <a:xfrm>
            <a:off x="7771483" y="1400584"/>
            <a:ext cx="3929450" cy="2038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09A806-F9AA-368A-A2A8-FD1CE778D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350" y="4513309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0B9D58B3-448C-FFB4-0BAD-4FCE9BD4FF1F}"/>
              </a:ext>
            </a:extLst>
          </p:cNvPr>
          <p:cNvSpPr/>
          <p:nvPr/>
        </p:nvSpPr>
        <p:spPr>
          <a:xfrm rot="16200000">
            <a:off x="4433764" y="441214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F16B824-2A32-3AA1-C82A-D4F0F4F6A8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3601" y="4437898"/>
            <a:ext cx="6650570" cy="4680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487531-05AD-D93B-F5DC-1341F93704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352" y="5056535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64A16173-B7A4-C849-B6A8-579755CBCC6F}"/>
              </a:ext>
            </a:extLst>
          </p:cNvPr>
          <p:cNvSpPr/>
          <p:nvPr/>
        </p:nvSpPr>
        <p:spPr>
          <a:xfrm rot="16200000">
            <a:off x="4586270" y="4945492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1BF8B9-CB24-8C57-AF4D-51E652B9A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7575" y="5017683"/>
            <a:ext cx="6416596" cy="281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F831ACD-4116-A307-9518-9C74601E6D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0350" y="5652876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60A79260-C06D-E9D5-D7CF-6D07E8212730}"/>
              </a:ext>
            </a:extLst>
          </p:cNvPr>
          <p:cNvSpPr/>
          <p:nvPr/>
        </p:nvSpPr>
        <p:spPr>
          <a:xfrm rot="16200000">
            <a:off x="4701401" y="5550948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C2412E3-A1FD-6987-D9A6-A242DBEC3C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17575" y="5652876"/>
            <a:ext cx="6591871" cy="2819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CAFBE1E-BA89-007B-7721-4C6E30F82D8D}"/>
              </a:ext>
            </a:extLst>
          </p:cNvPr>
          <p:cNvSpPr txBox="1"/>
          <p:nvPr/>
        </p:nvSpPr>
        <p:spPr>
          <a:xfrm>
            <a:off x="650211" y="3864327"/>
            <a:ext cx="10301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b="1" dirty="0">
                <a:latin typeface="LM Roman 12" panose="00000500000000000000" pitchFamily="50" charset="0"/>
              </a:rPr>
              <a:t>CLARIFICATION ON INITIALISING ARRAYS WITH FEWER ELEMENTS THAN ITS SIZE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E0F2778F-772F-9A40-3A1B-AE9856F5D5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01823" y="6864038"/>
            <a:ext cx="8146487" cy="260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846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256C-636F-EC31-EC0A-2CEB2A0F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CBEF23DE-9783-7FB4-BA45-9BA67B48A9D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7976BD8-1757-0AD5-28AD-E59766377C2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2C26C97-5897-156A-D085-7976D5C921F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20E23B-9F1B-19B3-4268-86F0A96052B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560B572-DE83-B82F-DFE8-791DDE2BC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6EB39AA-C66A-534B-6574-919DFE2A634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04BCF43-3CBC-A6CB-8284-BC84D1931CF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Short recap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A6B49C5-15D3-2DCE-2E8E-DBCE20570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0307"/>
            <a:ext cx="3889224" cy="1694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DCE36-D0C0-CC7F-4849-C0EA0C12069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3572"/>
          <a:stretch>
            <a:fillRect/>
          </a:stretch>
        </p:blipFill>
        <p:spPr>
          <a:xfrm>
            <a:off x="4054852" y="1430307"/>
            <a:ext cx="3492578" cy="1953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5C84A5-EBA6-612F-3CA6-5042D2EB5F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884" y="1344682"/>
            <a:ext cx="3449457" cy="2038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BF863F-463B-6751-AE6B-5D2D7CF85480}"/>
              </a:ext>
            </a:extLst>
          </p:cNvPr>
          <p:cNvSpPr txBox="1"/>
          <p:nvPr/>
        </p:nvSpPr>
        <p:spPr>
          <a:xfrm>
            <a:off x="0" y="1400584"/>
            <a:ext cx="3929450" cy="202841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FFD3F-DDDF-8449-63B4-9FD19BB3AD27}"/>
              </a:ext>
            </a:extLst>
          </p:cNvPr>
          <p:cNvSpPr txBox="1"/>
          <p:nvPr/>
        </p:nvSpPr>
        <p:spPr>
          <a:xfrm>
            <a:off x="4113277" y="1400584"/>
            <a:ext cx="3523581" cy="2038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A0428-0CD1-8BB6-01E0-22400AC34B18}"/>
              </a:ext>
            </a:extLst>
          </p:cNvPr>
          <p:cNvSpPr txBox="1"/>
          <p:nvPr/>
        </p:nvSpPr>
        <p:spPr>
          <a:xfrm>
            <a:off x="7771483" y="1400584"/>
            <a:ext cx="3929450" cy="20386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4A43F1-26B8-4D5E-DF6B-D90E38A2CF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869096" y="4197978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A2676F87-A86D-1180-0C6E-AA1591514C88}"/>
              </a:ext>
            </a:extLst>
          </p:cNvPr>
          <p:cNvSpPr/>
          <p:nvPr/>
        </p:nvSpPr>
        <p:spPr>
          <a:xfrm rot="16200000">
            <a:off x="-7575682" y="4096810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010C7FE-1964-B7E8-9746-7135DE9DC7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825845" y="4122567"/>
            <a:ext cx="6650570" cy="4680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DDD04CC-EC29-C0F3-0CAF-CB390079AA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1786094" y="4741204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9A461820-4605-D834-5CEB-5D44BCFFC45A}"/>
              </a:ext>
            </a:extLst>
          </p:cNvPr>
          <p:cNvSpPr/>
          <p:nvPr/>
        </p:nvSpPr>
        <p:spPr>
          <a:xfrm rot="16200000">
            <a:off x="-7423176" y="463016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B056398-069C-3E6A-E1BD-29C0A10CEA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6591871" y="4702352"/>
            <a:ext cx="6416596" cy="281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AC2654-EBD0-5DC8-4AF5-90F93C6D3B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1869096" y="5337545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8CB2B000-1EEA-39E1-BBD0-ABF94849F25F}"/>
              </a:ext>
            </a:extLst>
          </p:cNvPr>
          <p:cNvSpPr/>
          <p:nvPr/>
        </p:nvSpPr>
        <p:spPr>
          <a:xfrm rot="16200000">
            <a:off x="-7308045" y="5235617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35DC164-AA3C-AB2F-94E9-96A3EA6F3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6591871" y="5337545"/>
            <a:ext cx="6591871" cy="281964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0F97BB1-1A7A-67E0-A178-2C8F4F0E173A}"/>
              </a:ext>
            </a:extLst>
          </p:cNvPr>
          <p:cNvSpPr txBox="1"/>
          <p:nvPr/>
        </p:nvSpPr>
        <p:spPr>
          <a:xfrm>
            <a:off x="-9189382" y="3675950"/>
            <a:ext cx="6110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CLARIFICATION ON DECLARING ARRAYS WITH {x}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ECDAC1-654C-2155-C6BD-0099FD69634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3829" y="4012554"/>
            <a:ext cx="8146487" cy="26068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F2E3FB-7F23-FCC1-0C1B-95F967B548D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17266" y="4316584"/>
            <a:ext cx="3395106" cy="2174262"/>
          </a:xfrm>
          <a:prstGeom prst="rect">
            <a:avLst/>
          </a:prstGeom>
        </p:spPr>
      </p:pic>
      <p:sp>
        <p:nvSpPr>
          <p:cNvPr id="4" name="Arrow: Down 3">
            <a:extLst>
              <a:ext uri="{FF2B5EF4-FFF2-40B4-BE49-F238E27FC236}">
                <a16:creationId xmlns:a16="http://schemas.microsoft.com/office/drawing/2014/main" id="{505E8A1B-1D40-42D0-0B2F-A1D30C1D9C3E}"/>
              </a:ext>
            </a:extLst>
          </p:cNvPr>
          <p:cNvSpPr/>
          <p:nvPr/>
        </p:nvSpPr>
        <p:spPr>
          <a:xfrm rot="16200000">
            <a:off x="7890831" y="5026799"/>
            <a:ext cx="858970" cy="993899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339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41B97-84CA-1FAE-6829-4266B24B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53766C9-FC10-5F1A-1F94-AE4D74738CC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A43D3C6-25EB-EB11-607D-31B8454C235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04B532-BA6A-EC97-2748-920F45303EE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46F9F2-2001-38D6-CE98-9E62729B6D3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E9607E7-D796-D4A5-2FF7-D2290B430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1172448-99CC-9672-9346-96F2424BCC4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04AD580-E49A-D4A8-3BDC-E7DA7692E27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Store and manipulation of strings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8E48FAD-D7A1-92E8-1E33-62A72B522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69096" y="4197978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89C1285F-FB2C-2F55-3582-ACDFCDE9B181}"/>
              </a:ext>
            </a:extLst>
          </p:cNvPr>
          <p:cNvSpPr/>
          <p:nvPr/>
        </p:nvSpPr>
        <p:spPr>
          <a:xfrm rot="16200000">
            <a:off x="-7575682" y="4096810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EF8AEA5-654D-DE7F-C342-415FA6661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86094" y="4741204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F23D126A-0FC9-5EA8-75A6-9F8B1ECFAE5C}"/>
              </a:ext>
            </a:extLst>
          </p:cNvPr>
          <p:cNvSpPr/>
          <p:nvPr/>
        </p:nvSpPr>
        <p:spPr>
          <a:xfrm rot="16200000">
            <a:off x="-7423176" y="463016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9F8F6A-F2CE-A88F-D004-46BCEBB07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869096" y="5337545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E00ADEC0-D70A-FC12-A6C1-46FC3BF7559F}"/>
              </a:ext>
            </a:extLst>
          </p:cNvPr>
          <p:cNvSpPr/>
          <p:nvPr/>
        </p:nvSpPr>
        <p:spPr>
          <a:xfrm rot="16200000">
            <a:off x="-7308045" y="5235617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C9959-02FA-E922-B6DA-A752B46002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8503" y="1245641"/>
            <a:ext cx="9956220" cy="22060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A3926F5-A7CD-64BE-8B57-9780B160EF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503" y="4414594"/>
            <a:ext cx="10128795" cy="18459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14C65BA-9A8F-A44D-7914-3061BF0357F9}"/>
              </a:ext>
            </a:extLst>
          </p:cNvPr>
          <p:cNvSpPr txBox="1"/>
          <p:nvPr/>
        </p:nvSpPr>
        <p:spPr>
          <a:xfrm>
            <a:off x="4798758" y="3905590"/>
            <a:ext cx="2303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39284767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EA7D-DDDC-924A-5569-A00F8FF0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4306FBA-4104-5D8E-21CC-FDCDFFD6A11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B626957-8EFD-D6B3-E661-768B6DDF9FA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5FD858-7B79-5816-C75E-EF665A9A744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1E9845F-A12C-BECF-F3FA-F0FED7E06B8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FE24360-2CAA-4070-5A14-16ED591FB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BF20E62-C2BB-2944-F42E-3D4D6F25BD1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AA55A1-252D-8C2E-5A40-857E53A97E1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Store and manipulation of strings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5553D3C-6E28-C63B-8F9A-F5E04A155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69096" y="4197978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CFF9B486-6D01-6E09-B085-3FB45D9F81ED}"/>
              </a:ext>
            </a:extLst>
          </p:cNvPr>
          <p:cNvSpPr/>
          <p:nvPr/>
        </p:nvSpPr>
        <p:spPr>
          <a:xfrm rot="16200000">
            <a:off x="-7575682" y="4096810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424F3D7-5CC2-2B52-8E58-D93A2C968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86094" y="4741204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E5F848FF-FEB6-5B15-DE1E-0CC603861F90}"/>
              </a:ext>
            </a:extLst>
          </p:cNvPr>
          <p:cNvSpPr/>
          <p:nvPr/>
        </p:nvSpPr>
        <p:spPr>
          <a:xfrm rot="16200000">
            <a:off x="-7423176" y="463016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9EDDFD4-4958-667B-B067-D3714886B9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869096" y="5337545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C0F9F1BD-8F27-B5D4-2E26-4B2318C9BAF2}"/>
              </a:ext>
            </a:extLst>
          </p:cNvPr>
          <p:cNvSpPr/>
          <p:nvPr/>
        </p:nvSpPr>
        <p:spPr>
          <a:xfrm rot="16200000">
            <a:off x="-7308045" y="5235617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523D5A-22E8-0553-F8E8-064693CF6A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904868"/>
            <a:ext cx="7388838" cy="3432677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B6443232-D823-5199-8CB0-F73BC144B5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2594619"/>
                  </p:ext>
                </p:extLst>
              </p:nvPr>
            </p:nvGraphicFramePr>
            <p:xfrm>
              <a:off x="7388838" y="802115"/>
              <a:ext cx="9340033" cy="5253769"/>
            </p:xfrm>
            <a:graphic>
              <a:graphicData uri="http://schemas.microsoft.com/office/powerpoint/2016/slidezoom">
                <pslz:sldZm>
                  <pslz:sldZmObj sldId="616" cId="3186791803">
                    <pslz:zmPr id="{B7AAAE18-5C73-449C-B241-D3B22E94E41F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340033" cy="525376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B6443232-D823-5199-8CB0-F73BC144B5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88838" y="802115"/>
                <a:ext cx="9340033" cy="52537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472879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B31145-B987-9837-399C-81880C6C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686"/>
            <a:ext cx="6614602" cy="3875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3D33C8-70FC-8DEB-4A6E-3A27FF16A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85" y="2046461"/>
            <a:ext cx="5944115" cy="1219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48CACE-4C78-C965-3EF3-C52E3CC37DA8}"/>
              </a:ext>
            </a:extLst>
          </p:cNvPr>
          <p:cNvSpPr txBox="1"/>
          <p:nvPr/>
        </p:nvSpPr>
        <p:spPr>
          <a:xfrm>
            <a:off x="6747301" y="1461686"/>
            <a:ext cx="4277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SAMPLE OUTPUT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3A51E-7DF7-003F-1A8A-6490F46913CE}"/>
              </a:ext>
            </a:extLst>
          </p:cNvPr>
          <p:cNvSpPr txBox="1"/>
          <p:nvPr/>
        </p:nvSpPr>
        <p:spPr>
          <a:xfrm>
            <a:off x="6614602" y="3429000"/>
            <a:ext cx="4277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SAMPLE OUTPUT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E74420-C3A4-42E0-00F8-9C50E54DB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884" y="4031544"/>
            <a:ext cx="5944116" cy="13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91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E057-F27F-7992-E7A2-ED53FDD1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9E497EC-D06A-F414-F043-6C29C088D75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8C457B-C44E-340E-FB4E-E24EAD3CB45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6022B2-23B7-AD5F-F6BB-2ABFAAABEC2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64BE6A7-9C83-AD98-6584-7F3C0BD649F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8DA3208-7226-045D-5167-604A23F78A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F502DAF-DCF6-E77E-EE01-9793B50A09D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6AA1100-BE7A-E178-B60F-EE5515F2C3E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Passing arrays to functions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92FC892-3898-731E-ACE0-12961781B9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69096" y="4197978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CF19A6C2-F4EF-BA00-5245-758105B3FDB9}"/>
              </a:ext>
            </a:extLst>
          </p:cNvPr>
          <p:cNvSpPr/>
          <p:nvPr/>
        </p:nvSpPr>
        <p:spPr>
          <a:xfrm rot="16200000">
            <a:off x="-7575682" y="4096810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A621FA-515B-4100-2652-F41DDCA0B9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86094" y="4741204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B6E0F9D5-8108-1862-2B79-2C062D9C6906}"/>
              </a:ext>
            </a:extLst>
          </p:cNvPr>
          <p:cNvSpPr/>
          <p:nvPr/>
        </p:nvSpPr>
        <p:spPr>
          <a:xfrm rot="16200000">
            <a:off x="-7423176" y="463016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230A39-E195-94F8-DC7B-968E2B672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869096" y="5337545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854866E3-77AF-A11B-8378-74BBB782B909}"/>
              </a:ext>
            </a:extLst>
          </p:cNvPr>
          <p:cNvSpPr/>
          <p:nvPr/>
        </p:nvSpPr>
        <p:spPr>
          <a:xfrm rot="16200000">
            <a:off x="-7308045" y="5235617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580DAE-D036-A566-33C2-6AAB168CAEC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931" t="5359"/>
          <a:stretch>
            <a:fillRect/>
          </a:stretch>
        </p:blipFill>
        <p:spPr>
          <a:xfrm>
            <a:off x="2077453" y="914400"/>
            <a:ext cx="7693160" cy="2569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CC5BBC-6D53-40BB-BCAF-2DA67ED137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7790" y="3902245"/>
            <a:ext cx="7872485" cy="198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87585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14857-488C-3237-F202-0A54C15C6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BBF87BB-2751-E182-02F0-A55067D5476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9AE2EB9-B30F-210B-418C-F80012931E1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7FC8413-5F48-EB08-C7BE-43F905BE66F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904AB71-6A00-7A2C-EC34-5632F722DC8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F0BE648-7579-A1E0-5AE2-82E8181C37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F3671C1-E18C-E977-BF46-5E57551C32A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5B0EC3-49EB-92F0-F1F0-733F8A79999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Passing arrays to functions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0CF84C2-FFED-9388-1A74-59186E8B9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69096" y="4197978"/>
            <a:ext cx="4511431" cy="381033"/>
          </a:xfrm>
          <a:prstGeom prst="rect">
            <a:avLst/>
          </a:prstGeom>
        </p:spPr>
      </p:pic>
      <p:sp>
        <p:nvSpPr>
          <p:cNvPr id="17" name="Arrow: Down 16">
            <a:extLst>
              <a:ext uri="{FF2B5EF4-FFF2-40B4-BE49-F238E27FC236}">
                <a16:creationId xmlns:a16="http://schemas.microsoft.com/office/drawing/2014/main" id="{EA4EEAE2-68E3-BBBB-8182-FD4E82984E23}"/>
              </a:ext>
            </a:extLst>
          </p:cNvPr>
          <p:cNvSpPr/>
          <p:nvPr/>
        </p:nvSpPr>
        <p:spPr>
          <a:xfrm rot="16200000">
            <a:off x="-7575682" y="4096810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5D199C4-83B3-167E-8C52-F0E6FCE79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1786094" y="4741204"/>
            <a:ext cx="3967648" cy="259272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DA94E1AA-893C-6B5A-8A99-4ACEA8A2456A}"/>
              </a:ext>
            </a:extLst>
          </p:cNvPr>
          <p:cNvSpPr/>
          <p:nvPr/>
        </p:nvSpPr>
        <p:spPr>
          <a:xfrm rot="16200000">
            <a:off x="-7423176" y="4630161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20BBA6E-3557-F3BE-FE62-59CD17612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869096" y="5337545"/>
            <a:ext cx="4305673" cy="350550"/>
          </a:xfrm>
          <a:prstGeom prst="rect">
            <a:avLst/>
          </a:prstGeom>
        </p:spPr>
      </p:pic>
      <p:sp>
        <p:nvSpPr>
          <p:cNvPr id="30" name="Arrow: Down 29">
            <a:extLst>
              <a:ext uri="{FF2B5EF4-FFF2-40B4-BE49-F238E27FC236}">
                <a16:creationId xmlns:a16="http://schemas.microsoft.com/office/drawing/2014/main" id="{AEC4FEC9-1154-EFD9-2B52-915AAA31617B}"/>
              </a:ext>
            </a:extLst>
          </p:cNvPr>
          <p:cNvSpPr/>
          <p:nvPr/>
        </p:nvSpPr>
        <p:spPr>
          <a:xfrm rot="16200000">
            <a:off x="-7308045" y="5235617"/>
            <a:ext cx="436034" cy="528367"/>
          </a:xfrm>
          <a:prstGeom prst="down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2080C-B29B-D38E-965E-C1C29AEB423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6955"/>
          <a:stretch>
            <a:fillRect/>
          </a:stretch>
        </p:blipFill>
        <p:spPr>
          <a:xfrm>
            <a:off x="1146337" y="3428495"/>
            <a:ext cx="9965980" cy="18642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DA27D03-BFF5-2427-14C5-7A509C5462FD}"/>
              </a:ext>
            </a:extLst>
          </p:cNvPr>
          <p:cNvSpPr/>
          <p:nvPr/>
        </p:nvSpPr>
        <p:spPr>
          <a:xfrm>
            <a:off x="273779" y="1719104"/>
            <a:ext cx="11586458" cy="135296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void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myFunction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=</a:t>
            </a:r>
            <a:r>
              <a:rPr kumimoji="0" lang="en-ZA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{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int </a:t>
            </a:r>
            <a:r>
              <a:rPr lang="en-ZA" sz="4400" b="1" dirty="0" err="1">
                <a:solidFill>
                  <a:schemeClr val="tx1"/>
                </a:solidFill>
                <a:latin typeface="LM Roman 12" panose="00000500000000000000" pitchFamily="50" charset="0"/>
              </a:rPr>
              <a:t>myArray</a:t>
            </a:r>
            <a:r>
              <a:rPr lang="en-ZA" sz="4400" b="1" dirty="0">
                <a:solidFill>
                  <a:schemeClr val="tx1"/>
                </a:solidFill>
                <a:latin typeface="LM Roman 12" panose="00000500000000000000" pitchFamily="50" charset="0"/>
              </a:rPr>
              <a:t>[]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,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sz="4400" b="1" dirty="0">
                <a:solidFill>
                  <a:prstClr val="black"/>
                </a:solidFill>
                <a:latin typeface="LM Roman 12" panose="00000500000000000000" pitchFamily="50" charset="0"/>
              </a:rPr>
              <a:t>					   </a:t>
            </a:r>
            <a:r>
              <a:rPr lang="en-ZA" sz="4400" b="1" dirty="0">
                <a:solidFill>
                  <a:srgbClr val="00B0F0"/>
                </a:solidFill>
                <a:latin typeface="LM Roman 12" panose="00000500000000000000" pitchFamily="50" charset="0"/>
              </a:rPr>
              <a:t>int </a:t>
            </a:r>
            <a:r>
              <a:rPr lang="en-ZA" sz="4400" b="1" dirty="0" err="1">
                <a:solidFill>
                  <a:srgbClr val="00B0F0"/>
                </a:solidFill>
                <a:latin typeface="LM Roman 12" panose="00000500000000000000" pitchFamily="50" charset="0"/>
              </a:rPr>
              <a:t>arraySize</a:t>
            </a:r>
            <a:r>
              <a:rPr kumimoji="0" lang="en-ZA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 } 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D8E9A2-E591-699A-0595-A1E206AF8959}"/>
              </a:ext>
            </a:extLst>
          </p:cNvPr>
          <p:cNvSpPr txBox="1"/>
          <p:nvPr/>
        </p:nvSpPr>
        <p:spPr>
          <a:xfrm>
            <a:off x="3981303" y="1129308"/>
            <a:ext cx="3764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Function prototype</a:t>
            </a:r>
          </a:p>
        </p:txBody>
      </p:sp>
    </p:spTree>
    <p:extLst>
      <p:ext uri="{BB962C8B-B14F-4D97-AF65-F5344CB8AC3E}">
        <p14:creationId xmlns:p14="http://schemas.microsoft.com/office/powerpoint/2010/main" val="2986898178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754D-3527-338F-2491-F4E893E0C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A3B578E-5327-EF6A-CEAE-FAEFF1084B7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7A3EA19-0254-59F4-F9D6-69A4206D389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DCA409A-FC18-D3C7-237A-F28C7B844F6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060AAD-4CB6-CF7C-709A-52FAE2A1587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0D686B94-1733-8ED4-C09F-A00E91792F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110FE3-723A-81D6-1369-09EFDC63825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D3B9023-933A-052D-A61B-F663C240FB0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Passing arrays to functions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0DB16EC-08AC-B90C-5B25-3B866F7464B8}"/>
              </a:ext>
            </a:extLst>
          </p:cNvPr>
          <p:cNvSpPr txBox="1"/>
          <p:nvPr/>
        </p:nvSpPr>
        <p:spPr>
          <a:xfrm>
            <a:off x="635082" y="1245641"/>
            <a:ext cx="10921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Demonstration of passing arrays and individual elements 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1B1941EA-42B5-5985-9CF3-790189340E6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85201697"/>
                  </p:ext>
                </p:extLst>
              </p:nvPr>
            </p:nvGraphicFramePr>
            <p:xfrm>
              <a:off x="989305" y="2021828"/>
              <a:ext cx="10213390" cy="5745032"/>
            </p:xfrm>
            <a:graphic>
              <a:graphicData uri="http://schemas.microsoft.com/office/powerpoint/2016/slidezoom">
                <pslz:sldZm>
                  <pslz:sldZmObj sldId="621" cId="2867666846">
                    <pslz:zmPr id="{72F54ADE-BA1F-48DC-9495-4A9835ADA2C6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213390" cy="574503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extLst>
                  <a:ext uri="{FF2B5EF4-FFF2-40B4-BE49-F238E27FC236}">
                    <a16:creationId xmlns:a16="http://schemas.microsoft.com/office/drawing/2014/main" id="{1B1941EA-42B5-5985-9CF3-790189340E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9305" y="2021828"/>
                <a:ext cx="10213390" cy="574503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579738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0D4CB-F91C-A94B-EB41-C09309C1AA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"/>
          <a:stretch>
            <a:fillRect/>
          </a:stretch>
        </p:blipFill>
        <p:spPr>
          <a:xfrm>
            <a:off x="2520563" y="13749"/>
            <a:ext cx="7081510" cy="583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D0F2AA-CC47-6213-DC49-EE477F4EEE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/>
          <a:stretch>
            <a:fillRect/>
          </a:stretch>
        </p:blipFill>
        <p:spPr>
          <a:xfrm>
            <a:off x="2520563" y="6047056"/>
            <a:ext cx="7081510" cy="3192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0BC1FD-4F63-4271-8E1E-60ADF5756C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2881" y="9239377"/>
            <a:ext cx="7139191" cy="352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66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F2A8-6B46-C284-777F-0B41B3AA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40AA1-B1D9-0EDA-43EE-A504F10B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"/>
          <a:stretch>
            <a:fillRect/>
          </a:stretch>
        </p:blipFill>
        <p:spPr>
          <a:xfrm>
            <a:off x="2555245" y="-6033307"/>
            <a:ext cx="7081510" cy="5834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EF483-0D79-466B-32D2-65F1066B9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"/>
          <a:stretch>
            <a:fillRect/>
          </a:stretch>
        </p:blipFill>
        <p:spPr>
          <a:xfrm>
            <a:off x="2555245" y="0"/>
            <a:ext cx="7081510" cy="3192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78ABC7-EDAA-B020-F99A-087D2B0BA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563" y="3192321"/>
            <a:ext cx="7139191" cy="352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4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5FE8-6F2E-6B86-90B3-298AEE24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F32FF0A-AF2B-BA44-7EBB-20603EA51AA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D7DE4F-6EC2-22D0-EC2C-7B3912E3F53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EC0DE9-F6AC-7738-E1DE-C7910F4DB7F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173D12D-3A22-8078-6D8A-0EB0A0E76E7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4D107DF-1D0F-705B-4CB9-CFBC30802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6A472BF-6348-EA99-17DD-6970F2C8598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4AA31D-425C-DD0B-CE5B-D2792256C9A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Searching arrays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C5C833B-C858-1B5F-AF83-FC1F5C3BAC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59"/>
          <a:stretch>
            <a:fillRect/>
          </a:stretch>
        </p:blipFill>
        <p:spPr>
          <a:xfrm>
            <a:off x="1534601" y="914400"/>
            <a:ext cx="9395831" cy="1712254"/>
          </a:xfrm>
          <a:prstGeom prst="rect">
            <a:avLst/>
          </a:prstGeom>
        </p:spPr>
      </p:pic>
      <p:pic>
        <p:nvPicPr>
          <p:cNvPr id="19" name="Picture 18" descr="Quick Overview of Binary Search. get familiar with this popular… | by Haley  Proctor | Medium">
            <a:extLst>
              <a:ext uri="{FF2B5EF4-FFF2-40B4-BE49-F238E27FC236}">
                <a16:creationId xmlns:a16="http://schemas.microsoft.com/office/drawing/2014/main" id="{9C668CE1-9D8C-F59D-381A-1C6F9596B9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645" y="2854493"/>
            <a:ext cx="6061655" cy="381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73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5EEA-F493-D38B-80EB-ACEF5F7C2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3796A7F-19B3-F450-1442-D32521A4E7D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DC5B127-BD87-24CD-E6FD-A40B60DD9D0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B20E763-E918-A379-FD10-109BE5DD8B9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25C1EB-D1CD-85E3-AC9D-8981F07571E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87C6826-B759-6F26-E71F-778B27567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000F9EE-BD50-917C-8BEC-6BA46F14614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33B684F-7C2A-A212-0A4F-3EA72A0EDCF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Searching arrays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1163767-FAA8-F145-25A8-8F2AA047A0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59"/>
          <a:stretch>
            <a:fillRect/>
          </a:stretch>
        </p:blipFill>
        <p:spPr>
          <a:xfrm>
            <a:off x="1534601" y="914400"/>
            <a:ext cx="9395831" cy="17122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45B3A8-6F1C-452A-4615-A0786EBD3FD3}"/>
              </a:ext>
            </a:extLst>
          </p:cNvPr>
          <p:cNvSpPr/>
          <p:nvPr/>
        </p:nvSpPr>
        <p:spPr>
          <a:xfrm>
            <a:off x="1352484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42CE7-5795-F879-5786-416E241D3B0C}"/>
              </a:ext>
            </a:extLst>
          </p:cNvPr>
          <p:cNvSpPr/>
          <p:nvPr/>
        </p:nvSpPr>
        <p:spPr>
          <a:xfrm>
            <a:off x="1352485" y="4214639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LINEAR 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A4AB5-0A9E-2573-3E82-4C46FAF905CC}"/>
              </a:ext>
            </a:extLst>
          </p:cNvPr>
          <p:cNvSpPr/>
          <p:nvPr/>
        </p:nvSpPr>
        <p:spPr>
          <a:xfrm>
            <a:off x="6283618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1F03F5-70B4-8938-FD04-37CB73284009}"/>
              </a:ext>
            </a:extLst>
          </p:cNvPr>
          <p:cNvSpPr/>
          <p:nvPr/>
        </p:nvSpPr>
        <p:spPr>
          <a:xfrm>
            <a:off x="6283619" y="4214639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297626682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F8C38-EED7-5158-9300-7D90415DA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0A27E76-F104-F75C-5D0D-2C4B089309D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A6D0414-6903-DA2A-D927-85E6AFFACE8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B78B73-48C3-4F37-991C-93C1E414828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4A03AB-39F8-1287-8FF1-EAA43F992B5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AA76F650-CBF5-E8B2-9016-D3D7AEEFBD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5A52401-C0BE-A295-C078-FCD66CE06B9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AAC8CE5-BCAA-E7F4-E52E-6735C482AAD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Searching arrays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C95176B-7E9A-7E64-F05A-3BD47D6E8C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59"/>
          <a:stretch>
            <a:fillRect/>
          </a:stretch>
        </p:blipFill>
        <p:spPr>
          <a:xfrm>
            <a:off x="1534601" y="914400"/>
            <a:ext cx="9395831" cy="17122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3954D1-694F-177E-0CDE-1B5C8F381A75}"/>
              </a:ext>
            </a:extLst>
          </p:cNvPr>
          <p:cNvSpPr/>
          <p:nvPr/>
        </p:nvSpPr>
        <p:spPr>
          <a:xfrm>
            <a:off x="1352484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Compare each element of array with key value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Useful for small and unsorted arrays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Assumes unique key values, e.g. student numbers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Array does not have to be sorted</a:t>
            </a:r>
            <a:endParaRPr lang="en-ZA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3768E5-54C1-A0F8-BE47-A2C76D3742C7}"/>
              </a:ext>
            </a:extLst>
          </p:cNvPr>
          <p:cNvSpPr/>
          <p:nvPr/>
        </p:nvSpPr>
        <p:spPr>
          <a:xfrm>
            <a:off x="1352483" y="2909255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LINEAR 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1D7952-AE61-36B6-227C-F3F6564E3D26}"/>
              </a:ext>
            </a:extLst>
          </p:cNvPr>
          <p:cNvSpPr/>
          <p:nvPr/>
        </p:nvSpPr>
        <p:spPr>
          <a:xfrm>
            <a:off x="6283618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AD11D1-D09B-9D87-2502-9D6B600965CB}"/>
              </a:ext>
            </a:extLst>
          </p:cNvPr>
          <p:cNvSpPr/>
          <p:nvPr/>
        </p:nvSpPr>
        <p:spPr>
          <a:xfrm>
            <a:off x="6283619" y="4214639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SEARCH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34420D04-0A8C-E638-FA88-49B07D191F1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36010072"/>
                  </p:ext>
                </p:extLst>
              </p:nvPr>
            </p:nvGraphicFramePr>
            <p:xfrm>
              <a:off x="4868510" y="5621332"/>
              <a:ext cx="1039873" cy="584929"/>
            </p:xfrm>
            <a:graphic>
              <a:graphicData uri="http://schemas.microsoft.com/office/powerpoint/2016/slidezoom">
                <pslz:sldZm>
                  <pslz:sldZmObj sldId="626" cId="3796154769">
                    <pslz:zmPr id="{C7B6A610-6A3F-443F-A2C8-3146A44BFC08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39873" cy="58492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34420D04-0A8C-E638-FA88-49B07D191F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8510" y="5621332"/>
                <a:ext cx="1039873" cy="5849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9257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B8A149-76BA-37A1-7DE3-FFA0D3614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560" y="74019"/>
            <a:ext cx="5091441" cy="42673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DE7FF4-6362-E336-C66B-57B6E0E3C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559" y="4341412"/>
            <a:ext cx="5001442" cy="197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5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2596C-E2D4-7351-A4DD-226C696C9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277A179A-32B7-221E-D232-798AC69B088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E21C918-D7DF-F635-865F-70E88DE1CFB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A5D30E-45F3-79CE-1D55-BB82A4F2F1D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EADF5A-6437-9F6E-37DF-DA43661224A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E70E6BB-B02B-C8A2-B1E5-41AD33B84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0BB6ABA-F3C6-78F6-CF1F-845A509DB03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D83770B-EA84-A178-EA45-9AE31AF297E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Searching arrays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598EAA0-7398-514B-26F1-26788531CC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959"/>
          <a:stretch>
            <a:fillRect/>
          </a:stretch>
        </p:blipFill>
        <p:spPr>
          <a:xfrm>
            <a:off x="1534601" y="914400"/>
            <a:ext cx="9395831" cy="171225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9EB766-3C20-F147-DBAF-F7F45DA155A8}"/>
              </a:ext>
            </a:extLst>
          </p:cNvPr>
          <p:cNvSpPr/>
          <p:nvPr/>
        </p:nvSpPr>
        <p:spPr>
          <a:xfrm>
            <a:off x="1352484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Compare each element of array with key value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Useful for small and unsorted arrays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Assumes unique key values, e.g. student numbers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Array does not have to be sorted</a:t>
            </a:r>
            <a:endParaRPr lang="en-ZA" sz="2000" dirty="0">
              <a:solidFill>
                <a:schemeClr val="tx1"/>
              </a:solidFill>
              <a:latin typeface="LM Roman 12" panose="00000500000000000000" pitchFamily="50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18D75-FD0A-FBDA-67FC-6AE72F954E0D}"/>
              </a:ext>
            </a:extLst>
          </p:cNvPr>
          <p:cNvSpPr/>
          <p:nvPr/>
        </p:nvSpPr>
        <p:spPr>
          <a:xfrm>
            <a:off x="1352483" y="2909255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LINEAR 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509E2A-A061-5202-4C7B-2484397197B4}"/>
              </a:ext>
            </a:extLst>
          </p:cNvPr>
          <p:cNvSpPr/>
          <p:nvPr/>
        </p:nvSpPr>
        <p:spPr>
          <a:xfrm>
            <a:off x="6283618" y="2894723"/>
            <a:ext cx="4318001" cy="3297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solidFill>
                <a:schemeClr val="tx1"/>
              </a:solidFill>
              <a:latin typeface="LM Roman 12" panose="00000500000000000000" pitchFamily="50" charset="0"/>
            </a:endParaRP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Only for arrays sorted by key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Compares middle element with key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If equal, match found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If key &lt; middle, looks further in lower half of array </a:t>
            </a:r>
          </a:p>
          <a:p>
            <a:pPr marL="342900" indent="-342900" algn="ctr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tx1"/>
                </a:solidFill>
                <a:latin typeface="LM Roman 12" panose="00000500000000000000" pitchFamily="50" charset="0"/>
              </a:rPr>
              <a:t>If key &gt; middle, looks further in upper half of array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5A7A95-7670-053D-70BB-8AA391E03C5A}"/>
              </a:ext>
            </a:extLst>
          </p:cNvPr>
          <p:cNvSpPr/>
          <p:nvPr/>
        </p:nvSpPr>
        <p:spPr>
          <a:xfrm>
            <a:off x="6283619" y="2909255"/>
            <a:ext cx="4318000" cy="52493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>
                <a:latin typeface="LM Roman 12" panose="00000500000000000000" pitchFamily="50" charset="0"/>
              </a:rPr>
              <a:t>BINARY SEARCH</a:t>
            </a:r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4" name="Slide Zoom 3">
                <a:extLst>
                  <a:ext uri="{FF2B5EF4-FFF2-40B4-BE49-F238E27FC236}">
                    <a16:creationId xmlns:a16="http://schemas.microsoft.com/office/drawing/2014/main" id="{6F7FC978-6346-7910-6C50-281C8EB69B6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510" y="5621332"/>
              <a:ext cx="1039873" cy="584929"/>
            </p:xfrm>
            <a:graphic>
              <a:graphicData uri="http://schemas.microsoft.com/office/powerpoint/2016/slidezoom">
                <pslz:sldZm>
                  <pslz:sldZmObj sldId="626" cId="3796154769">
                    <pslz:zmPr id="{C7B6A610-6A3F-443F-A2C8-3146A44BFC08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39873" cy="58492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4" name="Slide Zoom 3">
                <a:extLst>
                  <a:ext uri="{FF2B5EF4-FFF2-40B4-BE49-F238E27FC236}">
                    <a16:creationId xmlns:a16="http://schemas.microsoft.com/office/drawing/2014/main" id="{6F7FC978-6346-7910-6C50-281C8EB69B6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68510" y="5621332"/>
                <a:ext cx="1039873" cy="5849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7AAE3B6F-9ECA-26A8-CB97-AF8D4AE0C73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18292739"/>
                  </p:ext>
                </p:extLst>
              </p:nvPr>
            </p:nvGraphicFramePr>
            <p:xfrm>
              <a:off x="9723377" y="5681328"/>
              <a:ext cx="933213" cy="524933"/>
            </p:xfrm>
            <a:graphic>
              <a:graphicData uri="http://schemas.microsoft.com/office/powerpoint/2016/slidezoom">
                <pslz:sldZm>
                  <pslz:sldZmObj sldId="628" cId="1354047783">
                    <pslz:zmPr id="{1F97710F-4149-420F-A3DD-A9C5F9FD89AF}" returnToParent="0" transitionDur="1000" showBg="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33213" cy="52493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7AAE3B6F-9ECA-26A8-CB97-AF8D4AE0C73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23377" y="5681328"/>
                <a:ext cx="933213" cy="52493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445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3AB58187-2D7B-E323-1C50-A744441C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314" y="88900"/>
            <a:ext cx="8549985" cy="648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047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812FA-66B5-BC03-8462-5B3000F1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282082-3CC6-1BDE-E516-BED286C26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293906"/>
            <a:ext cx="9919631" cy="62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33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D0461C-D979-93CA-6BC2-C05185FA5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26" y="176216"/>
            <a:ext cx="9876974" cy="650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61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781EB8-D081-527A-A165-EF068EF66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61" y="94285"/>
            <a:ext cx="10331077" cy="666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59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B142CA-375C-5D72-31A5-93BF8FE80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44915"/>
            <a:ext cx="9982200" cy="636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69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C7CBD3-0CD5-2AF2-919B-8B0EEF7B8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50283"/>
            <a:ext cx="10160000" cy="680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0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C68483-0100-43C8-06DC-87DC70239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428" y="191682"/>
            <a:ext cx="10241572" cy="652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87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9957E1-BC60-F0FE-3795-BA2759F5C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686" y="126798"/>
            <a:ext cx="10179614" cy="6317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407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B06CF7-DA21-3F67-8F90-F3E2763EF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62" y="0"/>
            <a:ext cx="10302875" cy="651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137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A74DB4-1E89-87F2-BA69-9FB2C9BE7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3372"/>
            <a:ext cx="9931399" cy="63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551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4799B6-5387-06D7-6D61-B8C26D9A7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534" y="202400"/>
            <a:ext cx="10507466" cy="66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230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9BF122-8B1C-4950-7FDA-73D13B4F4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0"/>
            <a:ext cx="10134599" cy="666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880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51C8D0-C3B9-AFC7-0467-5E2471970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50" y="180429"/>
            <a:ext cx="8623300" cy="649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866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0391F-CC9D-7C11-0D9C-0F5D9F5B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8EEC0FB-6CA1-DEB5-6DF7-01940EAA5F4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DE77ABB-A5AA-A3BB-A441-B340C411DB1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7D61B41-E68B-A226-74A8-9B14ECE9FAC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38E421-EB53-37AB-220F-17BE41D22AB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D09C8E5-C5B5-6CCF-8939-E0BF8B5A9E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D78E5CF-ABD4-61AA-443E-CB7DED6A7DC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2F97CA9-C1FA-63A5-B32F-8F8AEB0C13D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6EF91A9-819B-E40B-6F9E-95DF0D67C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533" y="2000510"/>
            <a:ext cx="4359018" cy="6706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A59350C-9EF4-8ADD-212E-8DC35F31579A}"/>
              </a:ext>
            </a:extLst>
          </p:cNvPr>
          <p:cNvSpPr txBox="1"/>
          <p:nvPr/>
        </p:nvSpPr>
        <p:spPr>
          <a:xfrm>
            <a:off x="680561" y="1276686"/>
            <a:ext cx="103045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u="sng" dirty="0">
                <a:latin typeface="LM Roman 12" panose="00000500000000000000" pitchFamily="50" charset="0"/>
              </a:rPr>
              <a:t>Declarations &amp; initialisations &amp; passing into functions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70686AF-5A94-3695-B9A9-5C3845BBB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503" y="2084572"/>
            <a:ext cx="1546994" cy="5410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6E03310-34BE-E6DE-9C30-2C15FC250F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8616" y="2039084"/>
            <a:ext cx="4963384" cy="5410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7C545DE-D0CB-76B8-4818-5F4665B4348B}"/>
              </a:ext>
            </a:extLst>
          </p:cNvPr>
          <p:cNvSpPr txBox="1"/>
          <p:nvPr/>
        </p:nvSpPr>
        <p:spPr>
          <a:xfrm>
            <a:off x="2488042" y="3243879"/>
            <a:ext cx="61639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3200" b="1" u="sng" dirty="0">
                <a:latin typeface="LM Roman 12" panose="00000500000000000000" pitchFamily="50" charset="0"/>
              </a:rPr>
              <a:t>Review linear and binary search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60ACBF-2C9D-122D-642E-C09C4DD8C1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802" y="4537870"/>
            <a:ext cx="5659035" cy="208688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0677B49-7C23-F342-CFC3-6FF87F680434}"/>
              </a:ext>
            </a:extLst>
          </p:cNvPr>
          <p:cNvSpPr txBox="1"/>
          <p:nvPr/>
        </p:nvSpPr>
        <p:spPr>
          <a:xfrm>
            <a:off x="680561" y="64425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Linear search to find a target</a:t>
            </a:r>
            <a:endParaRPr lang="en-ZA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816374-B812-8B03-2963-03FDAC982ADA}"/>
              </a:ext>
            </a:extLst>
          </p:cNvPr>
          <p:cNvSpPr txBox="1"/>
          <p:nvPr/>
        </p:nvSpPr>
        <p:spPr>
          <a:xfrm>
            <a:off x="7424261" y="639392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400" b="1" dirty="0">
                <a:latin typeface="LM Roman 12" panose="00000500000000000000" pitchFamily="50" charset="0"/>
              </a:rPr>
              <a:t>Check whether array is sorted</a:t>
            </a:r>
            <a:endParaRPr lang="en-ZA" sz="1400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26" name="Slide Zoom 25">
                <a:extLst>
                  <a:ext uri="{FF2B5EF4-FFF2-40B4-BE49-F238E27FC236}">
                    <a16:creationId xmlns:a16="http://schemas.microsoft.com/office/drawing/2014/main" id="{15E6597E-0973-A3D6-A42C-DFF031B5B5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5275212"/>
                  </p:ext>
                </p:extLst>
              </p:nvPr>
            </p:nvGraphicFramePr>
            <p:xfrm>
              <a:off x="7424261" y="4115068"/>
              <a:ext cx="4051300" cy="2278856"/>
            </p:xfrm>
            <a:graphic>
              <a:graphicData uri="http://schemas.microsoft.com/office/powerpoint/2016/slidezoom">
                <pslz:sldZm>
                  <pslz:sldZmObj sldId="641" cId="4248866648">
                    <pslz:zmPr id="{73188D28-650F-46AA-8BCD-4FF85E0DF709}" transitionDur="1000" showBg="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51300" cy="227885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26" name="Slide Zoom 25">
                <a:extLst>
                  <a:ext uri="{FF2B5EF4-FFF2-40B4-BE49-F238E27FC236}">
                    <a16:creationId xmlns:a16="http://schemas.microsoft.com/office/drawing/2014/main" id="{15E6597E-0973-A3D6-A42C-DFF031B5B5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24261" y="4115068"/>
                <a:ext cx="4051300" cy="227885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6971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821</TotalTime>
  <Words>523</Words>
  <Application>Microsoft Office PowerPoint</Application>
  <PresentationFormat>Widescreen</PresentationFormat>
  <Paragraphs>99</Paragraphs>
  <Slides>30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2</cp:revision>
  <dcterms:created xsi:type="dcterms:W3CDTF">2026-08-20T17:34:50Z</dcterms:created>
  <dcterms:modified xsi:type="dcterms:W3CDTF">2026-08-23T13:19:11Z</dcterms:modified>
</cp:coreProperties>
</file>