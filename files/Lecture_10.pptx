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0.xml" ContentType="application/vnd.openxmlformats-officedocument.presentationml.slide+xml"/>
  <Override PartName="/ppt/slides/slide209.xml" ContentType="application/vnd.openxmlformats-officedocument.presentationml.slide+xml"/>
  <Override PartName="/ppt/slideLayouts/slideLayout20.xml" ContentType="application/vnd.openxmlformats-officedocument.presentationml.slideLayout+xml"/>
  <Override PartName="/ppt/notesSlides/notesSlide179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0.xml" ContentType="application/vnd.openxmlformats-officedocument.presentationml.slideMaster+xml"/>
  <Override PartName="/ppt/notesMasters/notesMaster10.xml" ContentType="application/vnd.openxmlformats-officedocument.presentationml.notesMaster+xml"/>
  <Override PartName="/ppt/slideLayouts/slideLayout8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0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20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528" r:id="rId2"/>
    <p:sldId id="529" r:id="rId3"/>
    <p:sldId id="530" r:id="rId4"/>
    <p:sldId id="531" r:id="rId5"/>
    <p:sldId id="532" r:id="rId6"/>
    <p:sldId id="539" r:id="rId7"/>
    <p:sldId id="541" r:id="rId8"/>
    <p:sldId id="540" r:id="rId9"/>
    <p:sldId id="542" r:id="rId10"/>
    <p:sldId id="543" r:id="rId11"/>
    <p:sldId id="544" r:id="rId12"/>
    <p:sldId id="545" r:id="rId13"/>
    <p:sldId id="546" r:id="rId14"/>
    <p:sldId id="547" r:id="rId15"/>
    <p:sldId id="548" r:id="rId16"/>
    <p:sldId id="549" r:id="rId17"/>
    <p:sldId id="550" r:id="rId18"/>
    <p:sldId id="551" r:id="rId19"/>
    <p:sldId id="55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F9F4E-8C5A-4F1E-BE42-79B6C35FBE0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66439-5EEC-4D88-B31B-EFD80B55C79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714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1E808-BF7F-4D50-A86B-3CDC47137532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C7434-D88E-439C-AA15-1FCF6247310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748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1AA8-13F7-EA48-FA5C-B269D241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132F6-DD45-76FA-80FA-40B9218E3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BAD58-988B-6915-4487-F61CF4E44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D03BF-3E6B-DFFB-1A6A-57EE0616B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2440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B304-1A79-1C22-374E-8EEA9217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2B5CF-CBEF-D383-48BE-51AB8D82C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540AC-26F2-1908-0E0E-0ECF2D0A1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61428-72BF-38FC-9222-5091D4E47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7242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B0A18-EF85-0A62-ED63-D87BE7DF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74CBC-A455-AB79-A71B-CB5CF589B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A906F-64E9-9397-202E-734B8F451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CD66E-3483-DE59-802A-CAFBB21CE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430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4B02-EFF7-1F47-E044-74212F22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CAAD4-7ACB-DAAC-8324-A341DCD86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B3643-0996-1542-3B33-048970393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7F905-BD08-34F4-C117-1CE2F4034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6803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F4CA-5828-4B5D-853E-31D19B0AC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D78AC-9B0E-0829-B387-E2F47DB3B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5B30F-303E-A639-46E3-A48CB19F3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7E1CB-90D9-8775-6A49-B6CBA0478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9267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571E-2E6F-F0C9-7EF7-A0E799C24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131C2-E29F-864A-ED9D-FAA025A0A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A928A-A878-C761-AE5B-938F73BEE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09190-EB05-4839-567C-FF1CC3E2D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9365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7AB20-6B14-5B61-FABC-85243B797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E3F44-5073-2BC8-523F-8ADDD8C85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35A40-DD5E-66BF-FD64-AEB0B73FF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74A67-9962-9ED0-A43A-8D7BF39A4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5470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04226-3AC0-A6AC-611B-B4D268D0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E466A-F52C-374E-5127-4BE8526A7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BB27F-9443-E4C2-B166-99CD67AAA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3B613-CB54-0D3C-281F-DE25B5A8C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996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B1778-3984-256C-EC42-D121F34E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2422D-45F3-4136-4C99-AB623C633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5548C-3B6B-89A8-86D9-2BAE22F8C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F47C8-99C8-2E7A-A001-A5C21552F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1477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1069-145A-AF35-CB6D-A51E0B20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46415-96A2-0764-6689-E7B707266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866C9-477E-7CCD-043E-C777CDBB5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64D0D-374B-C28F-2010-C2C395C87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4745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DCAE-0B05-D1FC-8E3D-14691FB0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8B52D-E4DF-2C20-7E53-B57DB21FE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F1DB4-04C2-D617-2F8F-6299B2A22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BDF53-F8D0-C0A1-401C-8E38DE384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7764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7E2A-3841-60EC-587A-E43E8B94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24204-26A6-33A2-4436-1CC028196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FB22B-4B67-F3DD-9D78-F9A3C1897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7F67B-0B72-AAF7-70F2-86812EEE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045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2B94A-7AF8-D13D-DC74-59D3F016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83B7F-10D6-E5AC-AA4D-E985222F6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B52BF-875B-5008-1CFB-66AC86061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ED800-DB5E-742B-6902-C03D0CD9D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5344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BDB5-080C-7A98-997F-9932AE29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D3074-920D-9B7D-DB5D-0166A2CB1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353C8-AE4B-BA4F-E293-AA0367854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CA6E5-3CE5-7DA5-AC15-2F1321F7E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0668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4A3FE-F952-060D-B3B3-921D015D9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DAE5A-6166-3583-6FF0-07F5A1035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C580A-470A-311F-783A-739252B75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C8186-45BD-6784-E1FA-FB53358EE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9912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C895-B7AC-F9D7-D8DD-87D02ECE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A95C9-FB4B-37C8-C1E7-CB030BA7F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3F034-879D-1955-838A-DD93360E9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A53A1-D9C7-32B8-48CF-BB0B676C9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1202339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C895-B7AC-F9D7-D8DD-87D02ECE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A95C9-FB4B-37C8-C1E7-CB030BA7F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3F034-879D-1955-838A-DD93360E9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far, our programs have produced predictable results. Given the same input, they always produce the same output.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A53A1-D9C7-32B8-48CF-BB0B676C9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209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120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5522-ADD3-4F94-8AC1-DC2622168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2297C-CA25-B4F3-3DE7-AED94EC33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3A349-0A1D-B6CB-81B2-40DEF073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ACF41-3E8B-B41F-2170-9A22A4B7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CA458-6B69-0E52-1971-F67B5734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307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D30E-5567-6445-D5BF-04CC0DBD1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AD15-118D-D3E1-B627-B7AFEBE3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F73E0-C6CF-1B1C-4558-013712CA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8837-CC6B-A701-5458-D6E749169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25B37-D7CC-5C69-C076-30633B31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244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208B-85CB-97A4-F37E-6AAF55B85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4E917-0AB9-8E40-7D8C-3C6BB7B91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58A09-87AA-F37A-CD98-D8E3267A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1D507-4BFF-496B-D16B-56AC56CE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899-BB42-AAFC-5411-3A7B2C9A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690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D410-AE46-3153-7FD1-B6D11294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EFB0A-3FBC-FC7B-5403-E6FE4E53F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79AAD-89AC-8ACC-DACC-DAD030525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D7B6D-3455-930D-BC56-BD8EF0E17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AE930-4A64-DC93-5117-FE855731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AA2F5-2E53-8D19-7386-E965CCC8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425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A341E-C750-0DC3-510E-09E67353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E0E7-628D-6915-D4AE-AD283E3DB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700C2-803C-52C3-C125-E556E75FF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E7B9D-38D8-448C-081C-3062B8391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3ABAF-1C8F-6581-2359-6FC7F46E9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C7C88-45C3-C190-93C4-56799231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DC78A-174E-8ACA-A0C4-E3A02306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86632-2055-046C-2D92-9D7F0345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836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4794-3BCF-ADEB-B30D-FDF8B9EC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E9F18-ED30-64FD-A70D-24CB8069A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107D4-749E-382B-51B2-33E7C958B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62BED-DEA6-3C31-4E70-3E720302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860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93E30-5439-E915-8644-E5ACD578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D3974-C99B-6175-0B2C-2BA66196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FDC6-E681-EBAE-9424-DEAF1455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22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A9AE-9297-2436-4E42-0DA09D28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CCDEA-643F-54E1-27CA-B8C6F5B71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145FF-83E7-C78A-0878-0C8A9B7C7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7BFDA-AB18-2B64-7418-6E0AF018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3DF90-7028-FB22-F835-01658086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19A13-CF4C-3C4D-37E3-6F7F5545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524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E32A-B4AD-6AC7-087E-4D9D3E2A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906EB-9845-4307-2F85-81C4C4BF2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37704-006C-FC70-8E3B-CA20FDA85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0D394-F85C-9439-2BFA-5F0ED615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DF47D-F243-45AA-A1B9-EF48FDD45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47E06-9B11-C8D4-5665-2BAB30CB7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772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3656-4D0D-0E0E-0679-72606EA5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A3827-B4A8-C56B-C445-3262035B6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19B2C-5DF4-1700-06CE-0DE42F47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7A932-B10E-5C88-A4A7-40472D887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F1DE9-44DC-3462-F548-329E3B2A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235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A4894-8F45-8BE8-DA86-60985F7A6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D897A-E8EE-315B-4624-F1EC815AC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AB347-52EE-BA2B-4DF9-365B799C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48743-5518-57A4-7261-C7D186C1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C0F17-29C0-20C1-1360-93619DAA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420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2F6DC-FF5E-62B7-3E25-C6488221F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00CEB-C4FC-CB59-EED2-8321BC98A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6E81F-82A2-3CC5-27AD-A4FEA953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1ACD5-BBE2-D172-624C-E6C5C69D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5CF5D-C71A-7495-FF7B-DF0EE84B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27229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ED68-C9EE-98A3-909C-AE2F0114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C8A26-4C1C-3FF2-5572-D7BD13220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15DF0-0C51-E25D-182C-DE352F6F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F244-433C-C86E-EB98-E19B02C7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3665E-389D-B989-3F18-3F725E69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5508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9DD7-34B9-3908-E007-F98B520D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2D658-0EB7-84E4-6E5D-5A6D1ABF5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FAFC-CF23-BF7E-2C3C-7E145363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4D8A2-C2D2-E643-B9A4-161FCB17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B0974-F596-9D59-D45F-DA3ECAB9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48400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F0F9-689C-B3AC-6D5D-497D1548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0871E-EFE2-4EE6-FA61-CC4A7DAE0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50DE0-4198-E7D6-F0B5-D28A7257B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F6FC0-B85A-2ADC-9E56-BC306FDD5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1DDAF-A2B9-3101-5CA1-AFE76D05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E8801-7A9B-1E96-7FF8-DF897A67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06598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D593-3386-DAFF-AD5B-40231E72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4D206-D278-49E2-691E-D80769AD5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280B3-82C5-47C8-BE36-9FB0301AD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86D945-721F-4AEC-609C-A1BE0CD6E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86560-E007-0EA8-ED7B-ECABD35DF1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87BB62-35EC-19FB-E967-42BE45FC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5BA2-E68A-0E05-4159-E31B6381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5FA4D3-A3D1-5871-AFD9-4055CF58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8025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85F1-5AB4-E9AB-1390-F0F18AE4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D5917-7291-82C5-2AD2-DA8300C6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80B2E-9A29-BE05-A1CD-24E3547E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27D0B-3D0C-0502-216D-1C4576E2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783260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E9E62-297C-382A-D233-E5B73DF1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402BA-B2F1-D273-D4FD-4039FE8F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A60EC-6034-4477-C8CD-F4514735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56492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FE71-9C00-88E7-AD47-C509F4CF4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7D368-F521-8C87-1887-DE9E1469F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41B52-4F81-0D9D-101C-480629ED2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39096-83FE-CC1B-A690-69080644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79EB5-71C4-C10B-57E9-96FB1F2C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BAC93-33DF-2D73-5952-550E6E33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921973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0C85-B006-08E1-B66D-BE471FABA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743A8-31E8-6CF4-6825-4150F2480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04C78-7D4E-73AF-7DA8-F1FFAD93C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61360-A0C6-1AF3-85E1-79955D4F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5B23B-0F5E-7CC4-9285-01EABFA9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469C1-6292-385B-A0AA-53E8BA44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65317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D48F-2701-9490-F41F-42F4AEEB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3F84-A567-D378-B967-B8DC379BC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2377A-4703-F686-112E-1C9B5EE6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33796-C41A-CC3E-C392-176B9964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2019C-464A-E3B0-04FE-361199DE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385638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BE3B5-F509-0B2F-A1E4-10F7B7E08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31248-D824-41B5-195E-E680AEF66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4645A-8E4C-2933-69BE-8C15B14F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798A7-57BA-3661-A191-3B1EEAC9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53D3-B8C7-5CEB-E6E8-6538C979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557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EF7FA-3EDC-2D86-4943-9654AFB7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38495-33BD-D9E6-3E71-78336A634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E84F5-96BF-1143-5D4F-3E79B4475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49BF2-4365-4471-8F25-C764307FFEC9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2704A-328E-7C62-7713-92FD28C37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D76FA-B64B-F483-9572-84D87A5A2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DC9BB-D2B0-4813-8FC2-B02FB09941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605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F8F9F9-8DC6-7966-F0A0-0824A6BA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C9B20-C4CC-A994-1AF8-C3A333B2C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D7A1-6E59-F176-852D-021BDAC74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383B0-1181-44DE-AB10-78ABA2BEE857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15DAD-19AE-F1C8-58EA-69DDD122F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FE9A1-81C6-DB44-64E4-B7CDEB55C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6BB03-3A42-4DBC-AFC0-ACF0721127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062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5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gif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7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1631-93F1-C405-E251-2B54C95D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9F22DE4-94EB-39F0-89D9-03361A68D6A3}"/>
              </a:ext>
            </a:extLst>
          </p:cNvPr>
          <p:cNvSpPr txBox="1"/>
          <p:nvPr/>
        </p:nvSpPr>
        <p:spPr>
          <a:xfrm>
            <a:off x="322513" y="1796686"/>
            <a:ext cx="113327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dirty="0">
                <a:latin typeface="LM Roman 12" panose="00000500000000000000" pitchFamily="50" charset="0"/>
              </a:rPr>
              <a:t>5</a:t>
            </a:r>
            <a:r>
              <a:rPr lang="en-ZA" sz="8800" b="0" i="0" u="none" strike="noStrike" baseline="0" dirty="0">
                <a:latin typeface="LM Roman 12" panose="00000500000000000000" pitchFamily="50" charset="0"/>
              </a:rPr>
              <a:t>. </a:t>
            </a:r>
            <a:r>
              <a:rPr lang="en-ZA" sz="8800" dirty="0">
                <a:latin typeface="LM Roman 12" panose="00000500000000000000" pitchFamily="50" charset="0"/>
              </a:rPr>
              <a:t>Functions II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10| Review of functions</a:t>
            </a:r>
          </a:p>
          <a:p>
            <a:r>
              <a:rPr lang="en-US" dirty="0">
                <a:latin typeface="LM Roman 12" panose="00000500000000000000" pitchFamily="50" charset="0"/>
              </a:rPr>
              <a:t>	    Header files</a:t>
            </a:r>
          </a:p>
          <a:p>
            <a:r>
              <a:rPr lang="en-US" dirty="0">
                <a:latin typeface="LM Roman 12" panose="00000500000000000000" pitchFamily="50" charset="0"/>
              </a:rPr>
              <a:t>	    Calling functions (by-value vs by-reference)</a:t>
            </a:r>
          </a:p>
          <a:p>
            <a:r>
              <a:rPr lang="en-US" dirty="0">
                <a:latin typeface="LM Roman 12" panose="00000500000000000000" pitchFamily="50" charset="0"/>
              </a:rPr>
              <a:t>	    Random number generation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561FED-98B4-02ED-C2E4-85CAF639342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8D1F58-C212-9455-ABF2-84ED11DB4A4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3FF182A-FD5D-3CFD-8813-9E939ED18D9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97A2E3-CCEA-C35F-2E65-FD117EA655E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188EE5-4119-8411-0FEB-30B0A37B973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C057813-A978-8B4E-F9FA-107D2350AA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944DD60-5BDF-826F-FBD4-399BEF4A712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352DA1D-6F1C-B448-E6B8-2D2DC088B9C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7A289C7-41A9-2324-7598-51E9B98690CB}"/>
              </a:ext>
            </a:extLst>
          </p:cNvPr>
          <p:cNvSpPr txBox="1"/>
          <p:nvPr/>
        </p:nvSpPr>
        <p:spPr>
          <a:xfrm>
            <a:off x="8198364" y="6304002"/>
            <a:ext cx="242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Chapters 5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D27C26-AE26-B2B2-7D5D-D0A22597E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531" y="3073959"/>
            <a:ext cx="5103824" cy="32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764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2E78-FA3B-875A-5CF7-F7945C92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A524524-B7A5-3144-80AD-D5F0EFCEA93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A677D6-3CA5-BA5E-B318-2A1D2969943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A6D1AA-8036-A288-5D70-BD6D0B9F9C8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BDDA72-F4D1-648F-4BB9-DDE39C84121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54811F0-B641-DBA0-1B45-B9AF4E8DF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B57C1D-7ECA-8E73-F3F6-008D65EE342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9523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687BED-AF82-E555-67CE-E029C9A6F7B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 review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92F5538-8B19-52A7-5F3C-B39746CF47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352484" y="1245641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61802A-3DE0-6B4D-7522-192CB176E7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91"/>
          <a:stretch>
            <a:fillRect/>
          </a:stretch>
        </p:blipFill>
        <p:spPr>
          <a:xfrm>
            <a:off x="1352484" y="1819951"/>
            <a:ext cx="9964689" cy="328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9532D0-1AFF-7824-1CF4-2A79A821DCE2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C9E083-5FEE-6D5C-99F1-9EE41DCDB656}"/>
              </a:ext>
            </a:extLst>
          </p:cNvPr>
          <p:cNvSpPr/>
          <p:nvPr/>
        </p:nvSpPr>
        <p:spPr>
          <a:xfrm>
            <a:off x="60036" y="5365813"/>
            <a:ext cx="12071927" cy="7977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 dirty="0" err="1">
                <a:solidFill>
                  <a:srgbClr val="FF0000"/>
                </a:solidFill>
                <a:latin typeface="LM Roman 12" panose="00000500000000000000" pitchFamily="50" charset="0"/>
              </a:rPr>
              <a:t>functionName</a:t>
            </a:r>
            <a:r>
              <a:rPr lang="en-ZA" sz="4400" dirty="0">
                <a:latin typeface="LM Roman 12" panose="00000500000000000000" pitchFamily="50" charset="0"/>
              </a:rPr>
              <a:t> 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(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argument1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argument2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… ) 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40EDC5-9343-78C4-DA74-AD35BC73D64E}"/>
              </a:ext>
            </a:extLst>
          </p:cNvPr>
          <p:cNvSpPr txBox="1"/>
          <p:nvPr/>
        </p:nvSpPr>
        <p:spPr>
          <a:xfrm>
            <a:off x="4264712" y="6088559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FORMAT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973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3CA7-6464-1F4E-BE9D-EA0A5CD52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FD86C67-3495-F29E-90C3-4698572E3E9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57C96C7-D5FA-5185-D6CD-047BA4BB92B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AD0AD06-4C60-C398-E86D-9C25AADEA70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46B9ED-9EA7-1B23-89EB-24FA3212721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5F7C6C5-3BA8-3861-4FDB-644710452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350A79C-B29E-DB82-F136-B0ECC184B28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9523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76E8A66-A40A-0B3E-33DE-6DBB481199A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Functions Review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C2D4F4-1DFD-A37A-2945-73B74CF30C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0"/>
          <a:stretch>
            <a:fillRect/>
          </a:stretch>
        </p:blipFill>
        <p:spPr>
          <a:xfrm>
            <a:off x="1352484" y="5087486"/>
            <a:ext cx="9964689" cy="58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6F7856-9CBB-5813-ECE8-3E73EE1997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891"/>
          <a:stretch>
            <a:fillRect/>
          </a:stretch>
        </p:blipFill>
        <p:spPr>
          <a:xfrm>
            <a:off x="1352484" y="5661796"/>
            <a:ext cx="9964689" cy="328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8A6E52-A217-1BDA-5E1C-794D0B9374C4}"/>
              </a:ext>
            </a:extLst>
          </p:cNvPr>
          <p:cNvSpPr txBox="1"/>
          <p:nvPr/>
        </p:nvSpPr>
        <p:spPr>
          <a:xfrm>
            <a:off x="9568206" y="5292464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8334A2-B54C-5A05-4C63-9C60A7E4C7F5}"/>
              </a:ext>
            </a:extLst>
          </p:cNvPr>
          <p:cNvSpPr/>
          <p:nvPr/>
        </p:nvSpPr>
        <p:spPr>
          <a:xfrm>
            <a:off x="60036" y="9207658"/>
            <a:ext cx="12071927" cy="7977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4400" b="1" dirty="0" err="1">
                <a:solidFill>
                  <a:srgbClr val="FF0000"/>
                </a:solidFill>
                <a:latin typeface="LM Roman 12" panose="00000500000000000000" pitchFamily="50" charset="0"/>
              </a:rPr>
              <a:t>functionName</a:t>
            </a:r>
            <a:r>
              <a:rPr lang="en-ZA" sz="4400" dirty="0">
                <a:latin typeface="LM Roman 12" panose="00000500000000000000" pitchFamily="50" charset="0"/>
              </a:rPr>
              <a:t> 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(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argument1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argument2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 , … ) 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AEBD4-F596-E29A-F634-728D37F48C64}"/>
              </a:ext>
            </a:extLst>
          </p:cNvPr>
          <p:cNvSpPr txBox="1"/>
          <p:nvPr/>
        </p:nvSpPr>
        <p:spPr>
          <a:xfrm>
            <a:off x="4264712" y="9930404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u="sng" dirty="0">
                <a:latin typeface="LM Roman 12" panose="00000500000000000000" pitchFamily="50" charset="0"/>
              </a:rPr>
              <a:t>FORMAT</a:t>
            </a:r>
            <a:endParaRPr lang="en-ZA" sz="4400" b="1" u="sng" dirty="0">
              <a:solidFill>
                <a:srgbClr val="00B0F0"/>
              </a:solidFill>
              <a:latin typeface="LM Roman 12" panose="00000500000000000000" pitchFamily="50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A399B3-40C1-18F4-22FF-16B72957CDC2}"/>
              </a:ext>
            </a:extLst>
          </p:cNvPr>
          <p:cNvGrpSpPr/>
          <p:nvPr/>
        </p:nvGrpSpPr>
        <p:grpSpPr>
          <a:xfrm>
            <a:off x="1352484" y="1924195"/>
            <a:ext cx="4318000" cy="2506133"/>
            <a:chOff x="3412067" y="2286000"/>
            <a:chExt cx="4318000" cy="25061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FDD578-D20C-4F88-AD04-7A6C1F5652CA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stdio.h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: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printf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scanf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  <a:p>
              <a:pPr algn="ctr"/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math.h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: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sqrt(), pow(), exp()</a:t>
              </a:r>
            </a:p>
            <a:p>
              <a:pPr algn="ctr"/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Example:</a:t>
              </a:r>
              <a:b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</a:br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x = cos(1.15);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CD9156-4BA1-0D0F-4AE1-4B2011720579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 standard library functions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94C1AB-A4A6-0EB5-C730-CF6E9708F541}"/>
              </a:ext>
            </a:extLst>
          </p:cNvPr>
          <p:cNvGrpSpPr/>
          <p:nvPr/>
        </p:nvGrpSpPr>
        <p:grpSpPr>
          <a:xfrm>
            <a:off x="6618059" y="1926829"/>
            <a:ext cx="4318000" cy="2506133"/>
            <a:chOff x="3412067" y="2286000"/>
            <a:chExt cx="4318000" cy="250613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0E356F-A604-8BE8-B220-E318C1661DD3}"/>
                </a:ext>
              </a:extLst>
            </p:cNvPr>
            <p:cNvSpPr/>
            <p:nvPr/>
          </p:nvSpPr>
          <p:spPr>
            <a:xfrm>
              <a:off x="3412067" y="2286000"/>
              <a:ext cx="4318000" cy="25061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calculateMean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calculateMedian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calculateminVal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  <a:p>
              <a:pPr algn="ctr"/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Example:</a:t>
              </a:r>
            </a:p>
            <a:p>
              <a:pPr algn="ctr"/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int maximum(int x, int y, int z)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737E3CB-7A55-41C2-35D9-6ED0F6364A37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functions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D468D8E7-9D9C-9ADB-77E4-10C350DC5A6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722956" y="3714237"/>
              <a:ext cx="426206" cy="239742"/>
            </p:xfrm>
            <a:graphic>
              <a:graphicData uri="http://schemas.microsoft.com/office/powerpoint/2016/slidezoom">
                <pslz:sldZm>
                  <pslz:sldZmObj sldId="531" cId="2652146679">
                    <pslz:zmPr id="{756FE26A-6A4E-44BC-9A21-33BD96D9AB75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6206" cy="23974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D468D8E7-9D9C-9ADB-77E4-10C350DC5A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22956" y="3714237"/>
                <a:ext cx="426206" cy="2397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047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D6FDF7-EF02-1B0D-4046-16D180CCD9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58"/>
          <a:stretch>
            <a:fillRect/>
          </a:stretch>
        </p:blipFill>
        <p:spPr>
          <a:xfrm>
            <a:off x="176170" y="51513"/>
            <a:ext cx="4118213" cy="4554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F64161-D1CB-DB3C-6DF6-22A21CF12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56" y="4723667"/>
            <a:ext cx="3931240" cy="2082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3D8809-CDBC-53FE-C78B-1A4F99E6E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69939"/>
            <a:ext cx="5037257" cy="10745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A1EF68-1957-CE81-1784-20A20CCBE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293305"/>
            <a:ext cx="5082980" cy="10696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DF2C35-68BD-5236-5817-9105C27A2591}"/>
              </a:ext>
            </a:extLst>
          </p:cNvPr>
          <p:cNvSpPr txBox="1"/>
          <p:nvPr/>
        </p:nvSpPr>
        <p:spPr>
          <a:xfrm>
            <a:off x="7112380" y="800607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SAMPLE OUTPUT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4672EC-9F7D-8A3C-7D4C-32214E4757E7}"/>
              </a:ext>
            </a:extLst>
          </p:cNvPr>
          <p:cNvSpPr txBox="1"/>
          <p:nvPr/>
        </p:nvSpPr>
        <p:spPr>
          <a:xfrm>
            <a:off x="7423276" y="2866244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SAMPLE OUTPUT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7D6E85-2935-5DAA-119F-27F9420927D4}"/>
              </a:ext>
            </a:extLst>
          </p:cNvPr>
          <p:cNvSpPr txBox="1"/>
          <p:nvPr/>
        </p:nvSpPr>
        <p:spPr>
          <a:xfrm>
            <a:off x="7416223" y="5068176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SAMPLE OUTPUT 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D61E9C-D2F7-BC71-CFE8-48CDCC098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437508"/>
            <a:ext cx="5082980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4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EE6F-AC59-D6C7-ED5D-3DC5FDD3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729F441-7A7E-7688-5050-530B8563FAF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411E39-D767-9424-4FC9-179162ABE1A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B38FBBC-31BF-4D6A-690C-4A4CF95F8B4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CF2507-51E3-0708-1766-C6C57F27F26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2BE2390-36B4-158F-18FF-3076A430BA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5F42EA-F6CB-E7F6-D1B3-BAD07E7AD47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30CD072-E7F8-50BA-1AE0-26631E79E6F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Header files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F448D10-B0F2-5EF3-1294-A51F05488E76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C4C5EE-B5CE-CB67-D5D2-117741EA5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275" y="1245641"/>
            <a:ext cx="5588581" cy="5294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F403C9-C728-D31F-5ED7-FDA1D23BC3DC}"/>
              </a:ext>
            </a:extLst>
          </p:cNvPr>
          <p:cNvSpPr txBox="1"/>
          <p:nvPr/>
        </p:nvSpPr>
        <p:spPr>
          <a:xfrm>
            <a:off x="3388798" y="1026691"/>
            <a:ext cx="4923098" cy="8478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C11AA-7BB0-E7EF-4E0B-85572FEF8141}"/>
              </a:ext>
            </a:extLst>
          </p:cNvPr>
          <p:cNvSpPr txBox="1"/>
          <p:nvPr/>
        </p:nvSpPr>
        <p:spPr>
          <a:xfrm>
            <a:off x="6613995" y="1026691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HEADER FILES</a:t>
            </a:r>
          </a:p>
        </p:txBody>
      </p:sp>
    </p:spTree>
    <p:extLst>
      <p:ext uri="{BB962C8B-B14F-4D97-AF65-F5344CB8AC3E}">
        <p14:creationId xmlns:p14="http://schemas.microsoft.com/office/powerpoint/2010/main" val="877136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A592-6463-F065-631F-D7A5827DA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95915E8-D8D2-07E1-DEAD-02ADF20B6AA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AB835A5-9BBB-F607-026F-594A61809A8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0CA349-C0B3-78DE-0335-D5007E83ECC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DB4DE0-E534-44F2-9735-BCD3F379CA0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28E1DED-763B-B807-4067-138A00F416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6FCC4CF-4149-0E9B-1F86-4ACB61AA904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E79EF06-3E1D-77CA-EE61-AB942909722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Header files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0735CCE-6381-485F-8499-A6B146FE1511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FD343-61F6-EB49-3F88-30C3571C9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275" y="1245641"/>
            <a:ext cx="5588581" cy="52949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41519C-865B-06D6-DA44-589F1CF37016}"/>
              </a:ext>
            </a:extLst>
          </p:cNvPr>
          <p:cNvSpPr txBox="1"/>
          <p:nvPr/>
        </p:nvSpPr>
        <p:spPr>
          <a:xfrm>
            <a:off x="6613995" y="1026691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HEADER FILES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31BEB-3FD1-5253-5CDB-24E4B7D5A7CB}"/>
              </a:ext>
            </a:extLst>
          </p:cNvPr>
          <p:cNvSpPr txBox="1"/>
          <p:nvPr/>
        </p:nvSpPr>
        <p:spPr>
          <a:xfrm>
            <a:off x="3388798" y="1026691"/>
            <a:ext cx="4923098" cy="8478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EB3ACAD-A6AA-A93C-0584-F9F845542B41}"/>
              </a:ext>
            </a:extLst>
          </p:cNvPr>
          <p:cNvSpPr/>
          <p:nvPr/>
        </p:nvSpPr>
        <p:spPr>
          <a:xfrm rot="19633548">
            <a:off x="84364" y="2106694"/>
            <a:ext cx="3886200" cy="555700"/>
          </a:xfrm>
          <a:prstGeom prst="rightArrow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6EA0E-3317-34CF-7DB5-6AD93EBB73AE}"/>
              </a:ext>
            </a:extLst>
          </p:cNvPr>
          <p:cNvSpPr txBox="1"/>
          <p:nvPr/>
        </p:nvSpPr>
        <p:spPr>
          <a:xfrm>
            <a:off x="1255742" y="3650317"/>
            <a:ext cx="2261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 err="1">
                <a:latin typeface="LM Roman 12" panose="00000500000000000000" pitchFamily="50" charset="0"/>
              </a:rPr>
              <a:t>printf</a:t>
            </a:r>
            <a:r>
              <a:rPr lang="en-ZA" sz="4800" b="1" dirty="0">
                <a:latin typeface="LM Roman 12" panose="00000500000000000000" pitchFamily="50" charset="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7DFFD-9B33-AFCC-A476-4E83F8414415}"/>
              </a:ext>
            </a:extLst>
          </p:cNvPr>
          <p:cNvSpPr txBox="1"/>
          <p:nvPr/>
        </p:nvSpPr>
        <p:spPr>
          <a:xfrm>
            <a:off x="1352484" y="4646935"/>
            <a:ext cx="20970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 err="1">
                <a:latin typeface="LM Roman 12" panose="00000500000000000000" pitchFamily="50" charset="0"/>
              </a:rPr>
              <a:t>scanf</a:t>
            </a:r>
            <a:r>
              <a:rPr lang="en-ZA" sz="4800" b="1" dirty="0">
                <a:latin typeface="LM Roman 12" panose="00000500000000000000" pitchFamily="50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30B2D4-8B27-CA92-6ABE-783E6C5DBB8C}"/>
              </a:ext>
            </a:extLst>
          </p:cNvPr>
          <p:cNvSpPr txBox="1"/>
          <p:nvPr/>
        </p:nvSpPr>
        <p:spPr>
          <a:xfrm rot="19557296">
            <a:off x="1452408" y="2076739"/>
            <a:ext cx="155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  <a:latin typeface="LM Roman 12" panose="00000500000000000000" pitchFamily="50" charset="0"/>
              </a:rPr>
              <a:t>&lt;</a:t>
            </a:r>
            <a:r>
              <a:rPr lang="en-ZA" b="1" dirty="0" err="1">
                <a:solidFill>
                  <a:schemeClr val="bg1"/>
                </a:solidFill>
                <a:latin typeface="LM Roman 12" panose="00000500000000000000" pitchFamily="50" charset="0"/>
              </a:rPr>
              <a:t>Stdio.h</a:t>
            </a:r>
            <a:r>
              <a:rPr lang="en-ZA" b="1" dirty="0">
                <a:solidFill>
                  <a:schemeClr val="bg1"/>
                </a:solidFill>
                <a:latin typeface="LM Roman 12" panose="00000500000000000000" pitchFamily="50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069706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3158C-871C-75BD-86FD-6CA82ABD0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0E362EE-C461-97D8-E4F1-26A0C7019DC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532ED6B-F72D-BFF0-549D-9C58E40226A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372F3E4-EDF3-4645-98F6-C6EBB33AF2E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277A33-D6FB-CB29-E5A9-F419662D8E6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BC562E1-0715-9AC0-00F8-3E58C2558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16A4CB-C66F-9192-1B45-18AA8044F5C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C54775B-FBAA-942E-BB2F-F90B602FA18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Header files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0A0B6E-796E-E8F3-E4FE-B00573CA92B4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AA8146-DAB7-7878-E97C-C28E112C1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275" y="1245641"/>
            <a:ext cx="5588581" cy="52949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D9B79F-68B3-B5CC-3190-C85FB7FB1F0A}"/>
              </a:ext>
            </a:extLst>
          </p:cNvPr>
          <p:cNvSpPr txBox="1"/>
          <p:nvPr/>
        </p:nvSpPr>
        <p:spPr>
          <a:xfrm>
            <a:off x="6613995" y="1026691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HEADER FILES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2485AE-EA6A-2227-1300-518FEF5810CE}"/>
              </a:ext>
            </a:extLst>
          </p:cNvPr>
          <p:cNvSpPr txBox="1"/>
          <p:nvPr/>
        </p:nvSpPr>
        <p:spPr>
          <a:xfrm>
            <a:off x="3388798" y="1026691"/>
            <a:ext cx="4923098" cy="8478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5EB8CCF-EBB2-AE24-9B1D-880628366A34}"/>
              </a:ext>
            </a:extLst>
          </p:cNvPr>
          <p:cNvSpPr/>
          <p:nvPr/>
        </p:nvSpPr>
        <p:spPr>
          <a:xfrm rot="19633548">
            <a:off x="84363" y="2321600"/>
            <a:ext cx="3886200" cy="555700"/>
          </a:xfrm>
          <a:prstGeom prst="rightArrow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9E850-61D3-DEB9-393D-D96E3907F222}"/>
              </a:ext>
            </a:extLst>
          </p:cNvPr>
          <p:cNvSpPr txBox="1"/>
          <p:nvPr/>
        </p:nvSpPr>
        <p:spPr>
          <a:xfrm rot="19557296">
            <a:off x="1429945" y="2278293"/>
            <a:ext cx="155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  <a:latin typeface="LM Roman 12" panose="00000500000000000000" pitchFamily="50" charset="0"/>
              </a:rPr>
              <a:t>&lt;</a:t>
            </a:r>
            <a:r>
              <a:rPr lang="en-ZA" b="1" dirty="0" err="1">
                <a:solidFill>
                  <a:schemeClr val="bg1"/>
                </a:solidFill>
                <a:latin typeface="LM Roman 12" panose="00000500000000000000" pitchFamily="50" charset="0"/>
              </a:rPr>
              <a:t>stdlib.h</a:t>
            </a:r>
            <a:r>
              <a:rPr lang="en-ZA" b="1" dirty="0">
                <a:solidFill>
                  <a:schemeClr val="bg1"/>
                </a:solidFill>
                <a:latin typeface="LM Roman 12" panose="00000500000000000000" pitchFamily="50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C751D-FFC8-C963-5292-71216FA77101}"/>
              </a:ext>
            </a:extLst>
          </p:cNvPr>
          <p:cNvSpPr txBox="1"/>
          <p:nvPr/>
        </p:nvSpPr>
        <p:spPr>
          <a:xfrm>
            <a:off x="1399721" y="3096290"/>
            <a:ext cx="17427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exit()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690246-6E40-8D57-6FC7-298334057003}"/>
              </a:ext>
            </a:extLst>
          </p:cNvPr>
          <p:cNvSpPr txBox="1"/>
          <p:nvPr/>
        </p:nvSpPr>
        <p:spPr>
          <a:xfrm>
            <a:off x="1399721" y="3976530"/>
            <a:ext cx="17620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 err="1">
                <a:latin typeface="LM Roman 12" panose="00000500000000000000" pitchFamily="50" charset="0"/>
              </a:rPr>
              <a:t>atoi</a:t>
            </a:r>
            <a:r>
              <a:rPr lang="en-ZA" sz="4800" b="1" dirty="0">
                <a:latin typeface="LM Roman 12" panose="00000500000000000000" pitchFamily="50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7B0BB2-40F2-C7A9-20EE-D09DF8297A37}"/>
              </a:ext>
            </a:extLst>
          </p:cNvPr>
          <p:cNvSpPr txBox="1"/>
          <p:nvPr/>
        </p:nvSpPr>
        <p:spPr>
          <a:xfrm>
            <a:off x="1390102" y="4856770"/>
            <a:ext cx="1558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div()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420F5-AE5D-2CEA-A1EA-C1F454AFA01C}"/>
              </a:ext>
            </a:extLst>
          </p:cNvPr>
          <p:cNvSpPr txBox="1"/>
          <p:nvPr/>
        </p:nvSpPr>
        <p:spPr>
          <a:xfrm>
            <a:off x="1399721" y="5667244"/>
            <a:ext cx="2279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rand()*</a:t>
            </a:r>
          </a:p>
        </p:txBody>
      </p:sp>
    </p:spTree>
    <p:extLst>
      <p:ext uri="{BB962C8B-B14F-4D97-AF65-F5344CB8AC3E}">
        <p14:creationId xmlns:p14="http://schemas.microsoft.com/office/powerpoint/2010/main" val="3092828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A397F-3103-5485-D22E-A605363B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D4D9AA8-A1E3-5379-CDE9-A2F649FF27F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B5D992D-9882-05D4-CA82-E6291E02192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334F4F-3C9D-5BB1-4F39-2F788D7AFAD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A1DD6D4-D343-1E88-45EE-1CD253EAB54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D2F7854-CCF9-0482-083D-FABD7C2738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43EC0B-BCE5-4623-EDD6-DDEDA199C68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611F09-033E-69E6-F387-D1D9EFBBD7E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Header files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33F8318-6FFF-15D1-D0A8-1A348440B0E1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4F021B-1C33-572C-0137-BD50991F1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275" y="1245641"/>
            <a:ext cx="5588581" cy="52949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978BE09-4DE5-9FFF-A4A9-A51051FE9F5B}"/>
              </a:ext>
            </a:extLst>
          </p:cNvPr>
          <p:cNvSpPr txBox="1"/>
          <p:nvPr/>
        </p:nvSpPr>
        <p:spPr>
          <a:xfrm>
            <a:off x="6613995" y="1026691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HEADER FILES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3978B-E97B-AA9F-565E-8E66C0291021}"/>
              </a:ext>
            </a:extLst>
          </p:cNvPr>
          <p:cNvSpPr txBox="1"/>
          <p:nvPr/>
        </p:nvSpPr>
        <p:spPr>
          <a:xfrm>
            <a:off x="3388798" y="1026691"/>
            <a:ext cx="4923098" cy="8478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E5BAB51-DDBF-5ED6-0492-C29959BC73F1}"/>
              </a:ext>
            </a:extLst>
          </p:cNvPr>
          <p:cNvSpPr/>
          <p:nvPr/>
        </p:nvSpPr>
        <p:spPr>
          <a:xfrm rot="11780969">
            <a:off x="5033436" y="1927937"/>
            <a:ext cx="3886200" cy="555700"/>
          </a:xfrm>
          <a:prstGeom prst="rightArrow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5CF21-0F7C-AAFE-446A-2DDC8CB90541}"/>
              </a:ext>
            </a:extLst>
          </p:cNvPr>
          <p:cNvSpPr txBox="1"/>
          <p:nvPr/>
        </p:nvSpPr>
        <p:spPr>
          <a:xfrm rot="1161642">
            <a:off x="6195626" y="2021120"/>
            <a:ext cx="155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 err="1">
                <a:solidFill>
                  <a:schemeClr val="bg1"/>
                </a:solidFill>
                <a:latin typeface="LM Roman 12" panose="00000500000000000000" pitchFamily="50" charset="0"/>
              </a:rPr>
              <a:t>math.h</a:t>
            </a:r>
            <a:endParaRPr lang="en-ZA" b="1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EC0B2-A4D5-5FE1-B325-77EF0EA0CD9E}"/>
              </a:ext>
            </a:extLst>
          </p:cNvPr>
          <p:cNvSpPr txBox="1"/>
          <p:nvPr/>
        </p:nvSpPr>
        <p:spPr>
          <a:xfrm>
            <a:off x="9292333" y="1987169"/>
            <a:ext cx="18101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pow()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42BF5D-FC43-E77D-253E-E4C06A810006}"/>
              </a:ext>
            </a:extLst>
          </p:cNvPr>
          <p:cNvSpPr txBox="1"/>
          <p:nvPr/>
        </p:nvSpPr>
        <p:spPr>
          <a:xfrm>
            <a:off x="9292333" y="2867409"/>
            <a:ext cx="1624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ceil()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9477A8-E938-0589-A094-B08401E922CD}"/>
              </a:ext>
            </a:extLst>
          </p:cNvPr>
          <p:cNvSpPr txBox="1"/>
          <p:nvPr/>
        </p:nvSpPr>
        <p:spPr>
          <a:xfrm>
            <a:off x="9282714" y="3747649"/>
            <a:ext cx="1979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floor()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FB99A7-247C-2541-410F-5FFD3E6AAD89}"/>
              </a:ext>
            </a:extLst>
          </p:cNvPr>
          <p:cNvSpPr txBox="1"/>
          <p:nvPr/>
        </p:nvSpPr>
        <p:spPr>
          <a:xfrm>
            <a:off x="9292333" y="4558123"/>
            <a:ext cx="1781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sqrt()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217863-9D34-9A8A-5AB8-E56192FC6C21}"/>
              </a:ext>
            </a:extLst>
          </p:cNvPr>
          <p:cNvSpPr txBox="1"/>
          <p:nvPr/>
        </p:nvSpPr>
        <p:spPr>
          <a:xfrm>
            <a:off x="9306759" y="5508129"/>
            <a:ext cx="2094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 err="1">
                <a:latin typeface="LM Roman 12" panose="00000500000000000000" pitchFamily="50" charset="0"/>
              </a:rPr>
              <a:t>fmod</a:t>
            </a:r>
            <a:r>
              <a:rPr lang="en-ZA" sz="4800" b="1" dirty="0">
                <a:latin typeface="LM Roman 12" panose="00000500000000000000" pitchFamily="50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9545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9410-D459-91E9-6E47-3D1FD8F7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802B926-A2B0-3211-7B69-3DF63FCA99E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3871E6A-9B67-BA69-5942-E5BF6FBB11B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B6298E-B019-27C2-8125-711573C39B3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A426F2-5DB6-A384-296D-8374E5596F1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DF823A0-E0D1-49EF-084D-7B9430D56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9E8FC51-703B-146D-D48F-C8A3813C939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0927CC-4553-931E-A5A9-0AA00EAD399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Header files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D9F9384-08DB-8E3D-FDC5-750C1A42D0B1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A6D02-2642-B31A-5A93-8C482C546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510" y="933107"/>
            <a:ext cx="7475673" cy="18739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396CBF0-5229-D5E7-BE55-3ACD5B40625E}"/>
              </a:ext>
            </a:extLst>
          </p:cNvPr>
          <p:cNvGrpSpPr/>
          <p:nvPr/>
        </p:nvGrpSpPr>
        <p:grpSpPr>
          <a:xfrm>
            <a:off x="322513" y="3163714"/>
            <a:ext cx="4318001" cy="3297006"/>
            <a:chOff x="3412067" y="2286000"/>
            <a:chExt cx="4318001" cy="329700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00673E-9AED-A2F7-E881-143D1BBB1D46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#include &lt;</a:t>
              </a:r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stdio.h</a:t>
              </a:r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&gt;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: </a:t>
              </a:r>
            </a:p>
            <a:p>
              <a:pPr algn="ctr"/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printf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(), </a:t>
              </a:r>
              <a:r>
                <a:rPr lang="en-ZA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scanf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()</a:t>
              </a:r>
            </a:p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  <a:p>
              <a:pPr algn="ctr"/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#include &lt;</a:t>
              </a:r>
              <a:r>
                <a:rPr lang="en-ZA" sz="2000" b="1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 </a:t>
              </a:r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math.h</a:t>
              </a:r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&gt;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:</a:t>
              </a:r>
            </a:p>
            <a:p>
              <a:pPr algn="ctr"/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sqrt(), pow(), exp()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C057C8-8903-9527-E231-CA99A7912585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C standard library functions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3A257A-720D-5A6B-E8A9-D0B83928B74F}"/>
              </a:ext>
            </a:extLst>
          </p:cNvPr>
          <p:cNvGrpSpPr/>
          <p:nvPr/>
        </p:nvGrpSpPr>
        <p:grpSpPr>
          <a:xfrm>
            <a:off x="7247183" y="3163714"/>
            <a:ext cx="4318000" cy="3372512"/>
            <a:chOff x="3412067" y="2286000"/>
            <a:chExt cx="4318000" cy="337251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97F3AD-CF57-B14E-7B56-E7DDFD1FFAB0}"/>
                </a:ext>
              </a:extLst>
            </p:cNvPr>
            <p:cNvSpPr/>
            <p:nvPr/>
          </p:nvSpPr>
          <p:spPr>
            <a:xfrm>
              <a:off x="3412067" y="2286000"/>
              <a:ext cx="4318000" cy="33725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  <a:p>
              <a:pPr algn="ctr"/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#include “</a:t>
              </a:r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functionName.h</a:t>
              </a:r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”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:</a:t>
              </a:r>
            </a:p>
            <a:p>
              <a:pPr algn="ctr"/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Example:</a:t>
              </a:r>
            </a:p>
            <a:p>
              <a:pPr algn="ctr"/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#include “</a:t>
              </a:r>
              <a:r>
                <a:rPr lang="en-ZA" sz="2000" b="1" dirty="0" err="1">
                  <a:solidFill>
                    <a:srgbClr val="00B0F0"/>
                  </a:solidFill>
                  <a:latin typeface="LM Roman 12" panose="00000500000000000000" pitchFamily="50" charset="0"/>
                </a:rPr>
                <a:t>calculateAverage.h</a:t>
              </a:r>
              <a:r>
                <a:rPr lang="en-ZA" sz="2000" b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”</a:t>
              </a:r>
              <a:r>
                <a: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:</a:t>
              </a:r>
            </a:p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6B9EFD-5D41-6F2B-D429-553455AFD98A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User-defined functions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Slide Zoom 22">
                <a:extLst>
                  <a:ext uri="{FF2B5EF4-FFF2-40B4-BE49-F238E27FC236}">
                    <a16:creationId xmlns:a16="http://schemas.microsoft.com/office/drawing/2014/main" id="{E7B4700A-0606-8068-1145-DDCB07A567E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61418" y="4536623"/>
              <a:ext cx="4413576" cy="2482636"/>
            </p:xfrm>
            <a:graphic>
              <a:graphicData uri="http://schemas.microsoft.com/office/powerpoint/2016/slidezoom">
                <pslz:sldZm>
                  <pslz:sldZmObj sldId="543" cId="1827416037">
                    <pslz:zmPr id="{9EBE8E73-E4BE-4EA4-A8D9-0C9B5B66B500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413576" cy="248263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Slide Zoom 2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7B4700A-0606-8068-1145-DDCB07A567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61418" y="4536623"/>
                <a:ext cx="4413576" cy="248263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779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90D4E5-A4E0-E451-E5B3-4C446658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39" y="1705080"/>
            <a:ext cx="9165034" cy="28038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311917-8C03-2CE2-F0EE-2DA6C05BE818}"/>
              </a:ext>
            </a:extLst>
          </p:cNvPr>
          <p:cNvSpPr/>
          <p:nvPr/>
        </p:nvSpPr>
        <p:spPr>
          <a:xfrm>
            <a:off x="3401568" y="4590288"/>
            <a:ext cx="3895344" cy="6583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DEMONSTRATION TIME!!</a:t>
            </a:r>
          </a:p>
        </p:txBody>
      </p:sp>
    </p:spTree>
    <p:extLst>
      <p:ext uri="{BB962C8B-B14F-4D97-AF65-F5344CB8AC3E}">
        <p14:creationId xmlns:p14="http://schemas.microsoft.com/office/powerpoint/2010/main" val="1827416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3187-6BA2-53DE-9F57-89C7B3159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2B45331-479F-76A6-8DC7-FEE47CB5949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E5A69F7-A8B4-BA12-CBD2-88571AF751A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B0B251-54FC-B14F-0318-4B45CEDF480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220ED0-5A94-9B8A-6A51-A5303B568D3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A5D95FB-BE21-6C41-E07E-6B84A5A866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60EE0B0-5AE6-52F3-0112-B6819D97D8D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7CB89CE-5D8A-CFEA-D4E2-92CA58520DB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Header files: NOTES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7D2DF89-38ED-8ED8-C6D9-E4406676B6B2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47C054-90A9-BF55-2DE2-AE245AF0C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1245641"/>
            <a:ext cx="7973876" cy="5107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99899-526F-3FDB-8434-D6254D4F0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737" y="6353382"/>
            <a:ext cx="7973876" cy="52825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1490F7-A8BE-339A-1E65-532914560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6736" y="11792365"/>
            <a:ext cx="7973877" cy="546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6951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4F4C-6863-B942-E996-8D4DC16F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13D717-4F2B-8C39-2C92-CBC6DC0DA0A9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2803EE-00BD-8224-8FCB-E40BC9088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487" y="-4007494"/>
            <a:ext cx="7973876" cy="5107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D31220-C572-1971-C432-6CE7FC1AE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704" y="1100247"/>
            <a:ext cx="7973876" cy="52825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5FF6C1-5FAC-E89C-D2ED-10D6C34F4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6487" y="6733174"/>
            <a:ext cx="7710237" cy="52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84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6438E2-7038-6D06-311D-7C2D5641C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881" y="-9952946"/>
            <a:ext cx="7973876" cy="5107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F8CFD-E838-0EA9-98EA-889015CF7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98" y="-4845205"/>
            <a:ext cx="7973876" cy="5282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2214AB-4AEC-2CDF-76C7-085C76ED3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881" y="787722"/>
            <a:ext cx="7710237" cy="52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378B-A1A1-DE69-8E4C-0A5DD8C2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44DD777-FE00-3E73-2F3A-C57A2C8E438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40FA864-0128-B64E-FF4F-EA9CAE18C44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C321C15-3685-9114-DBB1-69DF1E2A7C9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AD1251-DC04-AE5F-9157-0DE3D56AFA9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96A341A-E8BC-C562-BD74-CF61105D30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A6751C-493A-CBAD-6D71-73CE2CF0010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A61F07D-0E89-05F3-C1EC-5314F006B00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Random number generation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4B9B3A3-38B9-B2CC-D796-69F417CD3EB5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3" name="Picture 2" descr="Dices Game Roll - Free GIF on Pixabay">
            <a:extLst>
              <a:ext uri="{FF2B5EF4-FFF2-40B4-BE49-F238E27FC236}">
                <a16:creationId xmlns:a16="http://schemas.microsoft.com/office/drawing/2014/main" id="{A0D01B19-FA02-262D-A4FB-DEE6119FF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78" y="3090962"/>
            <a:ext cx="2583972" cy="1937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814897-AFB7-9E7E-6141-D6F570CB24A3}"/>
              </a:ext>
            </a:extLst>
          </p:cNvPr>
          <p:cNvSpPr txBox="1"/>
          <p:nvPr/>
        </p:nvSpPr>
        <p:spPr>
          <a:xfrm>
            <a:off x="26591" y="4883982"/>
            <a:ext cx="3507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>
                <a:latin typeface="LM Roman 12" panose="00000500000000000000" pitchFamily="50" charset="0"/>
              </a:rPr>
              <a:t>Rolling dice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9D3F1C-2A50-3412-9836-4BD356B4AE25}"/>
              </a:ext>
            </a:extLst>
          </p:cNvPr>
          <p:cNvSpPr txBox="1"/>
          <p:nvPr/>
        </p:nvSpPr>
        <p:spPr>
          <a:xfrm>
            <a:off x="1813856" y="960031"/>
            <a:ext cx="11357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Simulating uncertainty or chance?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2E45F1-D564-62B0-35A8-E4E39052A16D}"/>
              </a:ext>
            </a:extLst>
          </p:cNvPr>
          <p:cNvSpPr txBox="1"/>
          <p:nvPr/>
        </p:nvSpPr>
        <p:spPr>
          <a:xfrm>
            <a:off x="4039522" y="1740213"/>
            <a:ext cx="3507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>
                <a:solidFill>
                  <a:srgbClr val="FF0000"/>
                </a:solidFill>
                <a:latin typeface="LM Roman 12" panose="00000500000000000000" pitchFamily="50" charset="0"/>
              </a:rPr>
              <a:t>Examples</a:t>
            </a:r>
          </a:p>
        </p:txBody>
      </p:sp>
      <p:pic>
        <p:nvPicPr>
          <p:cNvPr id="27" name="Picture 26" descr="ball intro lottery machine cgi on Make a GIF">
            <a:extLst>
              <a:ext uri="{FF2B5EF4-FFF2-40B4-BE49-F238E27FC236}">
                <a16:creationId xmlns:a16="http://schemas.microsoft.com/office/drawing/2014/main" id="{62D49869-47FF-1B13-6677-5724FBF88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9180" y="2869803"/>
            <a:ext cx="3445296" cy="193797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8F57C70-75E2-8E8D-C245-CEDD3588C66C}"/>
              </a:ext>
            </a:extLst>
          </p:cNvPr>
          <p:cNvSpPr txBox="1"/>
          <p:nvPr/>
        </p:nvSpPr>
        <p:spPr>
          <a:xfrm>
            <a:off x="4242897" y="4807782"/>
            <a:ext cx="410806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>
                <a:latin typeface="LM Roman 12" panose="00000500000000000000" pitchFamily="50" charset="0"/>
              </a:rPr>
              <a:t>Lottery numbers</a:t>
            </a:r>
          </a:p>
        </p:txBody>
      </p:sp>
      <p:pic>
        <p:nvPicPr>
          <p:cNvPr id="32" name="Picture 31" descr="August Update - GIFs a Plenty + New Gameplay Info + Candid Chat! news -  ModDB">
            <a:extLst>
              <a:ext uri="{FF2B5EF4-FFF2-40B4-BE49-F238E27FC236}">
                <a16:creationId xmlns:a16="http://schemas.microsoft.com/office/drawing/2014/main" id="{3091B5CD-3720-134E-7EA0-F8907474A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2341" y="2724597"/>
            <a:ext cx="2724165" cy="208318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7F75A7F-8DFE-67FD-4FA3-5DFD9231AEE9}"/>
              </a:ext>
            </a:extLst>
          </p:cNvPr>
          <p:cNvSpPr txBox="1"/>
          <p:nvPr/>
        </p:nvSpPr>
        <p:spPr>
          <a:xfrm>
            <a:off x="9394034" y="4827210"/>
            <a:ext cx="410806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>
                <a:latin typeface="LM Roman 12" panose="00000500000000000000" pitchFamily="50" charset="0"/>
              </a:rPr>
              <a:t>Game</a:t>
            </a:r>
          </a:p>
          <a:p>
            <a:r>
              <a:rPr lang="en-ZA" sz="4400" b="1" dirty="0">
                <a:latin typeface="LM Roman 12" panose="00000500000000000000" pitchFamily="50" charset="0"/>
              </a:rPr>
              <a:t>spawns</a:t>
            </a:r>
          </a:p>
        </p:txBody>
      </p:sp>
    </p:spTree>
    <p:extLst>
      <p:ext uri="{BB962C8B-B14F-4D97-AF65-F5344CB8AC3E}">
        <p14:creationId xmlns:p14="http://schemas.microsoft.com/office/powerpoint/2010/main" val="102232038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3A0DC-C82E-0F4C-5A61-B04CEFDD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28DACCD-E01D-596D-7CCD-05E903E7A2C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2A2AC4D-5CAE-AD64-7704-6C7F283A60B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6BC557B-DE21-524F-7A8D-B0DE5BCCFD2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FA44F9-9785-70BF-6342-747A8495FC7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4DDC011-23FC-8ECC-B8D5-01C747E83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938C82-1065-24D1-F60E-0F3B49EB20C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2C5AA-3C3B-79A3-441E-F5A2452B8B2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Random number generation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15849C3-3D57-AAB4-1B27-1FF58457153D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E7EB1-AB33-BD52-A15A-00734F1EE08D}"/>
              </a:ext>
            </a:extLst>
          </p:cNvPr>
          <p:cNvSpPr txBox="1"/>
          <p:nvPr/>
        </p:nvSpPr>
        <p:spPr>
          <a:xfrm>
            <a:off x="2623794" y="1626627"/>
            <a:ext cx="6302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&lt;</a:t>
            </a:r>
            <a:r>
              <a:rPr lang="en-ZA" sz="4400" b="1" dirty="0" err="1">
                <a:solidFill>
                  <a:srgbClr val="00B0F0"/>
                </a:solidFill>
                <a:latin typeface="LM Roman 12" panose="00000500000000000000" pitchFamily="50" charset="0"/>
              </a:rPr>
              <a:t>stdlib.h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&gt;</a:t>
            </a:r>
            <a:r>
              <a:rPr lang="en-ZA" sz="4400" b="1" dirty="0">
                <a:latin typeface="LM Roman 12" panose="00000500000000000000" pitchFamily="50" charset="0"/>
              </a:rPr>
              <a:t> &amp;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rand()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CFD78E-CD71-2781-66E6-B41889E2B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08" y="2705371"/>
            <a:ext cx="6302286" cy="35131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CB4CDB-1DA4-D1CB-CB88-401196A22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539" y="3093700"/>
            <a:ext cx="4743517" cy="21376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BD30FD-C9F0-A024-0A52-3BE8D51668BC}"/>
              </a:ext>
            </a:extLst>
          </p:cNvPr>
          <p:cNvSpPr txBox="1"/>
          <p:nvPr/>
        </p:nvSpPr>
        <p:spPr>
          <a:xfrm>
            <a:off x="7637704" y="5098009"/>
            <a:ext cx="36653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Sample code</a:t>
            </a:r>
          </a:p>
        </p:txBody>
      </p:sp>
    </p:spTree>
    <p:extLst>
      <p:ext uri="{BB962C8B-B14F-4D97-AF65-F5344CB8AC3E}">
        <p14:creationId xmlns:p14="http://schemas.microsoft.com/office/powerpoint/2010/main" val="149139851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05C7E-EF75-8DFB-1407-F6F0E17A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63201B2-5DBC-FE65-6162-FAB1416F23D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AF68C59-0BF5-880B-62FC-58F9C933B0C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412151-2922-2885-69CF-D852838195C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B85D31-1181-53C8-BC2A-2D64A594D0C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4609C19-D6EF-7764-1832-FAC24C6D3D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452C2F8-F91B-FC6D-2809-8AD6C490601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83BBCD9-02D1-FF30-A496-1DAA50DE4FD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Random number generation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909162A-11CE-3F03-1FDA-68CBAFF8BBA7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1ED8E5-C7C4-AC5F-EC34-CAECE2686E46}"/>
              </a:ext>
            </a:extLst>
          </p:cNvPr>
          <p:cNvSpPr txBox="1"/>
          <p:nvPr/>
        </p:nvSpPr>
        <p:spPr>
          <a:xfrm>
            <a:off x="1347173" y="1515918"/>
            <a:ext cx="9492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&lt;</a:t>
            </a:r>
            <a:r>
              <a:rPr lang="en-ZA" sz="4400" b="1" dirty="0" err="1">
                <a:solidFill>
                  <a:srgbClr val="00B0F0"/>
                </a:solidFill>
                <a:latin typeface="LM Roman 12" panose="00000500000000000000" pitchFamily="50" charset="0"/>
              </a:rPr>
              <a:t>stdlib.h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&gt;</a:t>
            </a:r>
            <a:r>
              <a:rPr lang="en-ZA" sz="4400" b="1" dirty="0">
                <a:latin typeface="LM Roman 12" panose="00000500000000000000" pitchFamily="50" charset="0"/>
              </a:rPr>
              <a:t> &amp;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rand () &amp; </a:t>
            </a:r>
            <a:r>
              <a:rPr lang="en-ZA" sz="4400" b="1" dirty="0" err="1">
                <a:latin typeface="LM Roman 12" panose="00000500000000000000" pitchFamily="50" charset="0"/>
              </a:rPr>
              <a:t>s</a:t>
            </a:r>
            <a:r>
              <a:rPr lang="en-ZA" sz="4400" b="1" dirty="0" err="1">
                <a:solidFill>
                  <a:srgbClr val="00B0F0"/>
                </a:solidFill>
                <a:latin typeface="LM Roman 12" panose="00000500000000000000" pitchFamily="50" charset="0"/>
              </a:rPr>
              <a:t>rand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 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336C74-2293-7649-333F-863DCF7F7C05}"/>
              </a:ext>
            </a:extLst>
          </p:cNvPr>
          <p:cNvSpPr txBox="1"/>
          <p:nvPr/>
        </p:nvSpPr>
        <p:spPr>
          <a:xfrm>
            <a:off x="7637704" y="5407381"/>
            <a:ext cx="36653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Sample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9B4414-8192-F369-E824-A6F474E97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13" y="2652026"/>
            <a:ext cx="6340389" cy="3619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D69547-2D44-EAEF-E867-DF2895025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576" y="2884942"/>
            <a:ext cx="4153260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9789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3A556-3B16-E43D-C7A3-ACAAD5A61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216CD97-A3E7-C20D-A767-4AE16D7AF58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CC29FB2-626B-2D6F-273A-434526A803D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DB07D2-63DA-DD31-48CF-141FF7743D3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4A80104-C375-DD9A-DF08-D2EAC0378B6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2726F4C-6F20-2F0D-35C8-B581AD11CB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3D2BE7B-E425-4559-2643-2F7BA76246E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912A3C4-FAAF-B2DD-0519-A84DE74CA3B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Random number generation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EC3F3A8-9791-6D04-D13F-714031F5CF03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99619-3C1F-4AFB-6D65-A11538461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636" y="2281616"/>
            <a:ext cx="6999177" cy="24015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371A0-8F5C-628B-3C9B-3B29E3567492}"/>
              </a:ext>
            </a:extLst>
          </p:cNvPr>
          <p:cNvSpPr txBox="1"/>
          <p:nvPr/>
        </p:nvSpPr>
        <p:spPr>
          <a:xfrm>
            <a:off x="1499074" y="1182550"/>
            <a:ext cx="93404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Random numbers within a range</a:t>
            </a:r>
          </a:p>
        </p:txBody>
      </p:sp>
    </p:spTree>
    <p:extLst>
      <p:ext uri="{BB962C8B-B14F-4D97-AF65-F5344CB8AC3E}">
        <p14:creationId xmlns:p14="http://schemas.microsoft.com/office/powerpoint/2010/main" val="201017412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CDD5-65BD-084F-9426-EEA15D3E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8D5A083-13A9-CC14-585A-740963FD46B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CEDE61E-9917-9F30-67CF-2D711897888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71D6C57-8B18-62D1-87F5-5DC2EC85DCC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B123EE2-8B37-D958-A70C-338AE281D96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AA626E9-D8F8-1108-0AD0-2D0B347670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EA00EC-DCDC-9584-725E-F4ED55DAACF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 11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1454774-640D-5D27-97D7-42474693A59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Random number generation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A798E80-4076-5D58-88E1-C69736031080}"/>
              </a:ext>
            </a:extLst>
          </p:cNvPr>
          <p:cNvSpPr txBox="1"/>
          <p:nvPr/>
        </p:nvSpPr>
        <p:spPr>
          <a:xfrm>
            <a:off x="9568206" y="1450619"/>
            <a:ext cx="1271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DECODED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5A69F-2F38-1C6C-67C1-6170D7128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528" y="2264227"/>
            <a:ext cx="6386653" cy="4157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AA9E0C-D829-800E-3DE4-7774F57D199C}"/>
              </a:ext>
            </a:extLst>
          </p:cNvPr>
          <p:cNvSpPr txBox="1"/>
          <p:nvPr/>
        </p:nvSpPr>
        <p:spPr>
          <a:xfrm>
            <a:off x="1616248" y="1129308"/>
            <a:ext cx="89595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800" b="1" dirty="0">
                <a:latin typeface="LM Roman 12" panose="00000500000000000000" pitchFamily="50" charset="0"/>
              </a:rPr>
              <a:t>EXAMPLE die rolling program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0120CC8F-4629-64C3-F2E1-C6EE367FA36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496127" y="2281616"/>
              <a:ext cx="7391745" cy="4157857"/>
            </p:xfrm>
            <a:graphic>
              <a:graphicData uri="http://schemas.microsoft.com/office/powerpoint/2016/slidezoom">
                <pslz:sldZm>
                  <pslz:sldZmObj sldId="552" cId="2256136780">
                    <pslz:zmPr id="{396FAEB1-B600-418D-9267-1B854FB6AE9F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391745" cy="4157857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0120CC8F-4629-64C3-F2E1-C6EE367FA3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96127" y="2281616"/>
                <a:ext cx="7391745" cy="41578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007712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1C67-F1D3-F8BF-2AD6-0C49B082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4F3C32-394D-177F-14B0-B52ACFCBE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1" y="674914"/>
            <a:ext cx="6534149" cy="533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539C2F-49EC-59C0-720A-0F9211118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610" y="1616195"/>
            <a:ext cx="6263905" cy="42185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14CEEA-6B51-F9EB-D735-1EB5B318F209}"/>
              </a:ext>
            </a:extLst>
          </p:cNvPr>
          <p:cNvSpPr txBox="1"/>
          <p:nvPr/>
        </p:nvSpPr>
        <p:spPr>
          <a:xfrm>
            <a:off x="6417225" y="5241805"/>
            <a:ext cx="1050375" cy="353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460566-7E80-C688-0DE2-571D9CA67BED}"/>
              </a:ext>
            </a:extLst>
          </p:cNvPr>
          <p:cNvSpPr txBox="1"/>
          <p:nvPr/>
        </p:nvSpPr>
        <p:spPr>
          <a:xfrm>
            <a:off x="6237514" y="6174490"/>
            <a:ext cx="181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5 sixes in a row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CC0591-6D6C-ACDD-CA02-79BF74256EDC}"/>
              </a:ext>
            </a:extLst>
          </p:cNvPr>
          <p:cNvCxnSpPr>
            <a:endCxn id="13" idx="2"/>
          </p:cNvCxnSpPr>
          <p:nvPr/>
        </p:nvCxnSpPr>
        <p:spPr>
          <a:xfrm flipH="1" flipV="1">
            <a:off x="6942413" y="5595257"/>
            <a:ext cx="203459" cy="763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136780"/>
      </p:ext>
    </p:extLst>
  </p:cSld>
  <p:clrMapOvr>
    <a:masterClrMapping/>
  </p:clrMapOvr>
  <p:transition spd="slow">
    <p:push dir="u"/>
  </p:transition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90D4E5-A4E0-E451-E5B3-4C446658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39" y="1705080"/>
            <a:ext cx="9165034" cy="28038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311917-8C03-2CE2-F0EE-2DA6C05BE818}"/>
              </a:ext>
            </a:extLst>
          </p:cNvPr>
          <p:cNvSpPr/>
          <p:nvPr/>
        </p:nvSpPr>
        <p:spPr>
          <a:xfrm>
            <a:off x="3401568" y="4590288"/>
            <a:ext cx="3895344" cy="6583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DEMONSTRATION TIME!!</a:t>
            </a:r>
          </a:p>
        </p:txBody>
      </p:sp>
    </p:spTree>
    <p:extLst>
      <p:ext uri="{BB962C8B-B14F-4D97-AF65-F5344CB8AC3E}">
        <p14:creationId xmlns:p14="http://schemas.microsoft.com/office/powerpoint/2010/main" val="182741603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1C67-F1D3-F8BF-2AD6-0C49B082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4F3C32-394D-177F-14B0-B52ACFCBE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1" y="674914"/>
            <a:ext cx="6534149" cy="533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539C2F-49EC-59C0-720A-0F9211118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610" y="1616195"/>
            <a:ext cx="6263905" cy="42185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14CEEA-6B51-F9EB-D735-1EB5B318F209}"/>
              </a:ext>
            </a:extLst>
          </p:cNvPr>
          <p:cNvSpPr txBox="1"/>
          <p:nvPr/>
        </p:nvSpPr>
        <p:spPr>
          <a:xfrm>
            <a:off x="6417225" y="5241805"/>
            <a:ext cx="1050375" cy="353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460566-7E80-C688-0DE2-571D9CA67BED}"/>
              </a:ext>
            </a:extLst>
          </p:cNvPr>
          <p:cNvSpPr txBox="1"/>
          <p:nvPr/>
        </p:nvSpPr>
        <p:spPr>
          <a:xfrm>
            <a:off x="6237514" y="6174490"/>
            <a:ext cx="181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5 sixes in a row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CC0591-6D6C-ACDD-CA02-79BF74256EDC}"/>
              </a:ext>
            </a:extLst>
          </p:cNvPr>
          <p:cNvCxnSpPr>
            <a:endCxn id="13" idx="2"/>
          </p:cNvCxnSpPr>
          <p:nvPr/>
        </p:nvCxnSpPr>
        <p:spPr>
          <a:xfrm flipH="1" flipV="1">
            <a:off x="6942413" y="5595257"/>
            <a:ext cx="203459" cy="763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13678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Widescreen</PresentationFormat>
  <Paragraphs>138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2026-08-23T20:11:41Z</dcterms:created>
  <dcterms:modified xsi:type="dcterms:W3CDTF">2026-08-23T20:11:58Z</dcterms:modified>
</cp:coreProperties>
</file>