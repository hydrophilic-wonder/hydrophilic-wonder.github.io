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70" r:id="rId2"/>
    <p:sldId id="372" r:id="rId3"/>
    <p:sldId id="374" r:id="rId4"/>
    <p:sldId id="375" r:id="rId5"/>
    <p:sldId id="376" r:id="rId6"/>
    <p:sldId id="377" r:id="rId7"/>
    <p:sldId id="378" r:id="rId8"/>
    <p:sldId id="380" r:id="rId9"/>
    <p:sldId id="382" r:id="rId10"/>
    <p:sldId id="381" r:id="rId11"/>
    <p:sldId id="383" r:id="rId12"/>
    <p:sldId id="384" r:id="rId13"/>
    <p:sldId id="386" r:id="rId14"/>
    <p:sldId id="387" r:id="rId15"/>
    <p:sldId id="3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6E8CF-6111-4630-B4F7-F74F29DE627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DFC8A-8D50-4DE7-B082-6BE22B125BC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197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5FF9-40FE-AE26-CC09-E1920432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67725-7AD9-64F8-4D9C-D166E86C0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4311D-F666-1C6F-1C7C-F77AEBF5B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B590D-8E28-08A3-F113-3B2D0E199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7123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7376-5EF1-83BF-2728-E49B2D38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3C659-D980-B9F1-5336-E104169E5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B26CF-67E4-66A1-EFAB-F603FF03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0B3D3-4B4D-FC85-133C-02EC7A4E5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903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9321-403D-DE04-5A21-D05DD0B7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215BD-1BF9-89A4-4403-B115F0B21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F6231-89D7-1396-08E2-D8A5EF2E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1DF5-66A6-A504-B7B4-5ABABE9ED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94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40E7-A314-82EF-7BDE-23C3E1BE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35CD5-FA73-CDC7-B44C-E87B09F6C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79FE5-98C5-6BA0-93A2-0D3C3DF28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39BD2-1824-FD18-CC91-88B4651A7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56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9F10-9BD2-0522-34A8-791136E6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DAE28-2F22-7DBC-9865-6286714B0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20C73-CC34-74A1-67F8-A6D55D44E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D77A-E9BE-68E0-128F-9A8D78D81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077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D888-A09F-AAB0-BBBB-C10334FB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6287A-352A-747C-F6D2-85870F611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408B4-773D-F5E3-CA33-A86545A82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E3C65-FDA2-7F53-9250-B968E1F2B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14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9E14-7FD2-822C-E6F3-DC7EEA4E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90CD-ED9B-A3BD-3D3A-AD99A1125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84B76-9C10-6E3B-DD2B-920ABAF59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FBCD4-35B1-F7F2-AC15-6005024E3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058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6FC0-9646-39B1-E15E-F29AAC91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120C3-B59F-5874-8C97-14116F85D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0B9B8-8433-1EB4-7968-0D4C96AB5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2C593-7559-B51E-CF62-1E4A0C420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53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50BB-F386-7700-09C1-C4B2D83A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6DD55-CAA0-28D0-0D8C-11E42AE67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2DB1A-ADD6-C420-40CF-794F5854A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93AA2-8ACA-3277-9E60-A4ED3843E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379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50DAA-0B4F-E727-A813-CCB2B78F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A5168-0295-588A-02D1-BC979070E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02949-F9F8-D3ED-7D80-DB43E4C3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BFDC2-2CC6-E483-E474-A25785BDD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398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F72D-3BCA-B0B3-8252-331AD8F9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8A826-6EE5-B073-B5F2-62D8B8B25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09AE3-8B1B-E223-3266-E5EE4BC6C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4D9D9-29B9-4842-BD38-4FA5E445A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7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82C0-3624-3E97-A489-D08C0A8B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81901-7452-E6E5-EAE4-0445F0AA0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A5C49-F94A-82F2-4284-B27D32E3A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DA0B1-8614-1E08-2D3B-79CA9783A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404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8BD5-714E-15DD-5180-628C5C63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A6242-C887-F542-2D0D-24C0200BA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0C688-352D-5F77-4A26-F3C0B91CC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9C87-7754-1F4B-007C-1A8491D0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36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748A-C7D5-CA4A-68A2-044C842D9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9231B-663F-5784-E12E-C2C8C3107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0464-55B3-5C98-E4E6-CA03C6A1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51EF1-5069-F3D3-6A27-2B351564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EB913-055C-5168-6CAA-3F1904E1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173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9B87-9E0A-F93D-1CAE-65EE23EC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661F-025D-D1D6-DC70-48FAE69A4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E6BC1-CDC9-A3C8-6DC2-B81207CD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A77F-E058-E49B-192B-BD39792F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E205-AFEA-F1DB-1C5C-9DDB1382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931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9680-76FC-E5DF-9B6C-69B1125A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9DBCD-7400-E9FB-E350-C57B82999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BA68-6DAF-878D-C9FB-3D9FC373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003B1-67EE-45D6-03EB-BA4EFDBE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5C5B-77C7-C996-0107-7CF96911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276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2BEE-8DBD-F980-E98C-DFB9D4D1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3F31B-01FC-68E3-E112-6C5625D79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ACDB8-F258-4A6D-6296-9675671A9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A10E0-8DF9-8AED-BB90-ABDB5219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62497-88DE-BEA6-E47B-CC3EA8E3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6414C-8EAB-7EDA-92F4-9D7AE317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8506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20ED-D4A7-3B2A-4545-25F47FA3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9A0A6-CA22-EA3C-E93F-CD3C9983B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6FA8E-42A5-535B-EE39-068467602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9108-941A-8275-E8D5-4DBCAC959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B1A6A-CE05-9BF5-533D-5627D6FE1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03DAD-BAF8-A7A2-9253-DFE94E09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5F1BD-22CB-E525-840B-3ECA1EE8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B2F00-290E-B4BF-49FE-6895CDA0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022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5FF7-816B-18F2-9CDB-2B9BD5FD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BE8AB-00DE-B2A1-46F7-A935561B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01760-1EF9-E3E5-BCF9-62816871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6E773-7169-ED2E-9834-F08785B3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424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937EE-B49B-6780-F78A-D654C4C9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B117D-E57C-7E46-AF8B-62B802BE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FFFF3-AA31-A1ED-AE03-FE3CC398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75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4784-D8B7-01C1-83BB-607E6010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804C6-3425-632F-2F7A-8CA496E3A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A2505-5771-A8A9-0C3F-F2558BAF1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2A661-997D-2BD3-A40F-C00448BE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120F9-A11A-E12B-5DF2-9C5CC188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D984B-36BB-1E0C-C39C-A18644D9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061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6B9F-4B2D-47F9-440F-6CD3956B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A80D9-EFCD-BF2D-4D91-201951A90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9E55B-CB0F-3659-D1BB-DB1A95CBB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F4684-1FB6-A1C2-2E0D-61CD5D4E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9219F-0638-83A4-9DD0-98F3E48C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7DB8D-AFE9-72C0-F388-3104610A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177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9EE7-7421-E344-E75A-98C69E7B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FCF29-FE4A-F774-5788-9D9525893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8D034-8FA5-9E62-4930-D1E8AB0A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81F78-566C-3943-18DA-D322910B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06D85-9871-3DF3-F3CD-62148743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999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20596E-31AE-F299-72E6-4E5397A0E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4A0B6-C80E-1699-24C5-CD99CD700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7D74-D640-388D-0DB7-896ABF88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2EA7-178D-45A1-C462-23BB897B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0AAB1-726F-8A06-9A9B-59E7E979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328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E1EA11-138B-86E4-6ECC-AE93AD56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2AF5-FE94-F6DE-88F5-6476E94CB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7531-21E0-69B8-3040-1C1791A05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D8D81-D71F-4B08-97F4-AFF410EB8792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1BE50-CE06-55E3-09F3-B0E75B846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5B01F-2639-A1B7-35EC-91BFB9D32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0470-70DC-44CD-84AB-8A23AEBEB9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529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4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49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40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C8CF-7E6E-2EDE-741C-25DA3E0A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2553239-81AD-2878-5029-A674FAE9A104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FF930E-F7FA-2390-0DE2-C7809A775007}"/>
              </a:ext>
            </a:extLst>
          </p:cNvPr>
          <p:cNvSpPr txBox="1"/>
          <p:nvPr/>
        </p:nvSpPr>
        <p:spPr>
          <a:xfrm>
            <a:off x="542925" y="1303858"/>
            <a:ext cx="1133277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3. </a:t>
            </a:r>
            <a:r>
              <a:rPr lang="en-ZA" sz="8800" dirty="0">
                <a:latin typeface="LM Roman 12" panose="00000500000000000000" pitchFamily="50" charset="0"/>
              </a:rPr>
              <a:t>Structured Program</a:t>
            </a:r>
          </a:p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Development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3| Programming Decisions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Algorithms, pseudocode, and flow diagrams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Introduction to “if” and “if…else” selection structure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</a:t>
            </a:r>
            <a:endParaRPr lang="en-US" sz="1800" b="0" i="0" u="none" strike="noStrike" baseline="0" dirty="0">
              <a:latin typeface="LM Roman 12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573C9-1BB6-234E-36F3-B9D8916F2DB0}"/>
              </a:ext>
            </a:extLst>
          </p:cNvPr>
          <p:cNvSpPr txBox="1"/>
          <p:nvPr/>
        </p:nvSpPr>
        <p:spPr>
          <a:xfrm>
            <a:off x="542925" y="555414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9CBDA3-6275-9DAF-0083-0CD297EACED9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CADAE8-B317-3701-289F-268900CFE0C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91A2B07-8F45-A2C3-3B8C-0C8745FECEB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78472BE-010F-7DD1-84ED-F8DDD6A733E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1E792F-5A00-8205-94DC-D7DADFA88E7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9203321-D08E-5464-42EB-64E544F86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B2D7BC-C2A2-F6C8-A7F5-0DCCCA3556C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24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9C29B1-AAAD-086A-FB8E-AAAA73ECE58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DC8429C-93BB-DB4B-DE54-93CA5E4704B4}"/>
              </a:ext>
            </a:extLst>
          </p:cNvPr>
          <p:cNvSpPr txBox="1"/>
          <p:nvPr/>
        </p:nvSpPr>
        <p:spPr>
          <a:xfrm>
            <a:off x="7691452" y="6331977"/>
            <a:ext cx="377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 3: Struct Program Dev II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32F19-1DF1-FE03-C4E2-863C98903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64" y="3095625"/>
            <a:ext cx="5040436" cy="31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612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3035-98FE-96A6-337D-4563DD4F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B795954-D7B3-13DE-1AB4-8E9CDDC2DF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B795954-D7B3-13DE-1AB4-8E9CDDC2DF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E384820-1E10-FFEF-C51B-EF98088482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FB159E-DA76-AFF3-AB56-3D7BCBBFA48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A55BE0-2C34-0F6C-F860-8FD5CBE07AE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95C456-9F87-0610-FB70-55198D860B9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4CFC2D-B992-7814-23D6-DC7F50D7D65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6068626-C657-5878-D3E2-4E9E0B3B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31E0C2F-3041-61F5-CB25-881685678FA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22AFE44-E770-FAAC-8EC5-5CCB419C807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 ON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(USR INPUT)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&amp;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(ARITHMETIC)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694D74-8F11-6CB8-293C-3E7C7944EBD8}"/>
              </a:ext>
            </a:extLst>
          </p:cNvPr>
          <p:cNvGrpSpPr/>
          <p:nvPr/>
        </p:nvGrpSpPr>
        <p:grpSpPr>
          <a:xfrm>
            <a:off x="1216047" y="1814824"/>
            <a:ext cx="9759906" cy="3480047"/>
            <a:chOff x="1216047" y="1814824"/>
            <a:chExt cx="9759906" cy="3480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36F7C5-B937-E52D-874C-538893F062EE}"/>
                </a:ext>
              </a:extLst>
            </p:cNvPr>
            <p:cNvSpPr/>
            <p:nvPr/>
          </p:nvSpPr>
          <p:spPr>
            <a:xfrm>
              <a:off x="1216047" y="1814824"/>
              <a:ext cx="9759906" cy="34800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3 (using user input to perform arithmetic):</a:t>
              </a:r>
            </a:p>
            <a:p>
              <a:pPr algn="ctr"/>
              <a:r>
                <a:rPr lang="en-ZA" sz="2400" dirty="0">
                  <a:solidFill>
                    <a:schemeClr val="bg1"/>
                  </a:solidFill>
                  <a:latin typeface="LM Roman 12" panose="00000500000000000000" pitchFamily="50" charset="0"/>
                </a:rPr>
                <a:t>Print the following text on the console:</a:t>
              </a: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28769A-E845-7684-A30F-72616F0C0228}"/>
                </a:ext>
              </a:extLst>
            </p:cNvPr>
            <p:cNvSpPr/>
            <p:nvPr/>
          </p:nvSpPr>
          <p:spPr>
            <a:xfrm>
              <a:off x="2352675" y="3638551"/>
              <a:ext cx="7696200" cy="15525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dirty="0">
                  <a:solidFill>
                    <a:srgbClr val="0070C0"/>
                  </a:solidFill>
                </a:rPr>
                <a:t>Enter the first integer: “X”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Enter the second integer: “Y”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Addition of first and second integer is “Z”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Division of first integer by the second integer is “D”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The multiplication of the first integer by the second integer is “M”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386017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4E28-AE5C-5A45-73AF-185C83ED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FA4F9C9-C392-7EF9-1579-30B875BD04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FA4F9C9-C392-7EF9-1579-30B875BD04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84EDF5D-62B0-860C-E5DC-DDDE0119D1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1519E3-5A8A-E083-F8C6-722927EBA94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52B44F-6C78-56A9-98EA-6B27330E102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C4AE50-22FA-9CD2-E346-20DF6EECB524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CCA2E60-B254-9DD1-E134-07D60BF7074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761745A-6C37-3F84-7748-216AAB3A7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E9588A-0BEA-5F5D-3FA9-9EEC9F22CA3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3BA915-74EA-F8D1-3C57-FD62CEE15307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03502-EBE0-44CF-BD3A-F4C0255FF350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598AF-272A-ECCD-A2CE-F8BB1D3D83B1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B8F62-CA3F-A76D-BECC-56B78A19042B}"/>
              </a:ext>
            </a:extLst>
          </p:cNvPr>
          <p:cNvSpPr txBox="1"/>
          <p:nvPr/>
        </p:nvSpPr>
        <p:spPr>
          <a:xfrm>
            <a:off x="392640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SEQUENCE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97F5DE-0F4B-7E79-61E3-CE84230C10FF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780E6E-516D-BA76-64FF-18B27F02219B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STRUCTURE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D9CB43-FD26-DB19-10D8-424FEDDCA8B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CONTROL STRUCTURES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966F30-4F83-0101-1E26-9D6649FA3BA8}"/>
              </a:ext>
            </a:extLst>
          </p:cNvPr>
          <p:cNvSpPr/>
          <p:nvPr/>
        </p:nvSpPr>
        <p:spPr>
          <a:xfrm>
            <a:off x="1112029" y="1462994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C73008-4EFF-5F39-0B4B-AA412BE72DE9}"/>
              </a:ext>
            </a:extLst>
          </p:cNvPr>
          <p:cNvSpPr/>
          <p:nvPr/>
        </p:nvSpPr>
        <p:spPr>
          <a:xfrm>
            <a:off x="1352484" y="1406656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6B4D03-2182-25E7-2429-6A8F6B1C65FE}"/>
              </a:ext>
            </a:extLst>
          </p:cNvPr>
          <p:cNvSpPr txBox="1"/>
          <p:nvPr/>
        </p:nvSpPr>
        <p:spPr>
          <a:xfrm>
            <a:off x="1352483" y="1466483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ALL PROGRAMS ARE WRITTEN IN 3 CONTROL STRUCTURES</a:t>
            </a:r>
          </a:p>
        </p:txBody>
      </p:sp>
    </p:spTree>
    <p:extLst>
      <p:ext uri="{BB962C8B-B14F-4D97-AF65-F5344CB8AC3E}">
        <p14:creationId xmlns:p14="http://schemas.microsoft.com/office/powerpoint/2010/main" val="3271627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58B8-1336-3732-6AD4-39BB6553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C7D8D76-D800-B443-244B-5A6E4CFC19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C7D8D76-D800-B443-244B-5A6E4CFC19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CF5060C-FA09-C839-B57A-5830B672F4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C1CD9B-7AC4-CB00-DC67-1CBF1B4B9FD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A59EA5-D400-0576-0FEF-E2FF89073D1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0C24B3-A999-16B5-5823-CA98BBB92E8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1DEF15-BCED-0222-A923-C831970A600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F203C6A-6899-4F09-0D26-3A62A4B7E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21F116-E59C-224F-0A3B-95D266A855D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BAE999-AAAE-D493-656F-380A5C76812A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Build into C. Programs execute sequentially by default.</a:t>
            </a: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553F5-683A-0DCE-89A2-B55A771AF59E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7DDDA-B96C-FF80-8AEA-6C4D0DEF466B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A5B92-099B-487B-EC81-B4303D7B43B2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SEQUENCE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A9233-85AF-32B9-9CB8-9E3C6F045D6B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AA4046-6BCF-1316-AFF9-A06077976900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FA6BF2-D568-92EE-F540-6B668878FF8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CONTROL STRUCTURES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6E403-12A2-14B0-E26C-4790076F20A6}"/>
              </a:ext>
            </a:extLst>
          </p:cNvPr>
          <p:cNvSpPr/>
          <p:nvPr/>
        </p:nvSpPr>
        <p:spPr>
          <a:xfrm>
            <a:off x="1112029" y="1462994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C5DFA7-A085-1FEB-7C1C-60D9D09D0542}"/>
              </a:ext>
            </a:extLst>
          </p:cNvPr>
          <p:cNvSpPr/>
          <p:nvPr/>
        </p:nvSpPr>
        <p:spPr>
          <a:xfrm>
            <a:off x="1352484" y="1406656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F3E334-A76B-6D2E-ADC6-A2DF84B8299E}"/>
              </a:ext>
            </a:extLst>
          </p:cNvPr>
          <p:cNvSpPr txBox="1"/>
          <p:nvPr/>
        </p:nvSpPr>
        <p:spPr>
          <a:xfrm>
            <a:off x="1352483" y="1466483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ALL PROGRAMS ARE WRITTEN IN 3 CONTROL STRUCTURES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92BB84-D625-04A8-8AD1-144D41E945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02" y="4099718"/>
            <a:ext cx="3722623" cy="1606816"/>
          </a:xfrm>
          <a:prstGeom prst="rect">
            <a:avLst/>
          </a:prstGeom>
        </p:spPr>
      </p:pic>
      <p:sp>
        <p:nvSpPr>
          <p:cNvPr id="36" name="Arrow: Left 35">
            <a:extLst>
              <a:ext uri="{FF2B5EF4-FFF2-40B4-BE49-F238E27FC236}">
                <a16:creationId xmlns:a16="http://schemas.microsoft.com/office/drawing/2014/main" id="{B2349B40-B938-FFEB-6C73-E449B1E5B5CE}"/>
              </a:ext>
            </a:extLst>
          </p:cNvPr>
          <p:cNvSpPr/>
          <p:nvPr/>
        </p:nvSpPr>
        <p:spPr>
          <a:xfrm>
            <a:off x="1225483" y="4520812"/>
            <a:ext cx="476317" cy="8839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4338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3 -0.04074 L 0.01472 0.1407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3315-7369-CF74-0F89-711F552A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1A538B6-283A-D9F3-B37F-82C32B7857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1A538B6-283A-D9F3-B37F-82C32B7857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56D8C69-5012-3E54-E059-FDDEEC57F0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D3DB58-4B99-1666-1541-A6A2EB9FDE6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64FBB4-87D6-EE79-58FA-BA5A2F06E2D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9945054-AF8C-7100-6ACC-C37B94CB57D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4ACCE76-747B-E7FC-1A5C-5CBADB2EBC4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0AEA510-15CB-5D6B-34C4-B6E39549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DE6AE0-7FFA-1E09-D753-B92B0F91A8C4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D4CE6D7-5F1F-2CA4-925B-F2BFADBFE4F4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An IDE is software that provides a comprehensive set of features for software development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00B050"/>
                </a:solidFill>
                <a:latin typeface="LM Roman 12" panose="00000500000000000000" pitchFamily="50" charset="0"/>
              </a:rPr>
              <a:t>Code::Blocks</a:t>
            </a:r>
          </a:p>
          <a:p>
            <a:pPr algn="ctr"/>
            <a:r>
              <a:rPr lang="en-ZA" dirty="0">
                <a:solidFill>
                  <a:srgbClr val="00B050"/>
                </a:solidFill>
                <a:latin typeface="LM Roman 12" panose="00000500000000000000" pitchFamily="50" charset="0"/>
              </a:rPr>
              <a:t>Visual Studio/</a:t>
            </a:r>
            <a:r>
              <a:rPr lang="en-ZA" dirty="0" err="1">
                <a:solidFill>
                  <a:srgbClr val="00B050"/>
                </a:solidFill>
                <a:latin typeface="LM Roman 12" panose="00000500000000000000" pitchFamily="50" charset="0"/>
              </a:rPr>
              <a:t>VSCode</a:t>
            </a:r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dirty="0" err="1">
                <a:solidFill>
                  <a:srgbClr val="00B050"/>
                </a:solidFill>
                <a:latin typeface="LM Roman 12" panose="00000500000000000000" pitchFamily="50" charset="0"/>
              </a:rPr>
              <a:t>CLion</a:t>
            </a:r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F2675-BC47-F792-85D5-333BD060564B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400" dirty="0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439AA3-3001-73D0-9682-21AF35106B29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Execute The C programming language has 3 types (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while, do</a:t>
            </a:r>
            <a:r>
              <a:rPr lang="en-ZA" dirty="0"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latin typeface="LM Roman 12" panose="00000500000000000000" pitchFamily="50" charset="0"/>
              </a:rPr>
              <a:t>, and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latin typeface="LM Roman 12" panose="00000500000000000000" pitchFamily="50" charset="0"/>
              </a:rPr>
              <a:t>)</a:t>
            </a:r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C82E1-0A10-F0DF-5C0E-2E02D5ECA903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SEQUENCE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5B8912-6E4B-FAA1-9F7E-26F216683BC2}"/>
              </a:ext>
            </a:extLst>
          </p:cNvPr>
          <p:cNvSpPr txBox="1"/>
          <p:nvPr/>
        </p:nvSpPr>
        <p:spPr>
          <a:xfrm>
            <a:off x="844651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6AC7E9-C56F-0CA1-3A08-3E62F593ADC2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CONTROL STRUCTURES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A78CC5-E6D4-BCFE-F097-E3E76D04A65D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1E30E7-BA8C-9DAD-7560-8B74CA6CA630}"/>
              </a:ext>
            </a:extLst>
          </p:cNvPr>
          <p:cNvSpPr/>
          <p:nvPr/>
        </p:nvSpPr>
        <p:spPr>
          <a:xfrm>
            <a:off x="1112029" y="1462994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85894-1AA5-AEBC-BC62-D126BEEA37CF}"/>
              </a:ext>
            </a:extLst>
          </p:cNvPr>
          <p:cNvSpPr/>
          <p:nvPr/>
        </p:nvSpPr>
        <p:spPr>
          <a:xfrm>
            <a:off x="1352484" y="1406656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8CDE6-E865-8CCA-323A-0BFFECEA81BD}"/>
              </a:ext>
            </a:extLst>
          </p:cNvPr>
          <p:cNvSpPr txBox="1"/>
          <p:nvPr/>
        </p:nvSpPr>
        <p:spPr>
          <a:xfrm>
            <a:off x="1352483" y="1466483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ALL PROGRAMS ARE WRITTEN IN 3 CONTROL STRUCTURES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C4251-2512-2C30-3788-C98D478E0C06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Build into C. Programs execute sequentially by default.</a:t>
            </a: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D79250-61DB-1990-EC11-A6D1B5540CA6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SEQUENCE STRUCTURE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C69DCBD-8530-BE6C-626D-9EAE9D267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02" y="4099718"/>
            <a:ext cx="3722623" cy="16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57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0872-8C2C-6182-6A94-21846E5E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011DAE7-3F9D-A160-12C0-A20C601EE4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011DAE7-3F9D-A160-12C0-A20C601EE4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A465B91D-67BC-BD0E-E47A-15CBD93FAE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229F3-F711-40D2-D220-79BB83868F4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D46618-D732-4EB8-F655-FF73404B3E2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5F8B96-A6C5-0AD8-9149-B8608516463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C0775F-B437-B70A-0BB4-1CC23B463CE8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44CDCB3-687B-63D2-BF9C-A054D3C81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E11BFCB-55FD-1E8A-A32A-B099420DBA63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2CBF6F2-6955-E554-DCA1-EBD09DDA9D80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The C programming language has 3 types (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,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 if…else</a:t>
            </a:r>
            <a:r>
              <a:rPr lang="en-ZA" dirty="0">
                <a:latin typeface="LM Roman 12" panose="00000500000000000000" pitchFamily="50" charset="0"/>
              </a:rPr>
              <a:t>, and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latin typeface="LM Roman 12" panose="00000500000000000000" pitchFamily="50" charset="0"/>
              </a:rPr>
              <a:t>)</a:t>
            </a:r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9CC797-4524-39CF-767E-FAB7806AE00A}"/>
              </a:ext>
            </a:extLst>
          </p:cNvPr>
          <p:cNvSpPr txBox="1"/>
          <p:nvPr/>
        </p:nvSpPr>
        <p:spPr>
          <a:xfrm>
            <a:off x="4331049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10366-240F-FEE1-19D5-DB3993BD46D7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CONTROL STRUCTURES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FCF77-A25A-3838-0B3D-707270D0D950}"/>
              </a:ext>
            </a:extLst>
          </p:cNvPr>
          <p:cNvSpPr/>
          <p:nvPr/>
        </p:nvSpPr>
        <p:spPr>
          <a:xfrm>
            <a:off x="1112029" y="1462994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C13F9-C51B-01DC-23D4-8DAF36DB7F36}"/>
              </a:ext>
            </a:extLst>
          </p:cNvPr>
          <p:cNvSpPr/>
          <p:nvPr/>
        </p:nvSpPr>
        <p:spPr>
          <a:xfrm>
            <a:off x="1352484" y="1406656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A6AF02-8510-9D4B-E8AD-F9CFCCDF2CAC}"/>
              </a:ext>
            </a:extLst>
          </p:cNvPr>
          <p:cNvSpPr txBox="1"/>
          <p:nvPr/>
        </p:nvSpPr>
        <p:spPr>
          <a:xfrm>
            <a:off x="1352483" y="1466483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ALL PROGRAMS ARE WRITTEN IN 3 CONTROL STRUCTURES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992699-DE50-A0CB-BA6C-E5158DD8A782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The C programming language has 3 types (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while, do</a:t>
            </a:r>
            <a:r>
              <a:rPr lang="en-ZA" dirty="0"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latin typeface="LM Roman 12" panose="00000500000000000000" pitchFamily="50" charset="0"/>
              </a:rPr>
              <a:t>, and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latin typeface="LM Roman 12" panose="00000500000000000000" pitchFamily="50" charset="0"/>
              </a:rPr>
              <a:t>)</a:t>
            </a:r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583AA6-01E9-4A74-76B2-5BC545F832C6}"/>
              </a:ext>
            </a:extLst>
          </p:cNvPr>
          <p:cNvSpPr txBox="1"/>
          <p:nvPr/>
        </p:nvSpPr>
        <p:spPr>
          <a:xfrm>
            <a:off x="844651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STRUCTURE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2B12B1-B2A4-69C3-8DC8-CF793256B56C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Build into C. Programs execute sequentially by default.</a:t>
            </a: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B050"/>
              </a:solidFill>
              <a:latin typeface="LM Roman 12" panose="00000500000000000000" pitchFamily="50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A9A921-084F-D54B-8B45-D45198501167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SEQUENCE STRUCTURE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F8583E0-13C0-57AC-BFF3-D1C623056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02" y="4099718"/>
            <a:ext cx="3722623" cy="16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6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97AD-BFA7-74E2-B3EA-18601BC6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8C659EE5-17C1-F439-F343-ACFB98CF4B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8C659EE5-17C1-F439-F343-ACFB98CF4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324A609-1742-CF58-D877-935DAEB352B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9BCD29-139F-C068-A24A-F860A3BBA4E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24518D-6DD9-08BE-8708-284ED3BC479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073865F-E704-6DAA-5B2F-C2D9E072895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F5602F-ADB1-3597-0BBA-95B52C385B8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5668BE0-A94B-CB1F-E640-5268288D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CEAA3B-BABD-D031-7423-FA31B3F0B073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C573F59-BFBA-3EC6-7DAA-C4D8C5EE670B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CONTROL STRUCTURES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941D-21AB-B93E-9680-FC4DF8EDC4BA}"/>
              </a:ext>
            </a:extLst>
          </p:cNvPr>
          <p:cNvSpPr/>
          <p:nvPr/>
        </p:nvSpPr>
        <p:spPr>
          <a:xfrm>
            <a:off x="1250654" y="1289598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66A53-F7C8-3B07-8C54-458E7B2ED3D8}"/>
              </a:ext>
            </a:extLst>
          </p:cNvPr>
          <p:cNvSpPr/>
          <p:nvPr/>
        </p:nvSpPr>
        <p:spPr>
          <a:xfrm>
            <a:off x="1491109" y="1233260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1C535-019A-ED44-8B29-CA5B8BFB464D}"/>
              </a:ext>
            </a:extLst>
          </p:cNvPr>
          <p:cNvSpPr txBox="1"/>
          <p:nvPr/>
        </p:nvSpPr>
        <p:spPr>
          <a:xfrm>
            <a:off x="1491107" y="1293087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Control structures are building blocks of algorithms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E7994-518F-8FF6-CD80-C1AF7DFC3F75}"/>
              </a:ext>
            </a:extLst>
          </p:cNvPr>
          <p:cNvSpPr/>
          <p:nvPr/>
        </p:nvSpPr>
        <p:spPr>
          <a:xfrm>
            <a:off x="1250654" y="1948400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DFDF2-D066-EBFE-BF28-970B69F21CEE}"/>
              </a:ext>
            </a:extLst>
          </p:cNvPr>
          <p:cNvSpPr/>
          <p:nvPr/>
        </p:nvSpPr>
        <p:spPr>
          <a:xfrm>
            <a:off x="1491109" y="1892062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04D1F-8F33-951F-4B05-7F2B2F09E647}"/>
              </a:ext>
            </a:extLst>
          </p:cNvPr>
          <p:cNvSpPr txBox="1"/>
          <p:nvPr/>
        </p:nvSpPr>
        <p:spPr>
          <a:xfrm>
            <a:off x="1491107" y="1951889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Algorithms contain sequence, selection, &amp; repetition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C176BB-9A5C-32C5-0ABB-A79F59B145C2}"/>
              </a:ext>
            </a:extLst>
          </p:cNvPr>
          <p:cNvGrpSpPr/>
          <p:nvPr/>
        </p:nvGrpSpPr>
        <p:grpSpPr>
          <a:xfrm>
            <a:off x="241648" y="2873866"/>
            <a:ext cx="12011025" cy="3717691"/>
            <a:chOff x="114300" y="2847975"/>
            <a:chExt cx="12011025" cy="371769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DEE693F-9FD7-1EE0-4ECE-D25995078C11}"/>
                </a:ext>
              </a:extLst>
            </p:cNvPr>
            <p:cNvGrpSpPr/>
            <p:nvPr/>
          </p:nvGrpSpPr>
          <p:grpSpPr>
            <a:xfrm>
              <a:off x="114300" y="2847975"/>
              <a:ext cx="12011025" cy="3717691"/>
              <a:chOff x="114300" y="2847975"/>
              <a:chExt cx="12011025" cy="3717691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C65F0EC-18C8-88B6-913E-4B606C94640A}"/>
                  </a:ext>
                </a:extLst>
              </p:cNvPr>
              <p:cNvGrpSpPr/>
              <p:nvPr/>
            </p:nvGrpSpPr>
            <p:grpSpPr>
              <a:xfrm>
                <a:off x="114300" y="2847975"/>
                <a:ext cx="12011025" cy="3717691"/>
                <a:chOff x="114300" y="2847975"/>
                <a:chExt cx="12011025" cy="3717691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1D6C9B6-0203-C699-58D4-5BBCCE6E87DB}"/>
                    </a:ext>
                  </a:extLst>
                </p:cNvPr>
                <p:cNvGrpSpPr/>
                <p:nvPr/>
              </p:nvGrpSpPr>
              <p:grpSpPr>
                <a:xfrm>
                  <a:off x="114300" y="2847975"/>
                  <a:ext cx="12011025" cy="3717691"/>
                  <a:chOff x="114300" y="2847975"/>
                  <a:chExt cx="12011025" cy="3717691"/>
                </a:xfrm>
              </p:grpSpPr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8E72305A-EF81-E063-4BE3-985B1F68EADA}"/>
                      </a:ext>
                    </a:extLst>
                  </p:cNvPr>
                  <p:cNvSpPr/>
                  <p:nvPr/>
                </p:nvSpPr>
                <p:spPr>
                  <a:xfrm>
                    <a:off x="114300" y="2847975"/>
                    <a:ext cx="12011025" cy="3562350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dirty="0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DADE1D0-E18B-DA59-9297-6F70EAEC2D90}"/>
                      </a:ext>
                    </a:extLst>
                  </p:cNvPr>
                  <p:cNvSpPr/>
                  <p:nvPr/>
                </p:nvSpPr>
                <p:spPr>
                  <a:xfrm>
                    <a:off x="279778" y="2968909"/>
                    <a:ext cx="3400425" cy="318610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b="1" dirty="0">
                        <a:solidFill>
                          <a:schemeClr val="tx1"/>
                        </a:solidFill>
                      </a:rPr>
                      <a:t>Sequence</a:t>
                    </a: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E27F6D9-06D8-FC8D-7AD2-B704D3616E44}"/>
                      </a:ext>
                    </a:extLst>
                  </p:cNvPr>
                  <p:cNvSpPr/>
                  <p:nvPr/>
                </p:nvSpPr>
                <p:spPr>
                  <a:xfrm>
                    <a:off x="4307257" y="2949859"/>
                    <a:ext cx="3400425" cy="318610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b="1" dirty="0">
                        <a:solidFill>
                          <a:schemeClr val="tx1"/>
                        </a:solidFill>
                      </a:rPr>
                      <a:t>Selection</a:t>
                    </a: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dirty="0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6C66EED4-593B-30C8-0B46-E29E1F2C1BC9}"/>
                      </a:ext>
                    </a:extLst>
                  </p:cNvPr>
                  <p:cNvSpPr/>
                  <p:nvPr/>
                </p:nvSpPr>
                <p:spPr>
                  <a:xfrm>
                    <a:off x="8574457" y="2949859"/>
                    <a:ext cx="3400425" cy="318610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b="1" dirty="0">
                        <a:solidFill>
                          <a:schemeClr val="tx1"/>
                        </a:solidFill>
                      </a:rPr>
                      <a:t>Repetition/iteration</a:t>
                    </a: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ZA" dirty="0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74AD9DCA-FA26-11A5-A96B-B19ADEB7228A}"/>
                      </a:ext>
                    </a:extLst>
                  </p:cNvPr>
                  <p:cNvSpPr/>
                  <p:nvPr/>
                </p:nvSpPr>
                <p:spPr>
                  <a:xfrm>
                    <a:off x="4384174" y="6225886"/>
                    <a:ext cx="3323508" cy="33978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b="1" dirty="0"/>
                      <a:t>ALGORITHMS FLOW CHARTS</a:t>
                    </a:r>
                  </a:p>
                </p:txBody>
              </p: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E611217-5233-7A8B-89B6-DAAB25E60D6C}"/>
                    </a:ext>
                  </a:extLst>
                </p:cNvPr>
                <p:cNvSpPr/>
                <p:nvPr/>
              </p:nvSpPr>
              <p:spPr>
                <a:xfrm>
                  <a:off x="1380670" y="3867150"/>
                  <a:ext cx="1107372" cy="37147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start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F1DA667-038C-0DD9-6803-FC1BB573C78D}"/>
                    </a:ext>
                  </a:extLst>
                </p:cNvPr>
                <p:cNvSpPr/>
                <p:nvPr/>
              </p:nvSpPr>
              <p:spPr>
                <a:xfrm>
                  <a:off x="1380670" y="4729904"/>
                  <a:ext cx="1107372" cy="371475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Action 2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7948CEDD-284D-77AF-E39F-B54607B7BC25}"/>
                    </a:ext>
                  </a:extLst>
                </p:cNvPr>
                <p:cNvSpPr/>
                <p:nvPr/>
              </p:nvSpPr>
              <p:spPr>
                <a:xfrm>
                  <a:off x="1380670" y="5603827"/>
                  <a:ext cx="1107372" cy="37147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10C36BA-8B00-2108-3BE2-4022382F9A18}"/>
                  </a:ext>
                </a:extLst>
              </p:cNvPr>
              <p:cNvSpPr/>
              <p:nvPr/>
            </p:nvSpPr>
            <p:spPr>
              <a:xfrm>
                <a:off x="4731529" y="4733637"/>
                <a:ext cx="1107372" cy="37147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Action 1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233FF76-D08F-CBDE-F1E7-23147F7BCCFD}"/>
                  </a:ext>
                </a:extLst>
              </p:cNvPr>
              <p:cNvSpPr/>
              <p:nvPr/>
            </p:nvSpPr>
            <p:spPr>
              <a:xfrm>
                <a:off x="6197067" y="4732571"/>
                <a:ext cx="1107372" cy="37147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Action 2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AE9A89A-6839-C79D-5EA7-787266B50748}"/>
                  </a:ext>
                </a:extLst>
              </p:cNvPr>
              <p:cNvSpPr/>
              <p:nvPr/>
            </p:nvSpPr>
            <p:spPr>
              <a:xfrm>
                <a:off x="5458780" y="5624740"/>
                <a:ext cx="1107372" cy="37147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63" name="Flowchart: Decision 62">
                <a:extLst>
                  <a:ext uri="{FF2B5EF4-FFF2-40B4-BE49-F238E27FC236}">
                    <a16:creationId xmlns:a16="http://schemas.microsoft.com/office/drawing/2014/main" id="{643B5551-7E81-FCF5-B99E-66E1E1EDC882}"/>
                  </a:ext>
                </a:extLst>
              </p:cNvPr>
              <p:cNvSpPr/>
              <p:nvPr/>
            </p:nvSpPr>
            <p:spPr>
              <a:xfrm>
                <a:off x="5363393" y="3707431"/>
                <a:ext cx="1317606" cy="835479"/>
              </a:xfrm>
              <a:prstGeom prst="flowChartDecision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Yes/no</a:t>
                </a:r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C686107-A06D-B606-4642-4EB2AFBE7A48}"/>
                </a:ext>
              </a:extLst>
            </p:cNvPr>
            <p:cNvSpPr/>
            <p:nvPr/>
          </p:nvSpPr>
          <p:spPr>
            <a:xfrm>
              <a:off x="9828565" y="3761908"/>
              <a:ext cx="1107372" cy="37147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Action 1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8851730-2EAB-C2C3-3DBE-E76495227957}"/>
                </a:ext>
              </a:extLst>
            </p:cNvPr>
            <p:cNvSpPr/>
            <p:nvPr/>
          </p:nvSpPr>
          <p:spPr>
            <a:xfrm>
              <a:off x="9828565" y="5418089"/>
              <a:ext cx="1107372" cy="37147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73" name="Flowchart: Decision 72">
              <a:extLst>
                <a:ext uri="{FF2B5EF4-FFF2-40B4-BE49-F238E27FC236}">
                  <a16:creationId xmlns:a16="http://schemas.microsoft.com/office/drawing/2014/main" id="{99204B87-AF68-6141-50D8-42D74EE272B9}"/>
                </a:ext>
              </a:extLst>
            </p:cNvPr>
            <p:cNvSpPr/>
            <p:nvPr/>
          </p:nvSpPr>
          <p:spPr>
            <a:xfrm>
              <a:off x="9723448" y="4405885"/>
              <a:ext cx="1317606" cy="835479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Yes/no</a:t>
              </a:r>
            </a:p>
          </p:txBody>
        </p:sp>
      </p:grpSp>
      <p:sp>
        <p:nvSpPr>
          <p:cNvPr id="75" name="Arrow: Down 74">
            <a:extLst>
              <a:ext uri="{FF2B5EF4-FFF2-40B4-BE49-F238E27FC236}">
                <a16:creationId xmlns:a16="http://schemas.microsoft.com/office/drawing/2014/main" id="{BFA5632A-A2FE-3AF8-DA4D-0F8F6EFAFD0B}"/>
              </a:ext>
            </a:extLst>
          </p:cNvPr>
          <p:cNvSpPr/>
          <p:nvPr/>
        </p:nvSpPr>
        <p:spPr>
          <a:xfrm>
            <a:off x="1936224" y="3495384"/>
            <a:ext cx="247651" cy="37147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BFF5F279-5BD9-D31C-02CB-C81397DE6BA7}"/>
              </a:ext>
            </a:extLst>
          </p:cNvPr>
          <p:cNvSpPr/>
          <p:nvPr/>
        </p:nvSpPr>
        <p:spPr>
          <a:xfrm>
            <a:off x="5850971" y="3341277"/>
            <a:ext cx="230556" cy="364102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6B1C3BFE-BF18-A715-94ED-F6F06D2D44F1}"/>
              </a:ext>
            </a:extLst>
          </p:cNvPr>
          <p:cNvSpPr/>
          <p:nvPr/>
        </p:nvSpPr>
        <p:spPr>
          <a:xfrm>
            <a:off x="6209137" y="3318057"/>
            <a:ext cx="230556" cy="3873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chemeClr val="tx1"/>
                </a:solidFill>
              </a:rPr>
              <a:t>Y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E089E72E-4F6F-1A04-8EF0-583E0B4A6D86}"/>
              </a:ext>
            </a:extLst>
          </p:cNvPr>
          <p:cNvSpPr/>
          <p:nvPr/>
        </p:nvSpPr>
        <p:spPr>
          <a:xfrm>
            <a:off x="10202457" y="3324943"/>
            <a:ext cx="230556" cy="364102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79" name="Arrow: Down 78">
            <a:extLst>
              <a:ext uri="{FF2B5EF4-FFF2-40B4-BE49-F238E27FC236}">
                <a16:creationId xmlns:a16="http://schemas.microsoft.com/office/drawing/2014/main" id="{D0CBB40D-1E40-DD27-4650-6D4C4BCA4E29}"/>
              </a:ext>
            </a:extLst>
          </p:cNvPr>
          <p:cNvSpPr/>
          <p:nvPr/>
        </p:nvSpPr>
        <p:spPr>
          <a:xfrm>
            <a:off x="10560623" y="3301723"/>
            <a:ext cx="230556" cy="3873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chemeClr val="tx1"/>
                </a:solidFill>
              </a:rPr>
              <a:t>Y</a:t>
            </a:r>
            <a:endParaRPr lang="en-ZA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5" name="Slide Zoom 84">
                <a:extLst>
                  <a:ext uri="{FF2B5EF4-FFF2-40B4-BE49-F238E27FC236}">
                    <a16:creationId xmlns:a16="http://schemas.microsoft.com/office/drawing/2014/main" id="{35F4BB7F-4DC7-9898-5DD4-C833B58AB2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728673" y="6802441"/>
              <a:ext cx="3048000" cy="1714500"/>
            </p:xfrm>
            <a:graphic>
              <a:graphicData uri="http://schemas.microsoft.com/office/powerpoint/2016/slidezoom">
                <pslz:sldZm>
                  <pslz:sldZmObj sldId="380" cId="2277450333">
                    <pslz:zmPr id="{5149515F-F8A9-457E-8D25-7DAA0A5A4A52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5" name="Slide Zoom 84">
                <a:extLst>
                  <a:ext uri="{FF2B5EF4-FFF2-40B4-BE49-F238E27FC236}">
                    <a16:creationId xmlns:a16="http://schemas.microsoft.com/office/drawing/2014/main" id="{35F4BB7F-4DC7-9898-5DD4-C833B58AB2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28673" y="68024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845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0091 -0.00949 L -0.00091 -0.00926 C -0.00117 0.00069 -0.00104 0.01088 -0.00169 0.02106 C -0.00221 0.02708 -0.00338 0.03287 -0.00403 0.03912 C -0.00442 0.04213 -0.00455 0.0456 -0.00481 0.04884 C -0.00508 0.05069 -0.00508 0.05278 -0.0056 0.0544 C -0.00742 0.05903 -0.01354 0.0581 -0.01497 0.05856 C -0.0164 0.05879 -0.01758 0.05949 -0.01888 0.05995 C -0.02044 0.06041 -0.02213 0.06065 -0.02356 0.06134 C -0.02448 0.06157 -0.02513 0.0625 -0.02591 0.06273 C -0.02903 0.06342 -0.03216 0.06365 -0.03528 0.06412 C -0.03685 0.06504 -0.03841 0.06597 -0.03997 0.0669 C -0.04153 0.06736 -0.0431 0.06782 -0.04466 0.06828 C -0.05286 0.07037 -0.05078 0.06967 -0.06185 0.07106 C -0.06601 0.07245 -0.07018 0.07407 -0.07435 0.07523 C -0.07851 0.07592 -0.08333 0.07245 -0.08685 0.07662 C -0.08724 0.07708 -0.08554 0.0949 -0.08528 0.09745 C -0.08333 0.11643 -0.0858 0.08657 -0.08294 0.12523 C -0.08268 0.13912 -0.08255 0.15301 -0.08216 0.1669 C -0.08164 0.18495 -0.0819 0.18125 -0.0806 0.19328 C -0.08034 0.19838 -0.08034 0.20347 -0.07981 0.20856 C -0.07903 0.21643 -0.07747 0.22569 -0.07591 0.23356 C -0.07513 0.23727 -0.07448 0.24097 -0.07356 0.24467 C -0.06849 0.26574 -0.07383 0.24236 -0.06888 0.25856 C -0.06823 0.26065 -0.06836 0.26365 -0.06731 0.26551 C -0.06614 0.26759 -0.06432 0.26852 -0.06263 0.26967 C -0.05508 0.27453 -0.04896 0.27731 -0.04075 0.27801 C -0.02695 0.27893 -0.01315 0.27893 0.00065 0.2794 C 0.00026 0.31111 -0.00013 0.34305 -0.00013 0.37523 L -0.00013 0.37546 " pathEditMode="relative" rAng="0" ptsTypes="AAAAAAAAAAAAAAAAAAAAAAAAAAAAAA">
                                      <p:cBhvr>
                                        <p:cTn id="28" dur="5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2" y="1923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0195 -0.00023 L 0.00195 2.96296E-6 C 0.00911 0.02176 0.00573 0.01065 0.01211 0.0331 C 0.01315 0.0368 0.01432 0.04027 0.01523 0.04421 C 0.01576 0.04652 0.01615 0.04884 0.0168 0.05115 C 0.01849 0.05833 0.01836 0.05532 0.01992 0.06365 C 0.02018 0.06527 0.01992 0.06782 0.0207 0.06921 C 0.0224 0.07222 0.0293 0.07315 0.03086 0.07338 C 0.04557 0.07407 0.06055 0.0743 0.07539 0.07477 C 0.07617 0.07615 0.07708 0.07731 0.07773 0.07893 C 0.08008 0.08472 0.07982 0.09097 0.08086 0.09838 C 0.08216 0.1081 0.08112 0.09977 0.08242 0.11227 C 0.08255 0.11458 0.08294 0.11666 0.0832 0.11921 C 0.08437 0.13402 0.08242 0.12777 0.08555 0.13588 C 0.08581 0.14143 0.08581 0.14699 0.08633 0.15254 C 0.08633 0.15393 0.08698 0.15509 0.08711 0.15671 C 0.08958 0.18981 0.08659 0.1618 0.08867 0.18032 C 0.08802 0.20046 0.08958 0.20092 0.08633 0.21365 C 0.07865 0.24259 0.08659 0.21227 0.07695 0.24143 C 0.07591 0.24444 0.07565 0.24815 0.07461 0.25115 C 0.0737 0.25324 0.07253 0.25486 0.07148 0.25671 C 0.06771 0.26273 0.06458 0.26713 0.05977 0.2706 C 0.05247 0.27569 0.04948 0.27477 0.0418 0.27615 C 0.03932 0.27639 0.03711 0.27708 0.03477 0.27754 L -0.00039 0.28171 C -0.00169 0.28264 -0.00299 0.28356 -0.0043 0.28449 C -0.00781 0.28657 -0.00599 0.28472 -0.00977 0.28865 C -0.0112 0.28981 -0.01237 0.2919 -0.01367 0.29282 C -0.01523 0.29375 -0.0168 0.29375 -0.01836 0.29421 C -0.01706 0.30625 -0.01862 0.29722 -0.01367 0.31227 C -0.01094 0.32106 -0.01198 0.31898 -0.00977 0.32754 C -0.00938 0.3294 -0.00872 0.33102 -0.0082 0.3331 C -0.00638 0.34166 -0.00742 0.35486 -0.00742 0.36227 " pathEditMode="relative" rAng="0" ptsTypes="AAAAAAAAAAAAAAAAAAAAAAAAAAAAAAAAA">
                                      <p:cBhvr>
                                        <p:cTn id="30" dur="3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" y="1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repeatCount="indefinite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3033 L -0.00091 0.03033 C 0.00144 0.18704 0.00066 0.09954 0.00066 0.29283 L 0.00066 0.29283 " pathEditMode="relative" ptsTypes="AAAA">
                                      <p:cBhvr>
                                        <p:cTn id="40" dur="2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6 0.04699 L 0.0056 0.04699 C 0.00573 0.06783 0.00651 0.19375 0.00716 0.22755 C 0.00716 0.23148 0.00755 0.23519 0.00794 0.23866 C 0.00807 0.24028 0.00794 0.24213 0.00873 0.24283 C 0.00977 0.24422 0.01133 0.24375 0.01263 0.24445 C 0.01732 0.24375 0.02201 0.24445 0.02669 0.24283 C 0.02943 0.24213 0.0319 0.23935 0.03451 0.23727 C 0.03685 0.23565 0.03919 0.23403 0.04154 0.23172 C 0.06758 0.20556 0.04466 0.22616 0.0556 0.21644 C 0.05742 0.21273 0.05925 0.20926 0.06107 0.20533 C 0.06823 0.18935 0.06198 0.20093 0.06732 0.19144 C 0.06901 0.17917 0.0681 0.18912 0.06576 0.16644 C 0.06172 0.12917 0.06406 0.1456 0.06107 0.12199 C 0.0599 0.11366 0.05833 0.1044 0.05638 0.09699 C 0.0543 0.08982 0.0513 0.08264 0.04857 0.07616 C 0.04831 0.07477 0.04844 0.07269 0.04779 0.07199 C 0.04323 0.06713 0.03789 0.06505 0.03373 0.05949 C 0.03268 0.0581 0.03177 0.05602 0.0306 0.05533 C 0.02852 0.05417 0.02643 0.0544 0.02435 0.05394 C 0.02305 0.05301 0.02175 0.05209 0.02044 0.05116 C 0.01888 0.05023 0.01576 0.04838 0.01576 0.04838 C 0.01263 0.04884 0.00938 0.04861 0.00638 0.04977 C 0.00534 0.05 0.00404 0.05093 0.00404 0.05255 C 0.00352 0.06227 0.00443 0.07199 0.00482 0.08172 C 0.00495 0.08496 0.00534 0.0882 0.0056 0.09144 C 0.00586 0.12338 0.00586 0.15533 0.00638 0.18727 C 0.00638 0.19514 0.00703 0.2044 0.00794 0.21227 C 0.00807 0.21435 0.00846 0.21597 0.00873 0.21783 C 0.00899 0.22199 0.00807 0.22709 0.00951 0.23033 C 0.01029 0.23264 0.01263 0.23102 0.01419 0.23172 C 0.025 0.2375 0.00651 0.23195 0.02279 0.23588 C 0.03112 0.23403 0.03945 0.23287 0.04779 0.23033 C 0.05664 0.22778 0.0543 0.22778 0.06029 0.22199 C 0.06172 0.2206 0.06341 0.21945 0.06498 0.21783 C 0.06849 0.21412 0.07227 0.20972 0.07591 0.20533 C 0.07266 0.15486 0.07591 0.17014 0.06888 0.13866 C 0.0681 0.13542 0.06706 0.13241 0.06654 0.12894 C 0.06498 0.1213 0.06263 0.10533 0.06263 0.10533 C 0.0625 0.10463 0.06198 0.09422 0.06107 0.09144 C 0.05938 0.08704 0.05781 0.08241 0.0556 0.07894 C 0.04714 0.06597 0.04089 0.05834 0.03216 0.04977 C 0.03112 0.04884 0.03008 0.04792 0.02904 0.04699 C 0.01992 0.04792 0.00807 0.0382 0.00169 0.04977 C -0.00404 0.05996 0.00234 0.07847 0.00326 0.09283 C 0.00365 0.10047 0.00495 0.10764 0.0056 0.11505 C 0.01003 0.17222 0.00417 0.1169 0.00951 0.16366 C 0.01003 0.17431 0.01068 0.18496 0.01107 0.1956 C 0.01133 0.20394 0.01146 0.21227 0.01185 0.2206 C 0.01237 0.23542 0.0112 0.23102 0.01419 0.23866 C 0.01732 0.23797 0.02917 0.23611 0.03373 0.2331 C 0.03919 0.22963 0.0444 0.22408 0.05013 0.2206 L 0.05482 0.21783 C 0.05573 0.21667 0.05938 0.21111 0.06107 0.20949 C 0.06745 0.20394 0.05899 0.21343 0.06576 0.20533 C 0.06628 0.20394 0.06693 0.20278 0.06732 0.20116 C 0.07083 0.18079 0.06836 0.16181 0.06654 0.14005 C 0.06602 0.13426 0.06432 0.12917 0.06341 0.12338 C 0.06107 0.10926 0.0612 0.10371 0.05794 0.09005 C 0.05677 0.08565 0.05573 0.08102 0.05404 0.07755 C 0.04414 0.05834 0.04688 0.06574 0.03763 0.0581 C 0.0362 0.05695 0.03516 0.05463 0.03373 0.05394 C 0.03138 0.05278 0.02904 0.05278 0.02669 0.05255 C 0.00169 0.05023 0.01029 0.05741 0.00169 0.04977 " pathEditMode="relative" ptsTypes="AAAAAAAAAAAAAAAAAAAAAAAAAAAAAAAAAAAAAAAAAAAAAAAAAAAAAAAAAAAAAAAA">
                                      <p:cBhvr>
                                        <p:cTn id="42" dur="3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9" grpId="0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F3B4-67C3-7148-C771-557103D2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393E5B5-7740-D7CA-AA46-236798D29F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393E5B5-7740-D7CA-AA46-236798D29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10A28B1-C773-8A93-AF5E-8B70FE8B40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8B9B32-8B11-3395-99DE-E9881D827A2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B43CA3-9CD3-9020-9474-B4618E677E9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DCD901-B852-1F9D-5C6D-47423FB6E7E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AE5F0D-881D-9716-4401-6B57712A930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F269A8C-1DA2-8A59-6E9F-50C8144CE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EBBD7D-5706-8A3B-7CA0-24E25EC22C0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46411BC-536C-F146-BA5E-7068976AC1A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FLOW CHARTS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A04870-6E66-EA4E-375B-F1AAE0B0F6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261" y="1430307"/>
            <a:ext cx="10895926" cy="49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5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FF53-236C-64E9-4C89-377C3F96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E47DE1D-2534-310C-E64F-7D9A2DF755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E47DE1D-2534-310C-E64F-7D9A2DF75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8FC46A8-4BE7-BF53-717E-E834407147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A7F104-7E26-C29F-DA67-F4EAA242B50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BA36FE-EA0A-7FE5-FE72-BE600EED394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BE8D85-7C81-39FE-FA2C-70F6180292A4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83384C-EFB8-93FF-E09B-3793181A335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0C74DF6-3FCC-53B0-34F7-035944DD3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0029CA-D981-E381-5E64-F0D870578F0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2B50671-0AE9-8D07-DF1D-FE8490C05212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605989-AA67-32CB-336E-91241D4AA35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SEQUENTIAL EXECUTION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604583-4BEF-2A73-379E-DD86E21B4E1A}"/>
              </a:ext>
            </a:extLst>
          </p:cNvPr>
          <p:cNvSpPr/>
          <p:nvPr/>
        </p:nvSpPr>
        <p:spPr>
          <a:xfrm>
            <a:off x="7413968" y="1548235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M Roman 12" panose="00000500000000000000" pitchFamily="50" charset="0"/>
              </a:rPr>
              <a:t>Control Structure 1: Sequential execution</a:t>
            </a:r>
          </a:p>
          <a:p>
            <a:pPr algn="ctr"/>
            <a:r>
              <a:rPr lang="en-US" sz="2400" dirty="0">
                <a:latin typeface="LM Roman 12" panose="00000500000000000000" pitchFamily="50" charset="0"/>
              </a:rPr>
              <a:t>Statements executed one after the other in the order they were written</a:t>
            </a:r>
            <a:endParaRPr lang="en-ZA" sz="2400" dirty="0">
              <a:latin typeface="LM Roman 12" panose="00000500000000000000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B0874-7CBC-01D5-FD06-0246EEEAF3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838" y="2162175"/>
            <a:ext cx="7070539" cy="261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05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546E-46CD-B273-372D-5C298E2E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99D951F-186C-6304-72B8-8DD486B345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99D951F-186C-6304-72B8-8DD486B345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BC99E42-7D49-3999-CABA-1BDADADDBFF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59AFAA-F806-E756-AFF3-AD437175318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B8D48B-7362-9032-F1EC-672602C4519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88494A-AE7D-D72A-457F-84B6B530A1F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B23290-6960-E718-6AE0-A0657F525EB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0657452-D632-154B-7E7D-57C881355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11823E9-0B38-B51B-07F2-65296D81B66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6A19F5D-20F6-FB7B-E3A5-9EBB233D3C90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76809-C17B-BC2B-29B5-36B64111D8CD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if 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SELECTION STATEMENT 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7A93A6-3FB7-9E4F-403C-86B518B516CB}"/>
              </a:ext>
            </a:extLst>
          </p:cNvPr>
          <p:cNvSpPr/>
          <p:nvPr/>
        </p:nvSpPr>
        <p:spPr>
          <a:xfrm>
            <a:off x="7413968" y="154823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LM Roman 12" panose="00000500000000000000" pitchFamily="50" charset="0"/>
              </a:rPr>
              <a:t>Control structure 2: the ‘if’ statement</a:t>
            </a:r>
          </a:p>
          <a:p>
            <a:pPr algn="ctr"/>
            <a:endParaRPr lang="en-US" sz="2000" dirty="0">
              <a:latin typeface="LM Roman 12" panose="00000500000000000000" pitchFamily="50" charset="0"/>
            </a:endParaRPr>
          </a:p>
          <a:p>
            <a:pPr algn="ctr"/>
            <a:r>
              <a:rPr lang="en-US" sz="2000" u="sng" dirty="0">
                <a:latin typeface="LM Roman 12" panose="00000500000000000000" pitchFamily="50" charset="0"/>
              </a:rPr>
              <a:t>Example with Pseudocode:</a:t>
            </a:r>
          </a:p>
          <a:p>
            <a:pPr algn="ctr"/>
            <a:r>
              <a:rPr lang="en-US" sz="2000" dirty="0">
                <a:latin typeface="LM Roman 12" panose="00000500000000000000" pitchFamily="50" charset="0"/>
              </a:rPr>
              <a:t>If student’s grade is greater than or equal to 50</a:t>
            </a:r>
          </a:p>
          <a:p>
            <a:pPr algn="ctr"/>
            <a:r>
              <a:rPr lang="en-US" sz="2000" dirty="0">
                <a:latin typeface="LM Roman 12" panose="00000500000000000000" pitchFamily="50" charset="0"/>
              </a:rPr>
              <a:t>Print “Passed”</a:t>
            </a:r>
          </a:p>
          <a:p>
            <a:pPr algn="ctr"/>
            <a:endParaRPr lang="en-US" sz="2000" dirty="0">
              <a:latin typeface="LM Roman 12" panose="00000500000000000000" pitchFamily="50" charset="0"/>
            </a:endParaRPr>
          </a:p>
          <a:p>
            <a:pPr algn="ctr"/>
            <a:r>
              <a:rPr lang="en-US" sz="2000" u="sng" dirty="0">
                <a:latin typeface="LM Roman 12" panose="00000500000000000000" pitchFamily="50" charset="0"/>
              </a:rPr>
              <a:t>Example with C code:</a:t>
            </a: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C4AEE65F-B061-62CF-18D3-AEB7F8625D82}"/>
              </a:ext>
            </a:extLst>
          </p:cNvPr>
          <p:cNvSpPr/>
          <p:nvPr/>
        </p:nvSpPr>
        <p:spPr>
          <a:xfrm>
            <a:off x="1623649" y="2514992"/>
            <a:ext cx="1905066" cy="1245641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Yes or no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0D5D4F-253E-B349-354B-7B35586ACCA7}"/>
              </a:ext>
            </a:extLst>
          </p:cNvPr>
          <p:cNvCxnSpPr/>
          <p:nvPr/>
        </p:nvCxnSpPr>
        <p:spPr>
          <a:xfrm>
            <a:off x="2576182" y="1443840"/>
            <a:ext cx="0" cy="1099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50B528D-930C-66F5-E7FF-050D1C36D428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657225" y="3137813"/>
            <a:ext cx="966424" cy="1653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EC30682-68EB-D5ED-573E-52FDBADC360A}"/>
              </a:ext>
            </a:extLst>
          </p:cNvPr>
          <p:cNvCxnSpPr>
            <a:cxnSpLocks/>
            <a:stCxn id="8" idx="3"/>
            <a:endCxn id="31" idx="0"/>
          </p:cNvCxnSpPr>
          <p:nvPr/>
        </p:nvCxnSpPr>
        <p:spPr>
          <a:xfrm>
            <a:off x="3528715" y="3137813"/>
            <a:ext cx="894394" cy="163868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8055BB6-2F65-3AF9-DC28-C3D89BDD8304}"/>
              </a:ext>
            </a:extLst>
          </p:cNvPr>
          <p:cNvSpPr txBox="1"/>
          <p:nvPr/>
        </p:nvSpPr>
        <p:spPr>
          <a:xfrm>
            <a:off x="837498" y="28065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true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6F229-1C9C-FC8C-DEBF-348F45CF6298}"/>
              </a:ext>
            </a:extLst>
          </p:cNvPr>
          <p:cNvSpPr txBox="1"/>
          <p:nvPr/>
        </p:nvSpPr>
        <p:spPr>
          <a:xfrm>
            <a:off x="2520126" y="180884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B885FE-7978-D9CA-FFCA-B35B74581CDB}"/>
              </a:ext>
            </a:extLst>
          </p:cNvPr>
          <p:cNvSpPr txBox="1"/>
          <p:nvPr/>
        </p:nvSpPr>
        <p:spPr>
          <a:xfrm>
            <a:off x="3651261" y="2806572"/>
            <a:ext cx="7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false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CB7A20-D81F-7011-0036-CA050BBA4D61}"/>
              </a:ext>
            </a:extLst>
          </p:cNvPr>
          <p:cNvSpPr/>
          <p:nvPr/>
        </p:nvSpPr>
        <p:spPr>
          <a:xfrm>
            <a:off x="3470576" y="4776495"/>
            <a:ext cx="1905065" cy="5847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Do that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44B018-5D3E-0A77-ABE2-9BB743ED8794}"/>
              </a:ext>
            </a:extLst>
          </p:cNvPr>
          <p:cNvSpPr/>
          <p:nvPr/>
        </p:nvSpPr>
        <p:spPr>
          <a:xfrm>
            <a:off x="114458" y="4786020"/>
            <a:ext cx="1905065" cy="5847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Do this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2" name="Slide Zoom 41">
                <a:extLst>
                  <a:ext uri="{FF2B5EF4-FFF2-40B4-BE49-F238E27FC236}">
                    <a16:creationId xmlns:a16="http://schemas.microsoft.com/office/drawing/2014/main" id="{BE1162AF-1B22-D299-0258-0250E807B7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3968" y="3668074"/>
              <a:ext cx="4568482" cy="2569772"/>
            </p:xfrm>
            <a:graphic>
              <a:graphicData uri="http://schemas.microsoft.com/office/powerpoint/2016/slidezoom">
                <pslz:sldZm>
                  <pslz:sldZmObj sldId="383" cId="1241172238">
                    <pslz:zmPr id="{659181CB-24E3-4609-9339-912117A48415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68482" cy="256977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2" name="Slide Zoom 41">
                <a:extLst>
                  <a:ext uri="{FF2B5EF4-FFF2-40B4-BE49-F238E27FC236}">
                    <a16:creationId xmlns:a16="http://schemas.microsoft.com/office/drawing/2014/main" id="{BE1162AF-1B22-D299-0258-0250E807B7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13968" y="3668074"/>
                <a:ext cx="4568482" cy="25697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762703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B4BB3-9BCE-B8F9-86DB-01871FD4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935902"/>
            <a:ext cx="11696700" cy="426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7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A6A6-3894-F4C3-F0E8-771DF5CE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7EB2083-3F65-6FF9-07DF-A5850DC556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7EB2083-3F65-6FF9-07DF-A5850DC55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B289DCA-467B-CF4C-A987-0C8153EEC6F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EB368-D212-BB2A-AAFB-EF6650B8C0B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2 	pg. 15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528754-F069-FEC1-3BAC-9AA7DD02CF7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C5E740-212C-9AE9-66C6-811FF90A27C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831ED6-F840-CDA2-060D-7E0BEC17285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F53183C-79EF-CCEF-C1F6-F10A4F195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71AF2BB-0ECD-A45C-8957-FCEF5AE8BF66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785FDDC-12DE-B75F-F844-EB8F318F6398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7231C-6AF3-C720-33F9-F092EF6FE56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if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STATEMENT II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0D221-4756-4ACD-9021-0EA09D2075BD}"/>
              </a:ext>
            </a:extLst>
          </p:cNvPr>
          <p:cNvSpPr/>
          <p:nvPr/>
        </p:nvSpPr>
        <p:spPr>
          <a:xfrm>
            <a:off x="7413968" y="154823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 statement </a:t>
            </a:r>
            <a:r>
              <a:rPr lang="en-US" sz="2000" dirty="0">
                <a:latin typeface="LM Roman 12" panose="00000500000000000000" pitchFamily="50" charset="0"/>
              </a:rPr>
              <a:t>is a single-entry/single-exit structure:</a:t>
            </a:r>
          </a:p>
          <a:p>
            <a:pPr algn="ctr"/>
            <a:endParaRPr lang="en-US" sz="2000" dirty="0">
              <a:latin typeface="LM Roman 12" panose="00000500000000000000" pitchFamily="50" charset="0"/>
            </a:endParaRP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A decision can be made on any expression.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If result is zero: then false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If result is nonzero: then true</a:t>
            </a: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Example: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a - b </a:t>
            </a:r>
            <a:r>
              <a:rPr lang="en-US" dirty="0">
                <a:latin typeface="LM Roman 12" panose="00000500000000000000" pitchFamily="50" charset="0"/>
              </a:rPr>
              <a:t>is true if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a</a:t>
            </a:r>
            <a:r>
              <a:rPr lang="en-US" dirty="0">
                <a:latin typeface="LM Roman 12" panose="00000500000000000000" pitchFamily="50" charset="0"/>
              </a:rPr>
              <a:t> is not equal to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b</a:t>
            </a:r>
            <a:r>
              <a:rPr lang="en-US" dirty="0">
                <a:latin typeface="LM Roman 12" panose="00000500000000000000" pitchFamily="50" charset="0"/>
              </a:rPr>
              <a:t> (valid expression but bad programming)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a != b </a:t>
            </a:r>
            <a:r>
              <a:rPr lang="en-US" dirty="0">
                <a:latin typeface="LM Roman 12" panose="00000500000000000000" pitchFamily="50" charset="0"/>
              </a:rPr>
              <a:t>is equivalent, but better programming</a:t>
            </a:r>
          </a:p>
          <a:p>
            <a:pPr algn="ctr"/>
            <a:endParaRPr lang="en-US" dirty="0"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A6958-B11C-2473-4B47-4D2C45505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845" y="1430307"/>
            <a:ext cx="6194359" cy="1968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477AC-6BBB-F36F-8D8C-3C51615531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258" y="3612109"/>
            <a:ext cx="6192332" cy="237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760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164B3-3F88-0FD7-33FE-BDB1BD8AB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8780BE6-44DC-56F3-D675-0B3BDE4BA7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8780BE6-44DC-56F3-D675-0B3BDE4BA7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A08F2BD-42BD-8389-06A5-99DE71D9573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704E7-31A5-5522-5A3C-2D58EA044D0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16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B6C336-E0C5-2E56-6F2F-B32337673EE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6AC5BC4-6DA5-35BF-2409-7F13FF0AF2C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298EA8-9209-BCDF-BA5F-599756531A0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5355EB0-525C-8F7F-8042-382C77D06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60BBB1-0765-903E-2023-E9F6FC10EC8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405F381-7663-26C1-834A-2E115AB27F4F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1977D-B087-49AC-BEF1-0A528222111A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if else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STATEMENT 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88D9B3-83C6-E1DB-BD3B-E64DF42533EE}"/>
              </a:ext>
            </a:extLst>
          </p:cNvPr>
          <p:cNvSpPr/>
          <p:nvPr/>
        </p:nvSpPr>
        <p:spPr>
          <a:xfrm>
            <a:off x="7413968" y="154823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Specifies an action to be performed both when the condition is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true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and when it is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false</a:t>
            </a:r>
          </a:p>
          <a:p>
            <a:pPr algn="ctr"/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Test multiple cases by placing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if...else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selection statements inside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if...else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selection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statement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Once condition is met, rest of statements skipped</a:t>
            </a:r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US" dirty="0">
              <a:latin typeface="LM Roman 12" panose="00000500000000000000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E8D08-8C64-F051-41F6-28BF83FB0D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63" y="986640"/>
            <a:ext cx="6797332" cy="198438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2C00F21E-2064-4927-6D5F-85403DC3940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5837" y="2971023"/>
              <a:ext cx="6738131" cy="3790199"/>
            </p:xfrm>
            <a:graphic>
              <a:graphicData uri="http://schemas.microsoft.com/office/powerpoint/2016/slidezoom">
                <pslz:sldZm>
                  <pslz:sldZmObj sldId="387" cId="3555769500">
                    <pslz:zmPr id="{EBF460A7-6DB4-4DDE-93B9-789EAB30AB70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38131" cy="379019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2C00F21E-2064-4927-6D5F-85403DC394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5837" y="2971023"/>
                <a:ext cx="6738131" cy="37901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96734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826E2-CD34-E252-EEAD-77A95481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3083882"/>
            <a:ext cx="6650805" cy="3707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E2A5A-F5C6-4F34-2728-BEDA7C401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5" y="0"/>
            <a:ext cx="6746055" cy="308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6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0A57-0025-7B90-2D10-F52A60C2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7815AD5-1D74-8C64-8CBE-D0E9FFCEEB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7815AD5-1D74-8C64-8CBE-D0E9FFCEEB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8202EAF-5FBE-86C1-67C5-7A9D7189F0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2C8B2-541F-28B2-304F-49B46714220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3 	pg. 16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A7E2E8-E776-D211-B0B5-785CC5B6F7C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8D0974-AB99-35D7-DBB8-7A18B7AB2FB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746B3D-EB2B-3D10-FB3A-F0A99525004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CD15BCB-BA89-5ABF-62D9-47B9C348C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F66C35A-D8A7-14F2-90DA-3A10CDFB909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24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874A008-EDEB-997F-DDAA-03B278F75921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Combining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if STATEMENTS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(USR INPUT)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&amp;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(ARITHMETIC)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340221-A9CF-38A5-E690-833B33D75898}"/>
              </a:ext>
            </a:extLst>
          </p:cNvPr>
          <p:cNvGrpSpPr/>
          <p:nvPr/>
        </p:nvGrpSpPr>
        <p:grpSpPr>
          <a:xfrm>
            <a:off x="1216047" y="1814824"/>
            <a:ext cx="9759906" cy="3480047"/>
            <a:chOff x="1216047" y="1814824"/>
            <a:chExt cx="9759906" cy="3480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2DA010-7C25-B0D0-470E-6482F460F7C2}"/>
                </a:ext>
              </a:extLst>
            </p:cNvPr>
            <p:cNvSpPr/>
            <p:nvPr/>
          </p:nvSpPr>
          <p:spPr>
            <a:xfrm>
              <a:off x="1216047" y="1814824"/>
              <a:ext cx="9759906" cy="34800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4 using </a:t>
              </a:r>
              <a:r>
                <a:rPr lang="en-US" sz="2400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(), </a:t>
              </a:r>
              <a:r>
                <a:rPr lang="en-US" sz="2400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scanf</a:t>
              </a:r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(), and if statements:</a:t>
              </a:r>
            </a:p>
            <a:p>
              <a:pPr algn="ctr"/>
              <a:r>
                <a:rPr lang="en-ZA" sz="2400" dirty="0">
                  <a:solidFill>
                    <a:schemeClr val="bg1"/>
                  </a:solidFill>
                  <a:latin typeface="LM Roman 12" panose="00000500000000000000" pitchFamily="50" charset="0"/>
                </a:rPr>
                <a:t>Print the following text on the console:</a:t>
              </a: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39A2A2-153C-CC4D-7A2F-8DC640146333}"/>
                </a:ext>
              </a:extLst>
            </p:cNvPr>
            <p:cNvSpPr/>
            <p:nvPr/>
          </p:nvSpPr>
          <p:spPr>
            <a:xfrm>
              <a:off x="2352675" y="3124200"/>
              <a:ext cx="7696200" cy="20669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dirty="0">
                  <a:solidFill>
                    <a:srgbClr val="0070C0"/>
                  </a:solidFill>
                </a:rPr>
                <a:t>The following program tells you whether you have a fever or hypothermia.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Enter your body temperature (in degrees Celsius): “37”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Output: Good news, you are fine!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Enter your body temperature: “0”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Output: Bad news, you are a corpse in antarctica.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Enter body temperature: 100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Output: Aaaaaaaaaaaaah, you are on fire!!!!! (sound alert bell)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D9238DD-5F9D-C9C8-2FA9-D12909FDD8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1658" y="5375697"/>
            <a:ext cx="3189167" cy="141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6786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Widescreen</PresentationFormat>
  <Paragraphs>205</Paragraphs>
  <Slides>15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Khobo, IL, Dr [ilkhobo@sun.ac.za]</cp:lastModifiedBy>
  <cp:revision>1</cp:revision>
  <dcterms:created xsi:type="dcterms:W3CDTF">2026-08-23T20:05:40Z</dcterms:created>
  <dcterms:modified xsi:type="dcterms:W3CDTF">2026-08-23T20:06:20Z</dcterms:modified>
</cp:coreProperties>
</file>