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88" r:id="rId2"/>
    <p:sldId id="389" r:id="rId3"/>
    <p:sldId id="390" r:id="rId4"/>
    <p:sldId id="391" r:id="rId5"/>
    <p:sldId id="392" r:id="rId6"/>
    <p:sldId id="393" r:id="rId7"/>
    <p:sldId id="395" r:id="rId8"/>
    <p:sldId id="397" r:id="rId9"/>
    <p:sldId id="400" r:id="rId10"/>
    <p:sldId id="398" r:id="rId11"/>
    <p:sldId id="399" r:id="rId12"/>
    <p:sldId id="401" r:id="rId13"/>
    <p:sldId id="402" r:id="rId14"/>
    <p:sldId id="403" r:id="rId15"/>
    <p:sldId id="404" r:id="rId16"/>
    <p:sldId id="40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34212-9FA3-429B-87D2-0EFECD23F983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1E9CB-E7D9-4E5C-98BA-E91D17B4AF6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723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F0BC3-6C82-AB65-2F7C-1EFE254D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01DFA-3D14-A9B8-F161-E001B46C1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94D29-CBF9-4430-EE7C-4195922DD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49270-E2BA-4E3C-B2F0-26DAC7C81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1C7434-D88E-439C-AA15-1FCF6247310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4074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20F0-B297-B6B8-FDD5-B1E9F677E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7F7974-7ACC-605C-2CCE-9F28D7219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C3140-0819-3BAD-8DD0-431AC0535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C7266-A2A1-B32C-10AD-B9C2DE2DA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638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A0192-4226-A1BA-55E6-E12D6FFD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B002A3-D78A-F853-6732-4C664E05D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89F157-33E7-C87C-4705-EE87D76F7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07C69-2CE2-4493-355D-4C31743DE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33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D0513-84A0-8EED-C4BC-554F3890D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C8128B-4627-27FC-A242-C6981B966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14B5A-F6FD-6C48-5E4C-4E35EB121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656EE-DD1E-7C56-6334-0752F9D51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4706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5AA0C-B259-A410-054B-492F21C3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2E4C0-9665-6E78-A696-E9528B8E2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3080E-98CB-11DB-C176-7ADB0B6C4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D3119-DB6B-F0D6-4E81-094D0C5EBC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834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EE34E-EDDB-4B39-DCEA-976B0994D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F2848A-2FF4-259E-6074-548D16507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3F52F-C585-4845-9B4E-A71F80FA4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8F2D7-F211-5C1D-0B91-6F6987574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1198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5E23B-D520-B463-3DBA-F0FBDB29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DEBE9-1359-C08A-9585-CA02243B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369C0-0B35-D22E-4DCB-4329F11E6F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547CE-7259-E98A-F661-AD76BCD04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9851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6D8EA-2ECD-1A71-C51B-C4F56EE6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EB5562-8D8E-1167-E60C-813804ADE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445A4-B783-9144-F00B-1B3894B53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707E9-D6E4-45EA-CD35-4C53F1327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2965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1EA28-474D-E760-8CE2-839E2F04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EF6D3-5005-E0D3-1B22-70B549396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59CAA-2F83-E634-A59F-E0AF22DFF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6B052-B1B5-7679-7785-7955C89DB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482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E35D6-0D88-3E1A-5EC4-C5912DC72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5269D-9C5F-A7DC-746C-DE33017E5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5C4B6-323F-F646-CE49-65E3124EF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625A9-3E33-0218-90C6-7212ED49DF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6D77D-48F1-426C-9213-383F42B15709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01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BFFCD-CD15-7F50-D8D2-A13C29E8E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8DFAC-98FB-EE19-19ED-190BD6EA9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2B127-5928-9C25-D2CF-E3546BF22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14739-21F3-1544-95C4-414539FA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D6DC-C9A8-14D0-61F3-538326735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37527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4E7C-EE50-983E-1663-D4E3F8F0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56EE8-C1B4-CA3C-B3BC-30A7ABFA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9D2A8-55B1-D64C-E39C-7AEFB3C2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D4DA-92AB-2F0C-E85F-D5050440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F4B5C-0A07-5D92-870C-840900366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9903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B7BE5-63FE-2068-2506-D79705C9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6B1C4-06E9-16AF-B01F-FB1938324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3F52F-CECC-73B7-6430-FA2D9E83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E3C1E-31FA-6DA6-5CFA-F8B4C9A1E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CA933-E569-1771-A221-0F9A11F71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785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A4093-B5D7-B18F-B230-40ECF3426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B6C6-1751-69AD-F7FD-62B3B13F0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6C732-1A97-F3DC-93FA-3AD876918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F2D37-5A1E-6B8C-F13F-DC3DEFCDD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8E3A8-057E-9925-415C-D0542964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84482-196D-F68C-CAF7-D0C1200A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961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C6F0-A9C2-9B76-EA4B-74E080F3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6EBD6-B7E1-437D-8353-D6DAA0476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6649-7281-74B6-5623-01ACAFF7B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10675-AE94-272E-C6DD-08381CD56D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55C9D-5761-B1FF-02F9-F4C1DAB7D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C1B54-FA24-AFC5-4508-20C103DAF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7F872-78B5-1689-534A-C1DC02002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E323D-B6CA-C351-00B3-74C22EA8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7098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A5AB5-AF3F-28AA-775E-6C35561F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4B09C2-169B-A4D5-8C8C-14657F90B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B1CF-8438-269C-6DBC-EEA774ED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0DDA4-4090-A4BD-6537-1C3AC583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1016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800DA-A465-3ECA-BCA7-EFBB9CDD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EBA7CC-D349-9B5E-F88E-C16CEB648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860E0-4C1C-F9A3-2627-3234491B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868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D581-F5AB-3E08-D73E-E78F3A9AC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AA970-D42E-853E-3D8C-CEAC3EE46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93942-4A79-32FD-9B9D-448CF5B83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8F7BC-C3F0-19B6-5CAA-86C382E2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A2CF5-4F2A-B7B8-DDC2-B2E17537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0BE03-DBBF-F568-90A7-37EBC03B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399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EBDC-8F0D-88ED-2F45-AFBC8FB2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EE1D1-CBE6-EDF5-EC75-A08563127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E4861-1E73-9915-7EBC-4DC2E97D4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38841-9E93-2C99-27DD-0EF582239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4A226-E837-7809-FE81-9D6AF84D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B158E-ED5D-8C0E-3544-20F3CC19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521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5BF17-596A-2E12-0C41-E9EEB92A4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7731DF-9A46-384B-AE70-CCC71A665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A8831-95B5-F82C-7B4B-E8010D6B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F8009-4668-3595-8C7E-D8F1AD0B4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518E-C65D-A86F-2BAE-C3D74F68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695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C48DC6-25B2-EB77-1C8B-D728AE641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61F649-D1B8-1952-91CB-CA944181B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45C0-B5FC-02E6-362D-C90A9BCD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93D80-F332-16F5-44D4-38A775E59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9BACE-3BA0-5FC1-2A11-F1902E22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4660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F2464-F160-01F6-0609-20142817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1CF5B-A18A-03FE-0C30-44A152D48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67039-65E0-5BDF-3CEB-0E30DECC2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F38DD-B44F-4B34-A253-F1C4B47E338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4D5E2-6EBF-3F40-297F-DBA6B0FE7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A652F-3BEB-7057-806C-8309F8F71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12FC9F-560D-45AF-9F68-7022F50DC6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007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0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7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3.emf"/><Relationship Id="rId11" Type="http://schemas.openxmlformats.org/officeDocument/2006/relationships/image" Target="../media/image760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0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7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0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gif"/><Relationship Id="rId5" Type="http://schemas.openxmlformats.org/officeDocument/2006/relationships/image" Target="../media/image820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emf"/><Relationship Id="rId11" Type="http://schemas.openxmlformats.org/officeDocument/2006/relationships/image" Target="../media/image880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32.pn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7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1.jpe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0B463-A3CF-EDEA-58AF-9A76BC69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A3759BF-C2AA-BEE6-0502-EE85000F83FD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920000"/>
          </a:solidFill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C63E04-E8AB-23CC-86DB-E2D2F9FBD94A}"/>
              </a:ext>
            </a:extLst>
          </p:cNvPr>
          <p:cNvSpPr txBox="1"/>
          <p:nvPr/>
        </p:nvSpPr>
        <p:spPr>
          <a:xfrm>
            <a:off x="542925" y="1303858"/>
            <a:ext cx="1133277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3. </a:t>
            </a:r>
            <a:r>
              <a:rPr lang="en-ZA" sz="8800" dirty="0">
                <a:latin typeface="LM Roman 12" panose="00000500000000000000" pitchFamily="50" charset="0"/>
              </a:rPr>
              <a:t>Structured Program</a:t>
            </a:r>
          </a:p>
          <a:p>
            <a:pPr algn="l"/>
            <a:r>
              <a:rPr lang="en-ZA" sz="8800" b="0" i="0" u="none" strike="noStrike" baseline="0" dirty="0">
                <a:latin typeface="LM Roman 12" panose="00000500000000000000" pitchFamily="50" charset="0"/>
              </a:rPr>
              <a:t>Development</a:t>
            </a:r>
            <a:endParaRPr lang="en-ZA" sz="4800" b="0" i="0" u="none" strike="noStrike" baseline="0" dirty="0">
              <a:latin typeface="LM Roman 12" panose="00000500000000000000" pitchFamily="50" charset="0"/>
            </a:endParaRP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Lecture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 4| Review of structured programming so far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The </a:t>
            </a:r>
            <a:r>
              <a:rPr lang="en-US" dirty="0">
                <a:solidFill>
                  <a:srgbClr val="0070C0"/>
                </a:solidFill>
                <a:latin typeface="LM Roman 12" panose="00000500000000000000" pitchFamily="50" charset="0"/>
              </a:rPr>
              <a:t>‘while’ </a:t>
            </a:r>
            <a:r>
              <a:rPr lang="en-US" dirty="0">
                <a:latin typeface="LM Roman 12" panose="00000500000000000000" pitchFamily="50" charset="0"/>
              </a:rPr>
              <a:t>repetition statement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Program design 1: </a:t>
            </a:r>
            <a:r>
              <a:rPr lang="en-US" b="1" dirty="0">
                <a:latin typeface="LM Roman 12" panose="00000500000000000000" pitchFamily="50" charset="0"/>
              </a:rPr>
              <a:t>counter-controlled</a:t>
            </a:r>
            <a:r>
              <a:rPr lang="en-US" dirty="0">
                <a:latin typeface="LM Roman 12" panose="00000500000000000000" pitchFamily="50" charset="0"/>
              </a:rPr>
              <a:t> repetition</a:t>
            </a:r>
          </a:p>
          <a:p>
            <a:pPr algn="l"/>
            <a:r>
              <a:rPr lang="en-US" dirty="0">
                <a:latin typeface="LM Roman 12" panose="00000500000000000000" pitchFamily="50" charset="0"/>
              </a:rPr>
              <a:t>	  Program design 2: </a:t>
            </a:r>
            <a:r>
              <a:rPr lang="en-US" b="1" dirty="0">
                <a:latin typeface="LM Roman 12" panose="00000500000000000000" pitchFamily="50" charset="0"/>
              </a:rPr>
              <a:t>sentinel-controlled</a:t>
            </a:r>
            <a:r>
              <a:rPr lang="en-US" dirty="0">
                <a:latin typeface="LM Roman 12" panose="00000500000000000000" pitchFamily="50" charset="0"/>
              </a:rPr>
              <a:t> repetition</a:t>
            </a:r>
            <a:endParaRPr lang="en-US" sz="1800" b="0" i="0" u="none" strike="noStrike" baseline="0" dirty="0">
              <a:latin typeface="LM Roman 12" panose="000005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2AD8F3-0DCB-E874-037E-B4B0F1C1C12E}"/>
              </a:ext>
            </a:extLst>
          </p:cNvPr>
          <p:cNvSpPr txBox="1"/>
          <p:nvPr/>
        </p:nvSpPr>
        <p:spPr>
          <a:xfrm>
            <a:off x="542925" y="555414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LM Roman 12" panose="00000500000000000000" pitchFamily="50" charset="0"/>
              </a:rPr>
              <a:t>Isaac Khobo, PhD (</a:t>
            </a:r>
            <a:r>
              <a:rPr lang="en-US" sz="1800" b="0" i="0" u="none" strike="noStrike" baseline="0" dirty="0">
                <a:latin typeface="LM Roman 12" panose="00000500000000000000" pitchFamily="50" charset="0"/>
                <a:hlinkClick r:id="rId3"/>
              </a:rPr>
              <a:t>ilkhobo@sun.ac.za</a:t>
            </a:r>
            <a:r>
              <a:rPr lang="en-US" sz="1800" b="0" i="0" u="none" strike="noStrike" baseline="0" dirty="0">
                <a:latin typeface="LM Roman 12" panose="00000500000000000000" pitchFamily="50" charset="0"/>
              </a:rPr>
              <a:t>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C5D11B-3CC8-AD29-D724-BAA7B084E3D4}"/>
              </a:ext>
            </a:extLst>
          </p:cNvPr>
          <p:cNvSpPr txBox="1"/>
          <p:nvPr/>
        </p:nvSpPr>
        <p:spPr>
          <a:xfrm>
            <a:off x="2690150" y="526023"/>
            <a:ext cx="5878718" cy="3693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ZA" dirty="0">
                <a:solidFill>
                  <a:schemeClr val="bg1">
                    <a:lumMod val="85000"/>
                  </a:schemeClr>
                </a:solidFill>
                <a:latin typeface="LM Roman 12" panose="00000500000000000000" pitchFamily="50" charset="0"/>
              </a:rPr>
              <a:t>A. WELCOME TO CP143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659770-90A6-2552-A4B1-4B0B9136AE9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3553E12-B461-6CD4-5215-2A6E5EA16C5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9B768B-DD48-B984-8B65-F6FFC052F65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endParaRPr lang="en-ZA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365A722-8EEB-A94C-A03B-86A3E60E65F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ZA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SU </a:t>
                </a:r>
                <a:r>
                  <a:rPr lang="en-ZA" sz="18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46F8EEE-157B-1B45-89F4-AB1D23FB2E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673FD1-C6FF-1EDF-CC62-2D9236E3F0B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685636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Computer Programming 143 lectures </a:t>
                </a:r>
                <a:r>
                  <a:rPr lang="en-ZA" sz="2400" dirty="0">
                    <a:solidFill>
                      <a:schemeClr val="bg1"/>
                    </a:solidFill>
                  </a:rPr>
                  <a:t>| 27 July </a:t>
                </a:r>
                <a:r>
                  <a:rPr lang="en-ZA" sz="2400" dirty="0">
                    <a:solidFill>
                      <a:schemeClr val="bg1"/>
                    </a:solidFill>
                    <a:latin typeface="Bradley Hand ITC" panose="03070402050302030203" pitchFamily="66" charset="0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7A3229C-5E15-4E5D-1804-70A51B85D0A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9EAD537-F426-941E-7C06-D7C709AF33AD}"/>
              </a:ext>
            </a:extLst>
          </p:cNvPr>
          <p:cNvSpPr txBox="1"/>
          <p:nvPr/>
        </p:nvSpPr>
        <p:spPr>
          <a:xfrm>
            <a:off x="7691452" y="6331977"/>
            <a:ext cx="3712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u="sng" dirty="0">
                <a:solidFill>
                  <a:srgbClr val="C00000"/>
                </a:solidFill>
                <a:latin typeface="LM Roman 12" panose="00000500000000000000" pitchFamily="50" charset="0"/>
              </a:rPr>
              <a:t>Chapter 3: Struct Program Dev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A08301-63D9-C60A-93E9-76AE6A072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564" y="3095625"/>
            <a:ext cx="5040436" cy="31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12246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F8DB-016E-383E-3276-7C7FFDC4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5642B01-116F-2639-017B-ED6A33D2F6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5642B01-116F-2639-017B-ED6A33D2F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D01EE26-53E7-9929-4C13-9634FF30785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523E36-DC5D-41A8-3942-2DB29F9A496A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3 	pg. 17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A4EE97-24F7-3363-243D-9AD4C9CBF43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6C849E-E903-D9E7-002A-D2724E32290A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0C390C-E837-212C-2A25-4E0433BCCAC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4A38E1B-83E2-561F-2647-843DB9F9D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57B49C2-1A68-6153-9082-76B9F9EAD242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67B481D-C82C-B09E-84B2-923C1894B7AC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RECAP: ALGORITHMS &amp; CONTROL STRUCTURES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E2613A-B421-EA46-657B-E6E88CE20BD9}"/>
              </a:ext>
            </a:extLst>
          </p:cNvPr>
          <p:cNvSpPr txBox="1"/>
          <p:nvPr/>
        </p:nvSpPr>
        <p:spPr>
          <a:xfrm>
            <a:off x="2579288" y="6182749"/>
            <a:ext cx="6107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ZA" sz="1800" b="1" dirty="0">
                <a:solidFill>
                  <a:schemeClr val="tx1"/>
                </a:solidFill>
                <a:latin typeface="LM Roman 12" panose="00000500000000000000" pitchFamily="50" charset="0"/>
              </a:rPr>
              <a:t>OVERVIEW OF STRUCTURE PROGRAM DEVELOPMENT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AD6FCF-D195-B960-309B-425F2094B470}"/>
              </a:ext>
            </a:extLst>
          </p:cNvPr>
          <p:cNvSpPr/>
          <p:nvPr/>
        </p:nvSpPr>
        <p:spPr>
          <a:xfrm>
            <a:off x="6287911" y="914401"/>
            <a:ext cx="5926727" cy="52475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Algorithms – clear, step-by-step instructions used to solve a problem, perform calculation, or complete a task.</a:t>
            </a:r>
          </a:p>
          <a:p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Pseudocode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 &amp;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flow charts (ovals, diamonds, rectangles) 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describe algorithms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 3 control structures build algorithms: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sequence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selection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, and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repetition</a:t>
            </a: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1"/>
                </a:solidFill>
                <a:latin typeface="LM Roman 12" panose="00000500000000000000" pitchFamily="50" charset="0"/>
              </a:rPr>
              <a:t>Nested </a:t>
            </a:r>
            <a:r>
              <a:rPr lang="en-US" dirty="0">
                <a:solidFill>
                  <a:srgbClr val="FFFF00"/>
                </a:solidFill>
                <a:latin typeface="LM Roman 12" panose="00000500000000000000" pitchFamily="50" charset="0"/>
              </a:rPr>
              <a:t>if-else statements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solidFill>
                <a:schemeClr val="bg1"/>
              </a:solidFill>
              <a:latin typeface="LM Roman 12" panose="00000500000000000000" pitchFamily="50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>
              <a:latin typeface="LM Roman 12" panose="00000500000000000000" pitchFamily="50" charset="0"/>
            </a:endParaRPr>
          </a:p>
          <a:p>
            <a:endParaRPr lang="en-US" dirty="0">
              <a:latin typeface="LM Roman 12" panose="00000500000000000000" pitchFamily="50" charset="0"/>
            </a:endParaRPr>
          </a:p>
        </p:txBody>
      </p:sp>
      <p:pic>
        <p:nvPicPr>
          <p:cNvPr id="28" name="Picture 27" descr="Basics of Algorithm Structure - Data Science Workbook">
            <a:extLst>
              <a:ext uri="{FF2B5EF4-FFF2-40B4-BE49-F238E27FC236}">
                <a16:creationId xmlns:a16="http://schemas.microsoft.com/office/drawing/2014/main" id="{B54F74CE-A7F5-A180-313A-E2F50821B0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333" y="1724896"/>
            <a:ext cx="5339867" cy="3773506"/>
          </a:xfrm>
          <a:prstGeom prst="rect">
            <a:avLst/>
          </a:prstGeom>
        </p:spPr>
      </p:pic>
      <p:pic>
        <p:nvPicPr>
          <p:cNvPr id="39" name="Picture 38" descr="Logic | Introduction to C">
            <a:extLst>
              <a:ext uri="{FF2B5EF4-FFF2-40B4-BE49-F238E27FC236}">
                <a16:creationId xmlns:a16="http://schemas.microsoft.com/office/drawing/2014/main" id="{813AE409-9FF4-F8F5-BC60-00BF249056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6" y="1724896"/>
            <a:ext cx="6256895" cy="3637326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386FBB7-49C9-FAA8-C985-5B2EEFA87C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1714135"/>
            <a:ext cx="6287911" cy="378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24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7E01-D426-1712-34D2-E1B2A307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03E1DC85-AA22-4E1B-B1FB-56121CC975A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03E1DC85-AA22-4E1B-B1FB-56121CC97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AF54ACB-3DF2-FAA2-CBF8-206B599BADA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FBD015-E71A-9E63-313D-B669EBC74058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 2 	pg. 18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19DAC0-992F-4972-FB9A-1BA3B7DFE00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BD4A269-ECF1-F74D-961E-2683D502DCA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AED8FA-0D92-24D2-174F-836B87F4FEEA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14BE688-D07E-922F-DAFA-C1501B404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E6FACD4-F369-A511-AAF4-33D35C90FBDA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521A4A7-8B3E-D69A-9FDA-B61E6355402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CONTROL STRUCTURES DEMONSTRATION</a:t>
            </a:r>
            <a:endParaRPr lang="en-ZA" dirty="0">
              <a:solidFill>
                <a:srgbClr val="FFFF00"/>
              </a:solidFill>
              <a:latin typeface="LM Roman 12" panose="00000500000000000000" pitchFamily="50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FCD3D4F-2CAD-026E-F054-F73A97EC63C3}"/>
              </a:ext>
            </a:extLst>
          </p:cNvPr>
          <p:cNvGrpSpPr/>
          <p:nvPr/>
        </p:nvGrpSpPr>
        <p:grpSpPr>
          <a:xfrm>
            <a:off x="1216047" y="1814824"/>
            <a:ext cx="9759906" cy="3480047"/>
            <a:chOff x="1216047" y="1814824"/>
            <a:chExt cx="9759906" cy="348004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BA47E0-8F00-006E-E060-34551EFF4453}"/>
                </a:ext>
              </a:extLst>
            </p:cNvPr>
            <p:cNvSpPr/>
            <p:nvPr/>
          </p:nvSpPr>
          <p:spPr>
            <a:xfrm>
              <a:off x="1216047" y="1814824"/>
              <a:ext cx="9759906" cy="348004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EXAMPLE 5 using </a:t>
              </a:r>
              <a:r>
                <a:rPr lang="en-US" sz="2400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printf</a:t>
              </a:r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(), </a:t>
              </a:r>
              <a:r>
                <a:rPr lang="en-US" sz="2400" dirty="0" err="1">
                  <a:solidFill>
                    <a:srgbClr val="FFFF00"/>
                  </a:solidFill>
                  <a:latin typeface="LM Roman 12" panose="00000500000000000000" pitchFamily="50" charset="0"/>
                </a:rPr>
                <a:t>scanf</a:t>
              </a:r>
              <a:r>
                <a:rPr lang="en-US" sz="2400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(), and if statements:</a:t>
              </a:r>
            </a:p>
            <a:p>
              <a:pPr algn="ctr"/>
              <a:r>
                <a:rPr lang="en-ZA" sz="2400" dirty="0">
                  <a:solidFill>
                    <a:schemeClr val="bg1"/>
                  </a:solidFill>
                  <a:latin typeface="LM Roman 12" panose="00000500000000000000" pitchFamily="50" charset="0"/>
                </a:rPr>
                <a:t>Print the following text on the console if the arithmetic is evaluated correctly:</a:t>
              </a:r>
            </a:p>
            <a:p>
              <a:pPr algn="ctr"/>
              <a:endParaRPr lang="en-ZA" sz="2400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sz="2400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sz="2400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  <a:p>
              <a:pPr algn="ctr"/>
              <a:endParaRPr lang="en-ZA" dirty="0">
                <a:solidFill>
                  <a:schemeClr val="bg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BFC1D50-0F86-6AAC-D621-BE4D4784520C}"/>
                </a:ext>
              </a:extLst>
            </p:cNvPr>
            <p:cNvSpPr/>
            <p:nvPr/>
          </p:nvSpPr>
          <p:spPr>
            <a:xfrm>
              <a:off x="2352675" y="3124200"/>
              <a:ext cx="7696200" cy="20669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ZA" dirty="0">
                  <a:solidFill>
                    <a:srgbClr val="0070C0"/>
                  </a:solidFill>
                </a:rPr>
                <a:t>Heading: This program checks your elementary math knowledge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What is 10 + 20?</a:t>
              </a:r>
            </a:p>
            <a:p>
              <a:r>
                <a:rPr lang="en-ZA" b="1" dirty="0">
                  <a:solidFill>
                    <a:srgbClr val="0070C0"/>
                  </a:solidFill>
                </a:rPr>
                <a:t>(Well done, you are a math wizard! No more questions)</a:t>
              </a:r>
            </a:p>
            <a:p>
              <a:r>
                <a:rPr lang="en-ZA" dirty="0">
                  <a:solidFill>
                    <a:srgbClr val="0070C0"/>
                  </a:solidFill>
                </a:rPr>
                <a:t>If x is 10, what is exp(-pow(x,2))*log(x)?</a:t>
              </a:r>
            </a:p>
            <a:p>
              <a:r>
                <a:rPr lang="en-ZA" b="1" dirty="0">
                  <a:solidFill>
                    <a:srgbClr val="0070C0"/>
                  </a:solidFill>
                </a:rPr>
                <a:t>(You got that wrong, try the next question!)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51832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ADF8-34C5-1E33-69B1-2493F8260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99628D1E-F236-2079-D45E-7D2CB06FE2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99628D1E-F236-2079-D45E-7D2CB06FE2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DE4592E0-2DCC-266C-5A26-6FAE2FC7CC9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2EAF64-C856-8325-9D56-416BE4397122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19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8F15A85-0D74-2D6D-807B-76084E46338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362FE16-8DCC-E8F4-9932-91CD8BE7AC2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208DC53-E0DA-72EE-0337-EBE4909E6A3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9E8E39A4-A7B6-21A3-D815-AC7F659D1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A5A3E9E-F1AA-52BE-B454-392F8865616F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40B3E18-8C3C-A552-5F01-EC7DF40D4F86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406D3B-2A6C-B99F-CC42-0DAF4925723D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while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STATEMENT 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760D80-021B-9078-D543-CCE47B425395}"/>
              </a:ext>
            </a:extLst>
          </p:cNvPr>
          <p:cNvSpPr/>
          <p:nvPr/>
        </p:nvSpPr>
        <p:spPr>
          <a:xfrm>
            <a:off x="7413968" y="1548235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Programmer specifies an action to be repeated while some condition remains true.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while loop 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repeated until condition becomes false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We do use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loop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iteration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, </a:t>
            </a: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repetition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interchangeably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A8EC3-7319-C66A-C33D-A8A68CCF19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723" y="2439347"/>
            <a:ext cx="4949398" cy="2137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2EB928-597C-B81C-7368-409EDDC57A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723" y="1548590"/>
            <a:ext cx="5464013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221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AD2A-4C10-24A3-9130-CF1BCBAB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A62031E0-83F8-7B6D-9F83-1669A53B18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A62031E0-83F8-7B6D-9F83-1669A53B18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9A505994-6382-BC08-2326-78D56A2F89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52FC63-2C5A-B4EB-74C8-AC462E88AD74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BCEEF2-CC43-77BF-1823-601EB542FC1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B148D7-F998-7194-D435-50A36AD58F23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1E44252-B381-973C-EC42-0B3ADB84CDD7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A99CA7D-5F00-E623-7752-AD9140E70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83633CD-E08D-E779-50C6-76EC8D66BED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2E8DE3C-B1E8-593C-B55D-F326818E0552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1010C4-00F2-F125-F653-826F9C4296FC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COUNTER CONTROLLED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VS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SENTINEL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8E750-2C12-22FD-FE1D-B2BF9777B9A8}"/>
              </a:ext>
            </a:extLst>
          </p:cNvPr>
          <p:cNvSpPr/>
          <p:nvPr/>
        </p:nvSpPr>
        <p:spPr>
          <a:xfrm>
            <a:off x="1854535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FB73DD-FAA3-CF3E-7E41-68E2368C5337}"/>
              </a:ext>
            </a:extLst>
          </p:cNvPr>
          <p:cNvSpPr/>
          <p:nvPr/>
        </p:nvSpPr>
        <p:spPr>
          <a:xfrm>
            <a:off x="5881473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E31380-CB24-75A2-7B89-D5A18D7F1545}"/>
              </a:ext>
            </a:extLst>
          </p:cNvPr>
          <p:cNvSpPr txBox="1"/>
          <p:nvPr/>
        </p:nvSpPr>
        <p:spPr>
          <a:xfrm>
            <a:off x="2108551" y="342477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COUNTER-CONTROLLED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C8CC1-E45F-4F89-B258-FA1AD6BD9775}"/>
              </a:ext>
            </a:extLst>
          </p:cNvPr>
          <p:cNvSpPr txBox="1"/>
          <p:nvPr/>
        </p:nvSpPr>
        <p:spPr>
          <a:xfrm>
            <a:off x="6145269" y="342477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SENTINEL-CONTROLLED</a:t>
            </a:r>
          </a:p>
        </p:txBody>
      </p:sp>
    </p:spTree>
    <p:extLst>
      <p:ext uri="{BB962C8B-B14F-4D97-AF65-F5344CB8AC3E}">
        <p14:creationId xmlns:p14="http://schemas.microsoft.com/office/powerpoint/2010/main" val="235023098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00DB-D61F-43EE-F6CC-29D9C305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E05AD833-7AF6-D8BB-9AB4-CA6A57C129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E05AD833-7AF6-D8BB-9AB4-CA6A57C129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707304FF-A53C-1D0F-CE1F-9DB0DA31007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2729C5-9DD8-CD9F-2A7C-2C3191DB1990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BD0204-94AF-119B-FBD3-ECDA8AB88F6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04E36E-C4F2-76EF-C5AD-EF230F7B1810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11CB5C-9D15-4C68-12F8-DDD7E84921D6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7F024A91-C34D-E7C0-1BD4-3DAE2E914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C714825-135C-73D1-C8B8-0E244256F5D5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90E56F4F-C06F-8AC1-4606-4AC437B8CF1C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7FB5E-36D4-B95C-A9A1-4AE02903F2DF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COUNTER CONTROLLED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VS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SENTINEL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B669C-0234-34C9-B497-88063451631A}"/>
              </a:ext>
            </a:extLst>
          </p:cNvPr>
          <p:cNvSpPr/>
          <p:nvPr/>
        </p:nvSpPr>
        <p:spPr>
          <a:xfrm>
            <a:off x="1854535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The number of repetitions is known before the loop begins executing. (controlled variable =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counter</a:t>
            </a:r>
            <a:r>
              <a:rPr lang="en-ZA" sz="2000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B39CB0-F0B5-83CC-4E29-C976F6008CA5}"/>
              </a:ext>
            </a:extLst>
          </p:cNvPr>
          <p:cNvSpPr/>
          <p:nvPr/>
        </p:nvSpPr>
        <p:spPr>
          <a:xfrm>
            <a:off x="5881473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BEDE6-E331-8A77-AF08-56E353A509D2}"/>
              </a:ext>
            </a:extLst>
          </p:cNvPr>
          <p:cNvSpPr txBox="1"/>
          <p:nvPr/>
        </p:nvSpPr>
        <p:spPr>
          <a:xfrm>
            <a:off x="2108551" y="2113157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COUNTER-CONTROLLED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D96F15-DF1C-203B-74E6-976ED5623D75}"/>
              </a:ext>
            </a:extLst>
          </p:cNvPr>
          <p:cNvSpPr txBox="1"/>
          <p:nvPr/>
        </p:nvSpPr>
        <p:spPr>
          <a:xfrm>
            <a:off x="6145269" y="342477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SENTINEL-CONTROLLED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5B0A0C59-1959-1E71-62EF-1C6C7B0B5D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4534" y="3699618"/>
              <a:ext cx="3860875" cy="2171742"/>
            </p:xfrm>
            <a:graphic>
              <a:graphicData uri="http://schemas.microsoft.com/office/powerpoint/2016/slidezoom">
                <pslz:sldZm>
                  <pslz:sldZmObj sldId="395" cId="1313451432">
                    <pslz:zmPr id="{0FE4BEF1-9D6D-438C-B114-CBD16397E80E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60875" cy="217174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5B0A0C59-1959-1E71-62EF-1C6C7B0B5D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54534" y="3699618"/>
                <a:ext cx="3860875" cy="21717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747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EB6707-D759-92D8-5261-AECFE9305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15" y="2032001"/>
            <a:ext cx="11947169" cy="2072138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B6197584-E5CD-750B-CCC7-F23D336A6F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19022" y="3675939"/>
              <a:ext cx="270934" cy="152400"/>
            </p:xfrm>
            <a:graphic>
              <a:graphicData uri="http://schemas.microsoft.com/office/powerpoint/2016/slidezoom">
                <pslz:sldZm>
                  <pslz:sldZmObj sldId="397" cId="2174175220">
                    <pslz:zmPr id="{CF2340BB-5028-412B-819F-AC3AE0EFE180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70934" cy="1524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B6197584-E5CD-750B-CCC7-F23D336A6F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9022" y="3675939"/>
                <a:ext cx="270934" cy="1524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3743B2D-2880-F765-F158-1145E4AC7F3E}"/>
              </a:ext>
            </a:extLst>
          </p:cNvPr>
          <p:cNvSpPr txBox="1"/>
          <p:nvPr/>
        </p:nvSpPr>
        <p:spPr>
          <a:xfrm rot="16200000">
            <a:off x="1598229" y="2962179"/>
            <a:ext cx="461665" cy="15799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ZA" b="1" dirty="0"/>
              <a:t>(pseudocode )</a:t>
            </a:r>
          </a:p>
        </p:txBody>
      </p:sp>
    </p:spTree>
    <p:extLst>
      <p:ext uri="{BB962C8B-B14F-4D97-AF65-F5344CB8AC3E}">
        <p14:creationId xmlns:p14="http://schemas.microsoft.com/office/powerpoint/2010/main" val="1313451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7D628-B269-6E06-4B7D-EA5BDCF17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31" y="129838"/>
            <a:ext cx="8436071" cy="28729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B94578-0EAA-5101-F48A-F3F819619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031" y="3146738"/>
            <a:ext cx="8436071" cy="3711262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9" name="Slide Zoom 8">
                <a:extLst>
                  <a:ext uri="{FF2B5EF4-FFF2-40B4-BE49-F238E27FC236}">
                    <a16:creationId xmlns:a16="http://schemas.microsoft.com/office/drawing/2014/main" id="{56086EF6-CBC5-3F0A-94AA-474AF6CA46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794044" y="6112212"/>
              <a:ext cx="1095022" cy="615950"/>
            </p:xfrm>
            <a:graphic>
              <a:graphicData uri="http://schemas.microsoft.com/office/powerpoint/2016/slidezoom">
                <pslz:sldZm>
                  <pslz:sldZmObj sldId="400" cId="2865852878">
                    <pslz:zmPr id="{F8F85479-E28A-4E8F-A06F-6F4208DD3508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95022" cy="61595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9" name="Slide Zoom 8">
                <a:extLst>
                  <a:ext uri="{FF2B5EF4-FFF2-40B4-BE49-F238E27FC236}">
                    <a16:creationId xmlns:a16="http://schemas.microsoft.com/office/drawing/2014/main" id="{56086EF6-CBC5-3F0A-94AA-474AF6CA46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94044" y="6112212"/>
                <a:ext cx="1095022" cy="61595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7A4D71A-F3AE-975D-7DDB-3AC3683BFFF0}"/>
              </a:ext>
            </a:extLst>
          </p:cNvPr>
          <p:cNvSpPr txBox="1"/>
          <p:nvPr/>
        </p:nvSpPr>
        <p:spPr>
          <a:xfrm rot="16200000">
            <a:off x="9110722" y="5468926"/>
            <a:ext cx="461665" cy="82490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ZA" b="1" dirty="0"/>
              <a:t>C code</a:t>
            </a:r>
          </a:p>
        </p:txBody>
      </p:sp>
    </p:spTree>
    <p:extLst>
      <p:ext uri="{BB962C8B-B14F-4D97-AF65-F5344CB8AC3E}">
        <p14:creationId xmlns:p14="http://schemas.microsoft.com/office/powerpoint/2010/main" val="217417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2F70B-747C-62E3-DD04-C7CA12512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BDDD94-85A7-3AF0-352D-730B67299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" y="286539"/>
            <a:ext cx="5302313" cy="2974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0BD787-C516-F6C9-4CA8-C480A3CE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322" y="286539"/>
            <a:ext cx="5905363" cy="2974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AE18D2-0418-AD05-93DB-4423F95F6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0" y="3917244"/>
            <a:ext cx="5781151" cy="18049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4A8CF1-720F-717B-49C8-0AA53A221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304" y="3917244"/>
            <a:ext cx="5851381" cy="276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52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C3B6-9B2A-455E-6C2E-D87BC178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98184A4F-B40C-626D-89C1-7D3651F43B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98184A4F-B40C-626D-89C1-7D3651F43B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68930938-731A-2185-8445-1A4B52E80C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1C635-E1C9-7EDC-AA09-CFB6A69857CF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601BAB-B021-1E9F-96D7-7AC47B6EBCB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BFD8FD-A972-5C01-18A6-24382322BD11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CEBAF6-2DF3-5114-7755-703638A82C31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EAF6407C-4260-3026-B442-E055400DF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B59717D-B229-DBF1-C8BD-0F86A3337E67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0677D99-DE79-1BEC-A6F3-B69519485289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14F3C24-1354-2B41-1C6D-60D93F296460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COUNTER CONTROLLED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VS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SENTINEL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D9107-66ED-FCAA-54AC-6B035E48DEA0}"/>
              </a:ext>
            </a:extLst>
          </p:cNvPr>
          <p:cNvSpPr/>
          <p:nvPr/>
        </p:nvSpPr>
        <p:spPr>
          <a:xfrm>
            <a:off x="1854535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The number of repetitions is known before the loop begins executing. (controlled variable =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counter</a:t>
            </a:r>
            <a:r>
              <a:rPr lang="en-ZA" sz="2000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65472D-4D9A-539B-FBEE-2F459B2B2DFE}"/>
              </a:ext>
            </a:extLst>
          </p:cNvPr>
          <p:cNvSpPr/>
          <p:nvPr/>
        </p:nvSpPr>
        <p:spPr>
          <a:xfrm>
            <a:off x="5881473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1EBD5-7C09-ED8A-A845-FC5242710138}"/>
              </a:ext>
            </a:extLst>
          </p:cNvPr>
          <p:cNvSpPr txBox="1"/>
          <p:nvPr/>
        </p:nvSpPr>
        <p:spPr>
          <a:xfrm>
            <a:off x="2108551" y="2113157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COUNTER-CONTROLLED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0E8D7A-BC1F-BA8D-B882-CC3FB51155BB}"/>
              </a:ext>
            </a:extLst>
          </p:cNvPr>
          <p:cNvSpPr txBox="1"/>
          <p:nvPr/>
        </p:nvSpPr>
        <p:spPr>
          <a:xfrm>
            <a:off x="6145269" y="3424779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SENTINEL-CONTROLLED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DD831607-7B58-7DAD-D12D-C3753575E9C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4534" y="3699618"/>
              <a:ext cx="3860875" cy="2171742"/>
            </p:xfrm>
            <a:graphic>
              <a:graphicData uri="http://schemas.microsoft.com/office/powerpoint/2016/slidezoom">
                <pslz:sldZm>
                  <pslz:sldZmObj sldId="395" cId="1313451432">
                    <pslz:zmPr id="{0FE4BEF1-9D6D-438C-B114-CBD16397E80E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60875" cy="217174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DD831607-7B58-7DAD-D12D-C3753575E9C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54534" y="3699618"/>
                <a:ext cx="3860875" cy="217174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710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F9982-AC80-FBE6-1983-EFBEA644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5780CF80-662D-6F8D-F6C7-EE8611715C3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5780CF80-662D-6F8D-F6C7-EE8611715C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67839586-147C-78C4-F9A8-A761358A11A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CF17C8-C465-9D2C-CFD7-C00D81F6DF6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CA660-71F2-1A6D-4D51-19C277AC7A7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C62D571-C172-1A58-2100-BDB16B69668C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6F4AED7-1F19-6B40-45A2-BA330A5B473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D8E71D0C-554B-E6E4-0F54-BDE045B38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02F3AC-F54A-980B-7472-F3380D7EC351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5B92A4F-109B-7E1F-07CF-63A09A7B7A80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0B82AC-6086-C913-A69A-F260335B5376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COUNTER CONTROLLED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VS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SENTINEL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8FA2DE-9372-001E-D8F1-EFFC98E60524}"/>
              </a:ext>
            </a:extLst>
          </p:cNvPr>
          <p:cNvSpPr/>
          <p:nvPr/>
        </p:nvSpPr>
        <p:spPr>
          <a:xfrm>
            <a:off x="1854535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The number of repetitions is known before the loop begins executing. (controlled variable =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counter</a:t>
            </a:r>
            <a:r>
              <a:rPr lang="en-ZA" sz="2000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FEEF19-71C0-81C6-E5CD-25E79C900094}"/>
              </a:ext>
            </a:extLst>
          </p:cNvPr>
          <p:cNvSpPr/>
          <p:nvPr/>
        </p:nvSpPr>
        <p:spPr>
          <a:xfrm>
            <a:off x="5881473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The number of repetitions is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NOT</a:t>
            </a:r>
            <a:r>
              <a:rPr lang="en-ZA" sz="2000" dirty="0">
                <a:latin typeface="LM Roman 12" panose="00000500000000000000" pitchFamily="50" charset="0"/>
              </a:rPr>
              <a:t> known before the loop begins executing. (controlled variable used =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sentinel</a:t>
            </a:r>
            <a:r>
              <a:rPr lang="en-ZA" sz="2000" dirty="0">
                <a:latin typeface="LM Roman 12" panose="00000500000000000000" pitchFamily="50" charset="0"/>
              </a:rPr>
              <a:t> variable)</a:t>
            </a:r>
          </a:p>
          <a:p>
            <a:pPr algn="ctr"/>
            <a:endParaRPr lang="en-Z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0420CF-7763-68BB-4792-88A94D56A959}"/>
              </a:ext>
            </a:extLst>
          </p:cNvPr>
          <p:cNvSpPr txBox="1"/>
          <p:nvPr/>
        </p:nvSpPr>
        <p:spPr>
          <a:xfrm>
            <a:off x="2108551" y="2113157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COUNTER-CONTROLLED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AC9E1-42CF-B4D8-F1C1-3342002C7A76}"/>
              </a:ext>
            </a:extLst>
          </p:cNvPr>
          <p:cNvSpPr txBox="1"/>
          <p:nvPr/>
        </p:nvSpPr>
        <p:spPr>
          <a:xfrm>
            <a:off x="6096000" y="2113157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SENTINEL-CONTROLLED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A25AF496-29A4-0345-E78F-A9822BB1E1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4534" y="3699618"/>
              <a:ext cx="3860875" cy="2171742"/>
            </p:xfrm>
            <a:graphic>
              <a:graphicData uri="http://schemas.microsoft.com/office/powerpoint/2016/slidezoom">
                <pslz:sldZm>
                  <pslz:sldZmObj sldId="395" cId="1313451432">
                    <pslz:zmPr id="{0FE4BEF1-9D6D-438C-B114-CBD16397E80E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60875" cy="217174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A25AF496-29A4-0345-E78F-A9822BB1E1B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54534" y="3699618"/>
                <a:ext cx="3860875" cy="2171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2098E15E-2D69-51FE-AEA0-AFA6BF745F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26667" y="3434321"/>
              <a:ext cx="3680177" cy="2183641"/>
            </p:xfrm>
            <a:graphic>
              <a:graphicData uri="http://schemas.microsoft.com/office/powerpoint/2016/slidezoom">
                <pslz:sldZm>
                  <pslz:sldZmObj sldId="401" cId="4111621078">
                    <pslz:zmPr id="{54CAD190-8324-40B4-9B1C-3BA7129FF398}" returnToParent="0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680177" cy="218364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2098E15E-2D69-51FE-AEA0-AFA6BF745F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26667" y="3434321"/>
                <a:ext cx="3680177" cy="21836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3657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77428-2EF9-0599-8A37-C41D9768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11CA1F-5C0D-AF4C-DD54-91B54ED7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203"/>
            <a:ext cx="12192000" cy="1708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DBD725-56D3-1A9B-C101-03ACF4AF1AA6}"/>
              </a:ext>
            </a:extLst>
          </p:cNvPr>
          <p:cNvSpPr txBox="1"/>
          <p:nvPr/>
        </p:nvSpPr>
        <p:spPr>
          <a:xfrm rot="16200000">
            <a:off x="6655128" y="2736402"/>
            <a:ext cx="461665" cy="157992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ZA" b="1" dirty="0"/>
              <a:t>(pseudocode )</a:t>
            </a:r>
          </a:p>
        </p:txBody>
      </p:sp>
      <p:pic>
        <p:nvPicPr>
          <p:cNvPr id="10" name="Picture 9" descr="Matrix Sentinels Attack on Make a GIF">
            <a:extLst>
              <a:ext uri="{FF2B5EF4-FFF2-40B4-BE49-F238E27FC236}">
                <a16:creationId xmlns:a16="http://schemas.microsoft.com/office/drawing/2014/main" id="{110C3101-3408-C459-ABEE-603401443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003" y="4087520"/>
            <a:ext cx="3883640" cy="1602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D54CD3-4B89-129B-AC53-819DED1E44EF}"/>
              </a:ext>
            </a:extLst>
          </p:cNvPr>
          <p:cNvSpPr txBox="1"/>
          <p:nvPr/>
        </p:nvSpPr>
        <p:spPr>
          <a:xfrm rot="16200000">
            <a:off x="5706991" y="4314120"/>
            <a:ext cx="461665" cy="3212482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ZA" b="1" dirty="0"/>
              <a:t>(oh no, sentinels are coming! )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E1784795-9472-DDBB-A18A-9AAA4FE5005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89334" y="3326573"/>
              <a:ext cx="656028" cy="369016"/>
            </p:xfrm>
            <a:graphic>
              <a:graphicData uri="http://schemas.microsoft.com/office/powerpoint/2016/slidezoom">
                <pslz:sldZm>
                  <pslz:sldZmObj sldId="402" cId="4175109167">
                    <pslz:zmPr id="{D61D873F-A373-4F26-94A1-E353A8B32B6D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656028" cy="36901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extLst>
                  <a:ext uri="{FF2B5EF4-FFF2-40B4-BE49-F238E27FC236}">
                    <a16:creationId xmlns:a16="http://schemas.microsoft.com/office/drawing/2014/main" id="{E1784795-9472-DDBB-A18A-9AAA4FE5005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89334" y="3326573"/>
                <a:ext cx="656028" cy="36901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1621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6D0DB-C2F6-D4B8-AAEC-ABB73820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834883-8A83-7FFC-835D-7B2F321B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786" y="83987"/>
            <a:ext cx="7168104" cy="243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93144E-945F-0511-C643-EE876F11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786" y="2580212"/>
            <a:ext cx="7168104" cy="4157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521340-7909-C2AB-492E-19AF021C0C80}"/>
              </a:ext>
            </a:extLst>
          </p:cNvPr>
          <p:cNvSpPr txBox="1"/>
          <p:nvPr/>
        </p:nvSpPr>
        <p:spPr>
          <a:xfrm rot="16200000">
            <a:off x="8500718" y="5116278"/>
            <a:ext cx="461665" cy="824906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ZA" b="1" dirty="0"/>
              <a:t>C code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EE1B3DB1-6FB4-D378-9E09-82B468ADDE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785491" y="5759564"/>
              <a:ext cx="1358513" cy="764164"/>
            </p:xfrm>
            <a:graphic>
              <a:graphicData uri="http://schemas.microsoft.com/office/powerpoint/2016/slidezoom">
                <pslz:sldZm>
                  <pslz:sldZmObj sldId="403" cId="439411162">
                    <pslz:zmPr id="{49D3E89C-AFF7-4C1C-8B33-59CE8A257DEF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58513" cy="76416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EE1B3DB1-6FB4-D378-9E09-82B468ADDEA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85491" y="5759564"/>
                <a:ext cx="1358513" cy="76416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13" name="Picture 12" descr="If you zoom into the lower right portion,You can see unknown person(head)  being grabbed by machines. : r/matrix">
            <a:extLst>
              <a:ext uri="{FF2B5EF4-FFF2-40B4-BE49-F238E27FC236}">
                <a16:creationId xmlns:a16="http://schemas.microsoft.com/office/drawing/2014/main" id="{AA257F05-A385-1685-C211-BEC28DCF3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680" y="2698799"/>
            <a:ext cx="2730853" cy="15366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DBAAFB-4467-85E9-4AFA-E1E2731530F5}"/>
              </a:ext>
            </a:extLst>
          </p:cNvPr>
          <p:cNvSpPr txBox="1"/>
          <p:nvPr/>
        </p:nvSpPr>
        <p:spPr>
          <a:xfrm rot="16200000">
            <a:off x="10321774" y="3197832"/>
            <a:ext cx="738664" cy="287194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en-ZA" b="1" dirty="0"/>
              <a:t>(oh yes, killed one sentinel</a:t>
            </a:r>
          </a:p>
          <a:p>
            <a:pPr algn="ctr"/>
            <a:r>
              <a:rPr lang="en-ZA" b="1" dirty="0"/>
              <a:t>Let’s </a:t>
            </a:r>
            <a:r>
              <a:rPr lang="en-ZA" b="1" dirty="0" err="1"/>
              <a:t>gooooo</a:t>
            </a:r>
            <a:r>
              <a:rPr lang="en-ZA" b="1" dirty="0"/>
              <a:t>! )</a:t>
            </a:r>
          </a:p>
        </p:txBody>
      </p:sp>
    </p:spTree>
    <p:extLst>
      <p:ext uri="{BB962C8B-B14F-4D97-AF65-F5344CB8AC3E}">
        <p14:creationId xmlns:p14="http://schemas.microsoft.com/office/powerpoint/2010/main" val="4175109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6409-3FBA-FFB9-F767-0119EBE1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F2FE27-D349-8AFA-B50A-A09419F4B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" y="178188"/>
            <a:ext cx="6036797" cy="2851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A718B2-F6BC-F2EA-67FD-2AA165E85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04" y="178189"/>
            <a:ext cx="5862549" cy="35090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822248-4238-97A3-2FA2-E89CB7E61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47215"/>
            <a:ext cx="6141915" cy="31237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3C639E-6E8D-F147-2129-59113840AC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831" y="3872089"/>
            <a:ext cx="5862549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11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F0037-5536-03BC-DC93-6690AF41F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D1550DBF-8D67-24AC-1B2B-EF0223401D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D1550DBF-8D67-24AC-1B2B-EF0223401D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B92E5090-9EED-AA38-EF91-3FDA5A49247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0F01C9-AAB3-77AA-F87A-F6ECBC0076F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20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15723E-3170-23C8-003F-EFCD0289E01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41348E-2391-74C3-DCAF-62876B92117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E78116-1609-5A58-CF7A-678DA9DEAF0F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ABB5729C-FA62-A847-EAD9-71A86A816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98AEAC8-FA56-D498-C610-3D8EF8763A3D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BCDD443-6DF6-C6C5-6ACE-B19BF6F9CBDB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DE5AFA-92D2-6D35-8321-853CF367C48F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COUNTER CONTROLLED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VS</a:t>
            </a: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 SENTINEL </a:t>
            </a:r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REPETITION 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BF39EB-76F0-6A04-F6DE-C5D5D4B945A9}"/>
              </a:ext>
            </a:extLst>
          </p:cNvPr>
          <p:cNvSpPr/>
          <p:nvPr/>
        </p:nvSpPr>
        <p:spPr>
          <a:xfrm>
            <a:off x="1854535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The number of repetitions is known before the loop begins executing. (controlled variable =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counter</a:t>
            </a:r>
            <a:r>
              <a:rPr lang="en-ZA" sz="2000" dirty="0">
                <a:latin typeface="LM Roman 12" panose="00000500000000000000" pitchFamily="50" charset="0"/>
              </a:rPr>
              <a:t>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4DB2B4-4759-6885-DDD7-CEE0F609996C}"/>
              </a:ext>
            </a:extLst>
          </p:cNvPr>
          <p:cNvSpPr/>
          <p:nvPr/>
        </p:nvSpPr>
        <p:spPr>
          <a:xfrm>
            <a:off x="5881473" y="1901040"/>
            <a:ext cx="3860875" cy="34800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000" dirty="0">
                <a:latin typeface="LM Roman 12" panose="00000500000000000000" pitchFamily="50" charset="0"/>
              </a:rPr>
              <a:t>The number of repetitions is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NOT</a:t>
            </a:r>
            <a:r>
              <a:rPr lang="en-ZA" sz="2000" dirty="0">
                <a:latin typeface="LM Roman 12" panose="00000500000000000000" pitchFamily="50" charset="0"/>
              </a:rPr>
              <a:t> known before the loop begins executing. (controlled variable used = </a:t>
            </a:r>
            <a:r>
              <a:rPr lang="en-ZA" sz="2000" dirty="0">
                <a:solidFill>
                  <a:srgbClr val="FFFF00"/>
                </a:solidFill>
                <a:latin typeface="LM Roman 12" panose="00000500000000000000" pitchFamily="50" charset="0"/>
              </a:rPr>
              <a:t>sentinel</a:t>
            </a:r>
            <a:r>
              <a:rPr lang="en-ZA" sz="2000" dirty="0">
                <a:latin typeface="LM Roman 12" panose="00000500000000000000" pitchFamily="50" charset="0"/>
              </a:rPr>
              <a:t> variable)</a:t>
            </a:r>
          </a:p>
          <a:p>
            <a:pPr algn="ctr"/>
            <a:endParaRPr lang="en-ZA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F16D55-CE5E-8198-94D5-7478EA402A27}"/>
              </a:ext>
            </a:extLst>
          </p:cNvPr>
          <p:cNvSpPr txBox="1"/>
          <p:nvPr/>
        </p:nvSpPr>
        <p:spPr>
          <a:xfrm>
            <a:off x="2108551" y="2113157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COUNTER-CONTROLLED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93367-D477-0E10-152D-06308F4A9A76}"/>
              </a:ext>
            </a:extLst>
          </p:cNvPr>
          <p:cNvSpPr txBox="1"/>
          <p:nvPr/>
        </p:nvSpPr>
        <p:spPr>
          <a:xfrm>
            <a:off x="6096000" y="2113157"/>
            <a:ext cx="3352842" cy="369332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  <a:latin typeface="LM Roman 12" panose="00000500000000000000" pitchFamily="50" charset="0"/>
              </a:rPr>
              <a:t>SENTINEL-CONTROLLED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9A92C0B7-7944-2B18-8D78-07A43030333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54534" y="3699618"/>
              <a:ext cx="3860875" cy="2171742"/>
            </p:xfrm>
            <a:graphic>
              <a:graphicData uri="http://schemas.microsoft.com/office/powerpoint/2016/slidezoom">
                <pslz:sldZm>
                  <pslz:sldZmObj sldId="395" cId="1313451432">
                    <pslz:zmPr id="{0FE4BEF1-9D6D-438C-B114-CBD16397E80E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60875" cy="217174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Slide Zoom 2">
                <a:extLst>
                  <a:ext uri="{FF2B5EF4-FFF2-40B4-BE49-F238E27FC236}">
                    <a16:creationId xmlns:a16="http://schemas.microsoft.com/office/drawing/2014/main" id="{9A92C0B7-7944-2B18-8D78-07A4303033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54534" y="3699618"/>
                <a:ext cx="3860875" cy="21717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EE764FE1-3E55-627F-7251-3D9258A0FC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926667" y="3653467"/>
              <a:ext cx="3815681" cy="2264043"/>
            </p:xfrm>
            <a:graphic>
              <a:graphicData uri="http://schemas.microsoft.com/office/powerpoint/2016/slidezoom">
                <pslz:sldZm>
                  <pslz:sldZmObj sldId="401" cId="4111621078">
                    <pslz:zmPr id="{54CAD190-8324-40B4-9B1C-3BA7129FF398}" returnToParent="0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15681" cy="226404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EE764FE1-3E55-627F-7251-3D9258A0FC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26667" y="3653467"/>
                <a:ext cx="3815681" cy="22640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9160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9B75-CBC9-1546-8DA7-BA8599252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Object 39" hidden="1">
            <a:extLst>
              <a:ext uri="{FF2B5EF4-FFF2-40B4-BE49-F238E27FC236}">
                <a16:creationId xmlns:a16="http://schemas.microsoft.com/office/drawing/2014/main" id="{988DA316-5E24-8205-42BE-83345E3B6D4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51" imgH="450" progId="TCLayout.ActiveDocument.1">
                  <p:embed/>
                </p:oleObj>
              </mc:Choice>
              <mc:Fallback>
                <p:oleObj name="think-cell Slide" r:id="rId5" imgW="451" imgH="450" progId="TCLayout.ActiveDocument.1">
                  <p:embed/>
                  <p:pic>
                    <p:nvPicPr>
                      <p:cNvPr id="40" name="Object 39" hidden="1">
                        <a:extLst>
                          <a:ext uri="{FF2B5EF4-FFF2-40B4-BE49-F238E27FC236}">
                            <a16:creationId xmlns:a16="http://schemas.microsoft.com/office/drawing/2014/main" id="{988DA316-5E24-8205-42BE-83345E3B6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 hidden="1">
            <a:extLst>
              <a:ext uri="{FF2B5EF4-FFF2-40B4-BE49-F238E27FC236}">
                <a16:creationId xmlns:a16="http://schemas.microsoft.com/office/drawing/2014/main" id="{EC3F4AA6-3334-C5EA-E725-25FC721C06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Black" panose="020B0A02040204020203" pitchFamily="34" charset="0"/>
              <a:ea typeface="+mn-ea"/>
              <a:cs typeface="+mn-cs"/>
              <a:sym typeface="Segoe UI Black" panose="020B0A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2FE169-7269-E32D-DF3C-5A27007967D1}"/>
              </a:ext>
            </a:extLst>
          </p:cNvPr>
          <p:cNvSpPr/>
          <p:nvPr/>
        </p:nvSpPr>
        <p:spPr>
          <a:xfrm>
            <a:off x="9174480" y="6505915"/>
            <a:ext cx="3040159" cy="35208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457200">
              <a:defRPr/>
            </a:pPr>
            <a:r>
              <a:rPr lang="en-ZA" dirty="0">
                <a:solidFill>
                  <a:prstClr val="white"/>
                </a:solidFill>
                <a:latin typeface="LM Roman 12" panose="00000500000000000000" pitchFamily="50" charset="0"/>
              </a:rPr>
              <a:t>Chapter 3 	pg. 19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5EF29B6-77FE-4FC7-FDF3-E74DB19A853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965395-A67E-C41D-3CDA-10442932492F}"/>
                </a:ext>
              </a:extLst>
            </p:cNvPr>
            <p:cNvSpPr txBox="1"/>
            <p:nvPr/>
          </p:nvSpPr>
          <p:spPr>
            <a:xfrm>
              <a:off x="0" y="0"/>
              <a:ext cx="12192000" cy="914400"/>
            </a:xfrm>
            <a:prstGeom prst="rect">
              <a:avLst/>
            </a:prstGeom>
            <a:solidFill>
              <a:srgbClr val="92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B7E913B-9CA2-CBBA-174B-0BF5343E305D}"/>
                </a:ext>
              </a:extLst>
            </p:cNvPr>
            <p:cNvSpPr txBox="1"/>
            <p:nvPr/>
          </p:nvSpPr>
          <p:spPr>
            <a:xfrm>
              <a:off x="3965424" y="0"/>
              <a:ext cx="62743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SU FACULTY of ENGINEERING</a:t>
              </a:r>
            </a:p>
          </p:txBody>
        </p:sp>
        <p:pic>
          <p:nvPicPr>
            <p:cNvPr id="27" name="Picture 26" descr="Stellenbosch_University_new_logo_slogan_for-web-02 | SMF News">
              <a:extLst>
                <a:ext uri="{FF2B5EF4-FFF2-40B4-BE49-F238E27FC236}">
                  <a16:creationId xmlns:a16="http://schemas.microsoft.com/office/drawing/2014/main" id="{6EDE29CC-1DF0-9706-83D7-A72E03B3A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2513" y="0"/>
              <a:ext cx="1029971" cy="12456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6F62A8C-F7E1-9BE6-FC56-4926555A35D0}"/>
                </a:ext>
              </a:extLst>
            </p:cNvPr>
            <p:cNvSpPr txBox="1"/>
            <p:nvPr/>
          </p:nvSpPr>
          <p:spPr>
            <a:xfrm>
              <a:off x="2488042" y="184666"/>
              <a:ext cx="6856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Computer Programming 143 lectures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| 27 July </a:t>
              </a:r>
              <a:r>
                <a:rPr kumimoji="0" lang="en-ZA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adley Hand ITC" panose="03070402050302030203" pitchFamily="66" charset="0"/>
                  <a:ea typeface="+mn-ea"/>
                  <a:cs typeface="+mn-cs"/>
                </a:rPr>
                <a:t>2026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25AAE149-D5A5-FEC8-388C-74F0060FEA3F}"/>
              </a:ext>
            </a:extLst>
          </p:cNvPr>
          <p:cNvSpPr/>
          <p:nvPr/>
        </p:nvSpPr>
        <p:spPr>
          <a:xfrm>
            <a:off x="1635161" y="986640"/>
            <a:ext cx="5075043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0F028D-563E-33C7-66C8-FFDDF283E782}"/>
              </a:ext>
            </a:extLst>
          </p:cNvPr>
          <p:cNvSpPr/>
          <p:nvPr/>
        </p:nvSpPr>
        <p:spPr>
          <a:xfrm>
            <a:off x="2579288" y="584145"/>
            <a:ext cx="6856364" cy="3094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ZA" dirty="0">
                <a:solidFill>
                  <a:srgbClr val="FFFF00"/>
                </a:solidFill>
                <a:latin typeface="LM Roman 12" panose="00000500000000000000" pitchFamily="50" charset="0"/>
              </a:rPr>
              <a:t>FLOATING POINT NUMBERS I </a:t>
            </a:r>
            <a:r>
              <a:rPr lang="en-ZA" dirty="0">
                <a:solidFill>
                  <a:schemeClr val="accent1"/>
                </a:solidFill>
                <a:latin typeface="LM Roman 12" panose="00000500000000000000" pitchFamily="50" charset="0"/>
              </a:rPr>
              <a:t>(float)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295DF1-D653-0C00-B05D-E18F83C56FE3}"/>
              </a:ext>
            </a:extLst>
          </p:cNvPr>
          <p:cNvSpPr/>
          <p:nvPr/>
        </p:nvSpPr>
        <p:spPr>
          <a:xfrm>
            <a:off x="7413968" y="1548235"/>
            <a:ext cx="4568482" cy="413819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Describes real numbers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Declaration:</a:t>
            </a:r>
          </a:p>
          <a:p>
            <a:pPr algn="ctr"/>
            <a:r>
              <a:rPr lang="en-US" sz="2000" dirty="0">
                <a:solidFill>
                  <a:schemeClr val="accent1"/>
                </a:solidFill>
                <a:latin typeface="LM Roman 12" panose="00000500000000000000" pitchFamily="50" charset="0"/>
              </a:rPr>
              <a:t>float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 average;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FFFF00"/>
                </a:solidFill>
                <a:latin typeface="LM Roman 12" panose="00000500000000000000" pitchFamily="50" charset="0"/>
              </a:rPr>
              <a:t>Casting</a:t>
            </a:r>
            <a:r>
              <a:rPr lang="en-US" sz="2000" dirty="0">
                <a:solidFill>
                  <a:schemeClr val="bg1"/>
                </a:solidFill>
                <a:latin typeface="LM Roman 12" panose="00000500000000000000" pitchFamily="50" charset="0"/>
              </a:rPr>
              <a:t>: The conversion from one data type to another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1DC4F-D460-C4B1-70E2-7D2FDF5605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" y="2529594"/>
            <a:ext cx="7142362" cy="197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667036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_UMMg5grj63tBYhCaqbl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110</Paragraphs>
  <Slides>16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Display</vt:lpstr>
      <vt:lpstr>Arial</vt:lpstr>
      <vt:lpstr>Bradley Hand ITC</vt:lpstr>
      <vt:lpstr>Calibri</vt:lpstr>
      <vt:lpstr>LM Roman 12</vt:lpstr>
      <vt:lpstr>Segoe UI Black</vt:lpstr>
      <vt:lpstr>Wingdings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2026-08-23T20:06:47Z</dcterms:created>
  <dcterms:modified xsi:type="dcterms:W3CDTF">2026-08-23T20:07:10Z</dcterms:modified>
</cp:coreProperties>
</file>