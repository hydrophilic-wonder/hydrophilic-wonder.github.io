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7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8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9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10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11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487" r:id="rId2"/>
    <p:sldId id="488" r:id="rId3"/>
    <p:sldId id="491" r:id="rId4"/>
    <p:sldId id="490" r:id="rId5"/>
    <p:sldId id="492" r:id="rId6"/>
    <p:sldId id="493" r:id="rId7"/>
    <p:sldId id="494" r:id="rId8"/>
    <p:sldId id="495" r:id="rId9"/>
    <p:sldId id="496" r:id="rId10"/>
    <p:sldId id="497" r:id="rId11"/>
    <p:sldId id="498" r:id="rId12"/>
    <p:sldId id="501" r:id="rId13"/>
    <p:sldId id="502" r:id="rId14"/>
    <p:sldId id="50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ABC257-0E2C-448F-91D3-FAFAF6BD21E4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046035-73B0-4987-A779-9795E310877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28346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CDEBB-30E1-B446-7A2E-E956C0644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033B6C-3049-6F03-FE47-8159E3F37B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A3CFD7-D500-80DE-DE73-9BB54A55CD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C8B91-E50D-E61B-E435-58E9D4DBDA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373727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B6306-C384-49F6-6BE7-952CD27FA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8E311E-ABAF-CCC8-C45B-E2E2EFCDCE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23352A-C9FA-555A-34A2-2212E25D4C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A1A4B2-4130-71D3-E138-59ED674187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03841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429E9-3666-7B63-2CFD-5725912AD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6E4B1C-3132-10C3-4B90-0A074FA72F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80D331-2CD3-B73F-93BB-D18BBC17CA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CFACCA-3472-A523-34EC-76CEC0FD11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91314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0CC57-3669-0BBD-F213-8E876184E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733E18-15B3-3AC5-6895-E55F901C5F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63BF3E-4E5D-7B3C-1A3A-723CCF15F7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CEEA20-979F-A9E5-150E-0FC897F8B2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83101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93A05-2CF1-5550-01CA-C96A92159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03C8D1-99CE-0333-6E0D-628626BD23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85DF2B-D313-6263-027D-478907C81C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0D9EBD-24F4-80B6-E8E1-BB09A0E287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33409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5A0FF-035A-34E9-15A2-C981C77B6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FEB02B-FBD4-DC9C-F4D2-F516CF14B7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6E05D6-3B39-C890-DABA-8113FCF917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5B2771-3699-0B9C-9AF5-0599AAECC9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7060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862C0-1DE2-A6F9-CBCD-110D38A1B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5983E9-A003-B26F-5705-A9985B8531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377AFB-5155-5D2C-8ED6-2C05254A95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3F1CBC-C278-D2A5-0F59-352A446BAD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71675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4854E-9219-F56F-8BB4-0A8EF28E0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A7557E-EF92-A2D2-B085-0BE0E9101E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B9F9DE-35F4-3B20-430A-24C030D1AB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A90E5F-54D2-7E87-2A93-775E41CB16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81871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A0072-5851-AD36-55CC-C78CC61BE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447F14-D183-3985-B177-1BED16C63D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C0D173-1B73-5CED-33AB-8C8B65B931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A5406E-7E24-BD03-E666-504510AF82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21963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40A70-5BDF-7E7F-E453-61895E26C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C1F5B8-DA7E-1CD8-EBD5-B046E0B86A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35763C-B313-5CA2-20A9-9AA8049A3A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79D39-D9D2-1B4E-E75D-CF51351264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70703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DCC18-6A3C-2BAC-624F-E6BE08163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6C06D7-2B24-1E3F-50CA-089D209989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524577-6E5D-F6F6-46B9-D58552D102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65CC54-8A72-6264-3BAA-F52A387BC7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86614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320D4-611F-1402-A84B-C4ED4B896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CC7EDF-9ECD-C160-B803-116AFD4736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0988DD-2FD7-E66F-C99F-ADA754B3F8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D4EBD-1D19-F908-9993-2E94BE1819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2361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2B9BE-E26E-DD18-62CB-9716E528A9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6FB4D5-3E92-4AE5-EC1E-35332B9F78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7F495-EB96-92CD-E306-B0D1D13F9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A9365-FA68-4A98-A7F3-650A08FC6265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27E90-5DFF-D499-EFA9-F20B2D0F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AA31C-63F4-1E22-E8E9-6D05BA118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40F29-2B4C-4AD0-85DA-B028AE8DAD0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76517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12296-59C9-2252-F3E8-ED372DB1C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930F7-10D2-7E5A-ED7E-BE9EAB5394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135E2-E50C-F7FF-DDDE-DFF1A716A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A9365-FA68-4A98-A7F3-650A08FC6265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B86B6-DD83-F3A8-672C-5ADD8F48F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3731E4-3161-9F89-907A-450397422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40F29-2B4C-4AD0-85DA-B028AE8DAD0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82604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FB47C-BD07-61A5-1E23-B4537513D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67FCDE-4217-BDC3-46C3-57881600D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17BDC-4B19-8303-C34A-45246CC62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A9365-FA68-4A98-A7F3-650A08FC6265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2A9DF3-CCF9-1ACC-CA3E-31AE6B2C8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970F9-ABAF-F6C3-E75E-5DE3358B5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40F29-2B4C-4AD0-85DA-B028AE8DAD0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8097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42336-A590-26DB-576A-716B5B71B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61569-5F87-601F-9395-201ADB17E4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B10091-6C1D-AA84-6DF5-B3CAE6DFC6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1C0A7C-BE30-134D-81E8-AFDE5E10F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A9365-FA68-4A98-A7F3-650A08FC6265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90D89-37B1-926B-2A93-FF3A7E071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EDFBB9-FD6E-8322-19A6-ABB25E20D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40F29-2B4C-4AD0-85DA-B028AE8DAD0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75911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D8CBF-61FE-3779-D088-3A38948D9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E602A6-BC2F-8002-8E0D-1D009429AF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C6D8C9-2B6A-B8CD-30D3-54CBC81654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453C0E-FA2A-EE87-96A7-AB9777BDE9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9AF72C-8838-1280-4124-B87780BFF3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FDEF38-B0BF-73C5-7183-988B2845D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A9365-FA68-4A98-A7F3-650A08FC6265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197BD8-0833-7746-EB4C-F9DB49902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4C3CB8-C306-2324-5CB9-BCDC293B9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40F29-2B4C-4AD0-85DA-B028AE8DAD0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81886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3EC79-604D-FAE8-84D7-F2CFDBF2F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8EA16B-D3A4-A5C2-7A6F-02DE30959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A9365-FA68-4A98-A7F3-650A08FC6265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3F3A5D-57CA-B8BF-6692-50A037D40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EC9C6-031A-7A6C-2E41-DF598919C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40F29-2B4C-4AD0-85DA-B028AE8DAD0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43524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5D76BD-175C-4E9E-A887-BC9EC203F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A9365-FA68-4A98-A7F3-650A08FC6265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AB18E0-FAD0-03DC-F9AE-1A2532907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342284-4B92-6C8F-6351-40A06542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40F29-2B4C-4AD0-85DA-B028AE8DAD0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86988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DC99F-A633-B98A-853D-80BBEDF5A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2E709-7146-024C-47F1-2D5665DE7C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2C2EBE-351B-4A94-664E-B0B20C8091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45B9C0-BEA8-03BF-F631-3536FE9C6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A9365-FA68-4A98-A7F3-650A08FC6265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E14747-30AB-FE08-C629-E33A2AADA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CFD7BD-C4F9-3DB3-7AC4-25BCFB285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40F29-2B4C-4AD0-85DA-B028AE8DAD0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54159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DF2A5-F30E-EE7A-C60A-37B4F3E66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B0E9A3-8CFF-6FFB-CA59-E4F83A7A90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DB98BA-15CC-9573-2D8C-45859888A9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468F58-9394-8194-84E7-BAB75375F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A9365-FA68-4A98-A7F3-650A08FC6265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85F74E-9E94-6649-F393-5D6F889F1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B4D795-4586-233C-2911-4330C4118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40F29-2B4C-4AD0-85DA-B028AE8DAD0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77548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69C33-201A-6F78-9F8D-FFC911959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786EE0-D719-E9E5-8DB2-61B18F8068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C3327-AD66-2769-0A2E-7DE7A7757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A9365-FA68-4A98-A7F3-650A08FC6265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E0B20-73DA-7A6B-B0BA-40F544C4E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540AC-2CA2-6789-7648-C6E4AC1C1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40F29-2B4C-4AD0-85DA-B028AE8DAD0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93508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8B7B3C-9612-57CD-A652-53019866BF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838081-F009-A2EB-AD42-3269270CF7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76638-2FED-DEF2-A301-D84A5406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A9365-FA68-4A98-A7F3-650A08FC6265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E7450-9CDB-CD73-E04F-4A6E9CB25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A8B6D1-A290-A0B5-2D68-6F623E5D7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40F29-2B4C-4AD0-85DA-B028AE8DAD0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5929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BFE404-1C38-6CEE-7214-78CBF4B24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1C432-F5EF-5F32-37E0-2C91ED10D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746D5-A4CE-C063-DEE4-E20AC6AA31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1A9365-FA68-4A98-A7F3-650A08FC6265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845E2-77AA-9E88-DB88-526DA7A5F7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0C9FB-38BE-4976-BB46-C0B48CFFAE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E40F29-2B4C-4AD0-85DA-B028AE8DAD0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06931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ilkhobo@sun.ac.z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4.xml"/><Relationship Id="rId9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10" Type="http://schemas.openxmlformats.org/officeDocument/2006/relationships/image" Target="../media/image7.png"/><Relationship Id="rId4" Type="http://schemas.openxmlformats.org/officeDocument/2006/relationships/notesSlide" Target="../notesSlides/notesSlide6.xml"/><Relationship Id="rId9" Type="http://schemas.openxmlformats.org/officeDocument/2006/relationships/image" Target="../media/image205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10" Type="http://schemas.openxmlformats.org/officeDocument/2006/relationships/image" Target="../media/image2110.png"/><Relationship Id="rId4" Type="http://schemas.openxmlformats.org/officeDocument/2006/relationships/notesSlide" Target="../notesSlides/notesSlide7.xml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8.xml"/><Relationship Id="rId9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2.xml"/><Relationship Id="rId9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048BF-FF37-93E6-CB84-905E82C3E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7E43CAA7-C835-625A-C6AD-76A885549CD9}"/>
              </a:ext>
            </a:extLst>
          </p:cNvPr>
          <p:cNvSpPr txBox="1"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920000"/>
          </a:solidFill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819D4E-BF1E-534A-866E-E55EF3203423}"/>
              </a:ext>
            </a:extLst>
          </p:cNvPr>
          <p:cNvSpPr txBox="1"/>
          <p:nvPr/>
        </p:nvSpPr>
        <p:spPr>
          <a:xfrm>
            <a:off x="210516" y="1255757"/>
            <a:ext cx="11332779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ZA" sz="8800" b="0" i="0" u="none" strike="noStrike" baseline="0" dirty="0">
                <a:latin typeface="LM Roman 12" panose="00000500000000000000" pitchFamily="50" charset="0"/>
              </a:rPr>
              <a:t>4. </a:t>
            </a:r>
            <a:r>
              <a:rPr lang="en-ZA" sz="8800" dirty="0">
                <a:latin typeface="LM Roman 12" panose="00000500000000000000" pitchFamily="50" charset="0"/>
              </a:rPr>
              <a:t>Program </a:t>
            </a:r>
          </a:p>
          <a:p>
            <a:pPr algn="l"/>
            <a:r>
              <a:rPr lang="en-ZA" sz="8800" dirty="0">
                <a:latin typeface="LM Roman 12" panose="00000500000000000000" pitchFamily="50" charset="0"/>
              </a:rPr>
              <a:t>Control III</a:t>
            </a:r>
            <a:endParaRPr lang="en-ZA" sz="4800" b="0" i="0" u="none" strike="noStrike" baseline="0" dirty="0">
              <a:latin typeface="LM Roman 12" panose="00000500000000000000" pitchFamily="50" charset="0"/>
            </a:endParaRPr>
          </a:p>
          <a:p>
            <a:r>
              <a:rPr lang="en-US" dirty="0">
                <a:latin typeface="LM Roman 12" panose="00000500000000000000" pitchFamily="50" charset="0"/>
              </a:rPr>
              <a:t>Lecture</a:t>
            </a:r>
            <a:r>
              <a:rPr lang="en-US" sz="1800" b="0" i="0" u="none" strike="noStrike" baseline="0" dirty="0">
                <a:latin typeface="LM Roman 12" panose="00000500000000000000" pitchFamily="50" charset="0"/>
              </a:rPr>
              <a:t> </a:t>
            </a:r>
            <a:r>
              <a:rPr lang="en-US" dirty="0">
                <a:latin typeface="LM Roman 12" panose="00000500000000000000" pitchFamily="50" charset="0"/>
              </a:rPr>
              <a:t>8</a:t>
            </a:r>
            <a:r>
              <a:rPr lang="en-US" sz="1800" b="0" i="0" u="none" strike="noStrike" baseline="0" dirty="0">
                <a:latin typeface="LM Roman 12" panose="00000500000000000000" pitchFamily="50" charset="0"/>
              </a:rPr>
              <a:t>| The </a:t>
            </a:r>
            <a:r>
              <a:rPr lang="en-US" sz="1800" b="0" i="0" u="none" strike="noStrike" baseline="0" dirty="0">
                <a:solidFill>
                  <a:srgbClr val="00B0F0"/>
                </a:solidFill>
                <a:latin typeface="LM Roman 12" panose="00000500000000000000" pitchFamily="50" charset="0"/>
              </a:rPr>
              <a:t>switch</a:t>
            </a:r>
            <a:r>
              <a:rPr lang="en-US" sz="1800" b="0" i="0" u="none" strike="noStrike" baseline="0" dirty="0">
                <a:latin typeface="LM Roman 12" panose="00000500000000000000" pitchFamily="50" charset="0"/>
              </a:rPr>
              <a:t> multiple-selection statement</a:t>
            </a:r>
          </a:p>
          <a:p>
            <a:r>
              <a:rPr lang="en-US" dirty="0">
                <a:latin typeface="LM Roman 12" panose="00000500000000000000" pitchFamily="50" charset="0"/>
              </a:rPr>
              <a:t>	  The </a:t>
            </a:r>
            <a:r>
              <a:rPr lang="en-US" dirty="0">
                <a:solidFill>
                  <a:srgbClr val="00B0F0"/>
                </a:solidFill>
                <a:latin typeface="LM Roman 12" panose="00000500000000000000" pitchFamily="50" charset="0"/>
              </a:rPr>
              <a:t>break</a:t>
            </a:r>
            <a:r>
              <a:rPr lang="en-US" dirty="0">
                <a:latin typeface="LM Roman 12" panose="00000500000000000000" pitchFamily="50" charset="0"/>
              </a:rPr>
              <a:t> statement</a:t>
            </a:r>
          </a:p>
          <a:p>
            <a:r>
              <a:rPr lang="en-US" dirty="0">
                <a:latin typeface="LM Roman 12" panose="00000500000000000000" pitchFamily="50" charset="0"/>
              </a:rPr>
              <a:t>	  Summary of structured programming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097EA4-183E-172C-AA6C-0E07ECC0BFF1}"/>
              </a:ext>
            </a:extLst>
          </p:cNvPr>
          <p:cNvSpPr txBox="1"/>
          <p:nvPr/>
        </p:nvSpPr>
        <p:spPr>
          <a:xfrm>
            <a:off x="322513" y="5306492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latin typeface="LM Roman 12" panose="00000500000000000000" pitchFamily="50" charset="0"/>
              </a:rPr>
              <a:t>Isaac Khobo, PhD (</a:t>
            </a:r>
            <a:r>
              <a:rPr lang="en-US" sz="1800" b="0" i="0" u="none" strike="noStrike" baseline="0" dirty="0">
                <a:latin typeface="LM Roman 12" panose="00000500000000000000" pitchFamily="50" charset="0"/>
                <a:hlinkClick r:id="rId3"/>
              </a:rPr>
              <a:t>ilkhobo@sun.ac.za</a:t>
            </a:r>
            <a:r>
              <a:rPr lang="en-US" sz="1800" b="0" i="0" u="none" strike="noStrike" baseline="0" dirty="0">
                <a:latin typeface="LM Roman 12" panose="00000500000000000000" pitchFamily="50" charset="0"/>
              </a:rPr>
              <a:t>)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F981E9B-898F-23B5-3B6F-7ED2A2A2AA30}"/>
              </a:ext>
            </a:extLst>
          </p:cNvPr>
          <p:cNvSpPr txBox="1"/>
          <p:nvPr/>
        </p:nvSpPr>
        <p:spPr>
          <a:xfrm>
            <a:off x="2690150" y="526023"/>
            <a:ext cx="5878718" cy="3693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ZA" dirty="0">
                <a:solidFill>
                  <a:schemeClr val="bg1">
                    <a:lumMod val="85000"/>
                  </a:schemeClr>
                </a:solidFill>
                <a:latin typeface="LM Roman 12" panose="00000500000000000000" pitchFamily="50" charset="0"/>
              </a:rPr>
              <a:t>A. WELCOME TO CP143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CA02540-9825-1370-9A03-92A7D5C12F56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E2889BA8-53A4-5887-7E0B-27307D925C97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3131D67-B44B-6FB3-5D47-073090DA2CF1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041B091-5DE6-6625-6387-6E965A9F130F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E4F13ECA-6370-AE65-4A8A-C02C7D52F5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8FE284D-186E-D059-0EC5-2CD454568A3A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05 August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F0269B4-53FF-4A5B-C17C-E2DDA1B65D21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PROGRAMMING IN C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E761BFDB-339E-882B-ABA7-71595588428B}"/>
              </a:ext>
            </a:extLst>
          </p:cNvPr>
          <p:cNvSpPr txBox="1"/>
          <p:nvPr/>
        </p:nvSpPr>
        <p:spPr>
          <a:xfrm>
            <a:off x="7967780" y="5856143"/>
            <a:ext cx="3118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u="sng" dirty="0">
                <a:solidFill>
                  <a:srgbClr val="C00000"/>
                </a:solidFill>
                <a:latin typeface="LM Roman 12" panose="00000500000000000000" pitchFamily="50" charset="0"/>
              </a:rPr>
              <a:t>Chapters 4 Program control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C6DFEB-66FD-9FC1-6C1E-A01DFD2DEB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7654" y="2562225"/>
            <a:ext cx="5254346" cy="3293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635710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1E283-1361-9FA5-FA01-A27820779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23AA5DE1-46BC-B204-4751-38351F11AD8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23AA5DE1-46BC-B204-4751-38351F11AD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C65819E7-7CDC-CC74-8B4E-C6288DFD341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52231A2-E603-667C-AB53-311A6B16BF83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4	pg. 52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EE32CCC-3CF3-93D6-3792-717C9ECBFFFA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9AE5150-7026-500F-5EF4-768210EAFB89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7C906BD-186A-7051-49D8-541B74E4718C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92761A9C-71CB-9D7F-759E-8BD547F9375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E8DAE43-2B4D-7461-B879-F1C334FBE44D}"/>
                </a:ext>
              </a:extLst>
            </p:cNvPr>
            <p:cNvSpPr txBox="1"/>
            <p:nvPr/>
          </p:nvSpPr>
          <p:spPr>
            <a:xfrm>
              <a:off x="2488042" y="184666"/>
              <a:ext cx="72825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05 August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C6561F12-91BA-6287-CCB5-7E91492D5B2C}"/>
              </a:ext>
            </a:extLst>
          </p:cNvPr>
          <p:cNvSpPr/>
          <p:nvPr/>
        </p:nvSpPr>
        <p:spPr>
          <a:xfrm>
            <a:off x="3329940" y="584240"/>
            <a:ext cx="6027420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00B0F0"/>
                </a:solidFill>
                <a:latin typeface="LM Roman 12" panose="00000500000000000000" pitchFamily="50" charset="0"/>
              </a:rPr>
              <a:t>switch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 multiple-selection statement I</a:t>
            </a:r>
          </a:p>
        </p:txBody>
      </p: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FDE5CBD9-BE75-5599-7089-6889EB913952}"/>
              </a:ext>
            </a:extLst>
          </p:cNvPr>
          <p:cNvGrpSpPr/>
          <p:nvPr/>
        </p:nvGrpSpPr>
        <p:grpSpPr>
          <a:xfrm>
            <a:off x="2814243" y="1126935"/>
            <a:ext cx="914400" cy="685855"/>
            <a:chOff x="2814243" y="1126935"/>
            <a:chExt cx="914400" cy="685855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06E4D971-8901-F9A5-23BA-B9BCD0C9E8C1}"/>
                </a:ext>
              </a:extLst>
            </p:cNvPr>
            <p:cNvSpPr/>
            <p:nvPr/>
          </p:nvSpPr>
          <p:spPr>
            <a:xfrm>
              <a:off x="2814243" y="1126935"/>
              <a:ext cx="914400" cy="47548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start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33F0A141-CF1D-B7B4-C488-DF470961FDAD}"/>
                </a:ext>
              </a:extLst>
            </p:cNvPr>
            <p:cNvCxnSpPr>
              <a:cxnSpLocks/>
              <a:stCxn id="3" idx="4"/>
              <a:endCxn id="7" idx="0"/>
            </p:cNvCxnSpPr>
            <p:nvPr/>
          </p:nvCxnSpPr>
          <p:spPr>
            <a:xfrm flipH="1">
              <a:off x="3265031" y="1602423"/>
              <a:ext cx="6412" cy="210367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CD186F28-71F9-A185-A6AB-7491F7F2303B}"/>
              </a:ext>
            </a:extLst>
          </p:cNvPr>
          <p:cNvGrpSpPr/>
          <p:nvPr/>
        </p:nvGrpSpPr>
        <p:grpSpPr>
          <a:xfrm>
            <a:off x="2814243" y="5383160"/>
            <a:ext cx="914400" cy="910220"/>
            <a:chOff x="2814243" y="5383160"/>
            <a:chExt cx="914400" cy="91022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5146DA0-D0A6-AD7D-DE40-2A9AEB27F19D}"/>
                </a:ext>
              </a:extLst>
            </p:cNvPr>
            <p:cNvSpPr/>
            <p:nvPr/>
          </p:nvSpPr>
          <p:spPr>
            <a:xfrm>
              <a:off x="2814243" y="5817892"/>
              <a:ext cx="914400" cy="47548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end</a:t>
              </a:r>
            </a:p>
          </p:txBody>
        </p: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9AB24C7D-6463-60E9-AE11-BD976A94D847}"/>
                </a:ext>
              </a:extLst>
            </p:cNvPr>
            <p:cNvCxnSpPr>
              <a:cxnSpLocks/>
              <a:stCxn id="82" idx="2"/>
              <a:endCxn id="5" idx="0"/>
            </p:cNvCxnSpPr>
            <p:nvPr/>
          </p:nvCxnSpPr>
          <p:spPr>
            <a:xfrm>
              <a:off x="3271443" y="5383160"/>
              <a:ext cx="0" cy="434732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285553AA-B528-77C0-21B3-DEB2B5ABB4B5}"/>
              </a:ext>
            </a:extLst>
          </p:cNvPr>
          <p:cNvGrpSpPr/>
          <p:nvPr/>
        </p:nvGrpSpPr>
        <p:grpSpPr>
          <a:xfrm>
            <a:off x="2807831" y="2127496"/>
            <a:ext cx="4729274" cy="1757604"/>
            <a:chOff x="2807831" y="2127496"/>
            <a:chExt cx="4729274" cy="1757604"/>
          </a:xfrm>
        </p:grpSpPr>
        <p:grpSp>
          <p:nvGrpSpPr>
            <p:cNvPr id="176" name="Group 175">
              <a:extLst>
                <a:ext uri="{FF2B5EF4-FFF2-40B4-BE49-F238E27FC236}">
                  <a16:creationId xmlns:a16="http://schemas.microsoft.com/office/drawing/2014/main" id="{C732B6B8-DA02-BAFE-A373-953D4F486146}"/>
                </a:ext>
              </a:extLst>
            </p:cNvPr>
            <p:cNvGrpSpPr/>
            <p:nvPr/>
          </p:nvGrpSpPr>
          <p:grpSpPr>
            <a:xfrm>
              <a:off x="2807831" y="2755405"/>
              <a:ext cx="4351014" cy="629412"/>
              <a:chOff x="1488646" y="2612399"/>
              <a:chExt cx="4351014" cy="629412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E986E58F-5EE9-C3A1-46D8-BCC42BF984B7}"/>
                  </a:ext>
                </a:extLst>
              </p:cNvPr>
              <p:cNvSpPr/>
              <p:nvPr/>
            </p:nvSpPr>
            <p:spPr>
              <a:xfrm>
                <a:off x="2993760" y="2689361"/>
                <a:ext cx="1208285" cy="47548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Do that action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1A1ED090-7DB6-4D99-5C0B-96BAA4457837}"/>
                  </a:ext>
                </a:extLst>
              </p:cNvPr>
              <p:cNvSpPr/>
              <p:nvPr/>
            </p:nvSpPr>
            <p:spPr>
              <a:xfrm>
                <a:off x="4631375" y="2673212"/>
                <a:ext cx="1208285" cy="47548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Break</a:t>
                </a:r>
              </a:p>
            </p:txBody>
          </p: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2D16810F-46E9-2595-BF33-03054F5541EA}"/>
                  </a:ext>
                </a:extLst>
              </p:cNvPr>
              <p:cNvCxnSpPr>
                <a:stCxn id="28" idx="3"/>
                <a:endCxn id="31" idx="1"/>
              </p:cNvCxnSpPr>
              <p:nvPr/>
            </p:nvCxnSpPr>
            <p:spPr>
              <a:xfrm>
                <a:off x="2403046" y="2927105"/>
                <a:ext cx="590714" cy="0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89416AE4-A12B-BF80-153B-748A5361A5DD}"/>
                  </a:ext>
                </a:extLst>
              </p:cNvPr>
              <p:cNvCxnSpPr>
                <a:stCxn id="31" idx="3"/>
                <a:endCxn id="33" idx="1"/>
              </p:cNvCxnSpPr>
              <p:nvPr/>
            </p:nvCxnSpPr>
            <p:spPr>
              <a:xfrm flipV="1">
                <a:off x="4202045" y="2910956"/>
                <a:ext cx="429330" cy="16149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0" name="Group 109">
                <a:extLst>
                  <a:ext uri="{FF2B5EF4-FFF2-40B4-BE49-F238E27FC236}">
                    <a16:creationId xmlns:a16="http://schemas.microsoft.com/office/drawing/2014/main" id="{141A3CA3-26EC-EB7D-967A-2D3FD6100C51}"/>
                  </a:ext>
                </a:extLst>
              </p:cNvPr>
              <p:cNvGrpSpPr/>
              <p:nvPr/>
            </p:nvGrpSpPr>
            <p:grpSpPr>
              <a:xfrm>
                <a:off x="1488646" y="2612399"/>
                <a:ext cx="914400" cy="629412"/>
                <a:chOff x="1488646" y="2612399"/>
                <a:chExt cx="914400" cy="629412"/>
              </a:xfrm>
            </p:grpSpPr>
            <p:sp>
              <p:nvSpPr>
                <p:cNvPr id="28" name="Flowchart: Decision 27">
                  <a:extLst>
                    <a:ext uri="{FF2B5EF4-FFF2-40B4-BE49-F238E27FC236}">
                      <a16:creationId xmlns:a16="http://schemas.microsoft.com/office/drawing/2014/main" id="{ADA919E1-3CD2-88BE-2BF6-C659F4137866}"/>
                    </a:ext>
                  </a:extLst>
                </p:cNvPr>
                <p:cNvSpPr/>
                <p:nvPr/>
              </p:nvSpPr>
              <p:spPr>
                <a:xfrm>
                  <a:off x="1488646" y="2612399"/>
                  <a:ext cx="914400" cy="629412"/>
                </a:xfrm>
                <a:prstGeom prst="flowChartDecision">
                  <a:avLst/>
                </a:prstGeom>
                <a:solidFill>
                  <a:srgbClr val="FF000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 sz="1000" dirty="0"/>
                </a:p>
              </p:txBody>
            </p:sp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72201125-449F-B7E7-779F-DE99557AF8F3}"/>
                    </a:ext>
                  </a:extLst>
                </p:cNvPr>
                <p:cNvSpPr txBox="1"/>
                <p:nvPr/>
              </p:nvSpPr>
              <p:spPr>
                <a:xfrm>
                  <a:off x="1495058" y="2719813"/>
                  <a:ext cx="88838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ZA" dirty="0">
                      <a:solidFill>
                        <a:schemeClr val="bg1"/>
                      </a:solidFill>
                      <a:latin typeface="LM Roman 12" panose="00000500000000000000" pitchFamily="50" charset="0"/>
                    </a:rPr>
                    <a:t>Case B</a:t>
                  </a:r>
                </a:p>
              </p:txBody>
            </p:sp>
          </p:grpSp>
        </p:grp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EE84CC20-7E50-C13B-01D7-0EFBC394464E}"/>
                </a:ext>
              </a:extLst>
            </p:cNvPr>
            <p:cNvCxnSpPr>
              <a:cxnSpLocks/>
              <a:stCxn id="7" idx="2"/>
              <a:endCxn id="28" idx="0"/>
            </p:cNvCxnSpPr>
            <p:nvPr/>
          </p:nvCxnSpPr>
          <p:spPr>
            <a:xfrm>
              <a:off x="3265031" y="2442202"/>
              <a:ext cx="0" cy="313203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D321569D-50F7-7214-91C7-FF7752E68208}"/>
                </a:ext>
              </a:extLst>
            </p:cNvPr>
            <p:cNvCxnSpPr>
              <a:cxnSpLocks/>
              <a:stCxn id="28" idx="2"/>
              <a:endCxn id="35" idx="0"/>
            </p:cNvCxnSpPr>
            <p:nvPr/>
          </p:nvCxnSpPr>
          <p:spPr>
            <a:xfrm>
              <a:off x="3265031" y="3384817"/>
              <a:ext cx="0" cy="185577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6004D23E-0057-8B19-EC0B-73447017C72E}"/>
                </a:ext>
              </a:extLst>
            </p:cNvPr>
            <p:cNvCxnSpPr>
              <a:cxnSpLocks/>
            </p:cNvCxnSpPr>
            <p:nvPr/>
          </p:nvCxnSpPr>
          <p:spPr>
            <a:xfrm>
              <a:off x="7158844" y="3065566"/>
              <a:ext cx="378261" cy="0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A2BB43D7-594A-2790-A583-B090C6676407}"/>
                </a:ext>
              </a:extLst>
            </p:cNvPr>
            <p:cNvCxnSpPr>
              <a:cxnSpLocks/>
            </p:cNvCxnSpPr>
            <p:nvPr/>
          </p:nvCxnSpPr>
          <p:spPr>
            <a:xfrm>
              <a:off x="7537105" y="2127496"/>
              <a:ext cx="0" cy="1757604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0642043C-2874-D8DC-7FF0-83F275F8F5D9}"/>
              </a:ext>
            </a:extLst>
          </p:cNvPr>
          <p:cNvGrpSpPr/>
          <p:nvPr/>
        </p:nvGrpSpPr>
        <p:grpSpPr>
          <a:xfrm>
            <a:off x="2807831" y="1482322"/>
            <a:ext cx="5110428" cy="959880"/>
            <a:chOff x="2807831" y="1482322"/>
            <a:chExt cx="5110428" cy="959880"/>
          </a:xfrm>
        </p:grpSpPr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9012D855-8E40-76BC-8B9D-F119E5D2BD30}"/>
                </a:ext>
              </a:extLst>
            </p:cNvPr>
            <p:cNvGrpSpPr/>
            <p:nvPr/>
          </p:nvGrpSpPr>
          <p:grpSpPr>
            <a:xfrm>
              <a:off x="2807831" y="1812790"/>
              <a:ext cx="4351014" cy="629412"/>
              <a:chOff x="1488646" y="1669784"/>
              <a:chExt cx="4351014" cy="629412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4CE06B0-748A-4110-2A23-79CD300C300F}"/>
                  </a:ext>
                </a:extLst>
              </p:cNvPr>
              <p:cNvSpPr/>
              <p:nvPr/>
            </p:nvSpPr>
            <p:spPr>
              <a:xfrm>
                <a:off x="2993760" y="1735055"/>
                <a:ext cx="1208285" cy="47548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Do this action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C47BB4F0-A759-AF38-A90D-3B9034512963}"/>
                  </a:ext>
                </a:extLst>
              </p:cNvPr>
              <p:cNvSpPr/>
              <p:nvPr/>
            </p:nvSpPr>
            <p:spPr>
              <a:xfrm>
                <a:off x="4631375" y="1746746"/>
                <a:ext cx="1208285" cy="47548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Break</a:t>
                </a:r>
                <a:endParaRPr lang="en-ZA" dirty="0"/>
              </a:p>
            </p:txBody>
          </p: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4FD73954-41FC-3FDB-7F6B-598D040CA45B}"/>
                  </a:ext>
                </a:extLst>
              </p:cNvPr>
              <p:cNvCxnSpPr>
                <a:stCxn id="7" idx="3"/>
                <a:endCxn id="12" idx="1"/>
              </p:cNvCxnSpPr>
              <p:nvPr/>
            </p:nvCxnSpPr>
            <p:spPr>
              <a:xfrm flipV="1">
                <a:off x="2403046" y="1972799"/>
                <a:ext cx="590714" cy="11691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E7BEC683-BAA4-011D-26AB-E737751746EB}"/>
                  </a:ext>
                </a:extLst>
              </p:cNvPr>
              <p:cNvCxnSpPr>
                <a:stCxn id="12" idx="3"/>
                <a:endCxn id="23" idx="1"/>
              </p:cNvCxnSpPr>
              <p:nvPr/>
            </p:nvCxnSpPr>
            <p:spPr>
              <a:xfrm>
                <a:off x="4202045" y="1972799"/>
                <a:ext cx="429330" cy="11691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9" name="Group 108">
                <a:extLst>
                  <a:ext uri="{FF2B5EF4-FFF2-40B4-BE49-F238E27FC236}">
                    <a16:creationId xmlns:a16="http://schemas.microsoft.com/office/drawing/2014/main" id="{895A575A-633B-C429-41FF-DF5A7C160502}"/>
                  </a:ext>
                </a:extLst>
              </p:cNvPr>
              <p:cNvGrpSpPr/>
              <p:nvPr/>
            </p:nvGrpSpPr>
            <p:grpSpPr>
              <a:xfrm>
                <a:off x="1488646" y="1669784"/>
                <a:ext cx="914400" cy="629412"/>
                <a:chOff x="1465837" y="1712996"/>
                <a:chExt cx="914400" cy="629412"/>
              </a:xfrm>
            </p:grpSpPr>
            <p:sp>
              <p:nvSpPr>
                <p:cNvPr id="7" name="Flowchart: Decision 6">
                  <a:extLst>
                    <a:ext uri="{FF2B5EF4-FFF2-40B4-BE49-F238E27FC236}">
                      <a16:creationId xmlns:a16="http://schemas.microsoft.com/office/drawing/2014/main" id="{D915CD78-C5A5-7528-5E41-260CE3371E57}"/>
                    </a:ext>
                  </a:extLst>
                </p:cNvPr>
                <p:cNvSpPr/>
                <p:nvPr/>
              </p:nvSpPr>
              <p:spPr>
                <a:xfrm>
                  <a:off x="1465837" y="1712996"/>
                  <a:ext cx="914400" cy="629412"/>
                </a:xfrm>
                <a:prstGeom prst="flowChartDecision">
                  <a:avLst/>
                </a:prstGeom>
                <a:solidFill>
                  <a:srgbClr val="FF000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 sz="1000" dirty="0"/>
                </a:p>
              </p:txBody>
            </p:sp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876E3F9E-B478-402A-3D63-F3D9057303E6}"/>
                    </a:ext>
                  </a:extLst>
                </p:cNvPr>
                <p:cNvSpPr txBox="1"/>
                <p:nvPr/>
              </p:nvSpPr>
              <p:spPr>
                <a:xfrm>
                  <a:off x="1472249" y="1813169"/>
                  <a:ext cx="89800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ZA" dirty="0">
                      <a:solidFill>
                        <a:schemeClr val="bg1"/>
                      </a:solidFill>
                      <a:latin typeface="LM Roman 12" panose="00000500000000000000" pitchFamily="50" charset="0"/>
                    </a:rPr>
                    <a:t>Case A</a:t>
                  </a:r>
                </a:p>
              </p:txBody>
            </p:sp>
          </p:grpSp>
        </p:grp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AFBE0C50-58D1-C7F6-F094-4562F8DD8BD4}"/>
                </a:ext>
              </a:extLst>
            </p:cNvPr>
            <p:cNvCxnSpPr>
              <a:cxnSpLocks/>
            </p:cNvCxnSpPr>
            <p:nvPr/>
          </p:nvCxnSpPr>
          <p:spPr>
            <a:xfrm>
              <a:off x="7158844" y="2146266"/>
              <a:ext cx="378261" cy="0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0483627A-7467-8950-7021-C45A6ED1ACC2}"/>
                </a:ext>
              </a:extLst>
            </p:cNvPr>
            <p:cNvSpPr txBox="1"/>
            <p:nvPr/>
          </p:nvSpPr>
          <p:spPr>
            <a:xfrm>
              <a:off x="3437545" y="1482322"/>
              <a:ext cx="44807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2000" b="1" dirty="0">
                  <a:latin typeface="LM Roman 12" panose="00000500000000000000" pitchFamily="50" charset="0"/>
                </a:rPr>
                <a:t>when this case is true…do this action</a:t>
              </a:r>
            </a:p>
          </p:txBody>
        </p:sp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93731B47-6E2C-30AC-4962-A8A7DB2E654F}"/>
              </a:ext>
            </a:extLst>
          </p:cNvPr>
          <p:cNvGrpSpPr/>
          <p:nvPr/>
        </p:nvGrpSpPr>
        <p:grpSpPr>
          <a:xfrm>
            <a:off x="2807831" y="3570394"/>
            <a:ext cx="4886765" cy="1030446"/>
            <a:chOff x="2807831" y="3570394"/>
            <a:chExt cx="4886765" cy="1030446"/>
          </a:xfrm>
        </p:grpSpPr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EF496F75-1181-1E44-405E-0225E5E0E945}"/>
                </a:ext>
              </a:extLst>
            </p:cNvPr>
            <p:cNvCxnSpPr>
              <a:cxnSpLocks/>
            </p:cNvCxnSpPr>
            <p:nvPr/>
          </p:nvCxnSpPr>
          <p:spPr>
            <a:xfrm>
              <a:off x="3269884" y="4231945"/>
              <a:ext cx="6595" cy="272090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8" name="Group 227">
              <a:extLst>
                <a:ext uri="{FF2B5EF4-FFF2-40B4-BE49-F238E27FC236}">
                  <a16:creationId xmlns:a16="http://schemas.microsoft.com/office/drawing/2014/main" id="{C8A7BD94-2FF0-B8F7-87CC-ECF32CE52109}"/>
                </a:ext>
              </a:extLst>
            </p:cNvPr>
            <p:cNvGrpSpPr/>
            <p:nvPr/>
          </p:nvGrpSpPr>
          <p:grpSpPr>
            <a:xfrm>
              <a:off x="2807831" y="3570394"/>
              <a:ext cx="4886765" cy="1030446"/>
              <a:chOff x="2807831" y="3570394"/>
              <a:chExt cx="4886765" cy="1030446"/>
            </a:xfrm>
          </p:grpSpPr>
          <p:grpSp>
            <p:nvGrpSpPr>
              <p:cNvPr id="177" name="Group 176">
                <a:extLst>
                  <a:ext uri="{FF2B5EF4-FFF2-40B4-BE49-F238E27FC236}">
                    <a16:creationId xmlns:a16="http://schemas.microsoft.com/office/drawing/2014/main" id="{4D85237F-513D-BA7D-18C3-7F5CD8F46551}"/>
                  </a:ext>
                </a:extLst>
              </p:cNvPr>
              <p:cNvGrpSpPr/>
              <p:nvPr/>
            </p:nvGrpSpPr>
            <p:grpSpPr>
              <a:xfrm>
                <a:off x="2807831" y="3570394"/>
                <a:ext cx="4351014" cy="629412"/>
                <a:chOff x="1488646" y="3427388"/>
                <a:chExt cx="4351014" cy="629412"/>
              </a:xfrm>
            </p:grpSpPr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EE41B242-C2F9-B61B-0341-7A4028062587}"/>
                    </a:ext>
                  </a:extLst>
                </p:cNvPr>
                <p:cNvSpPr/>
                <p:nvPr/>
              </p:nvSpPr>
              <p:spPr>
                <a:xfrm>
                  <a:off x="2993760" y="3505207"/>
                  <a:ext cx="1208285" cy="475488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dirty="0">
                      <a:latin typeface="LM Roman 12" panose="00000500000000000000" pitchFamily="50" charset="0"/>
                    </a:rPr>
                    <a:t>Do that action</a:t>
                  </a:r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578F6B7A-7595-E29B-6204-BA3394096861}"/>
                    </a:ext>
                  </a:extLst>
                </p:cNvPr>
                <p:cNvSpPr/>
                <p:nvPr/>
              </p:nvSpPr>
              <p:spPr>
                <a:xfrm>
                  <a:off x="4631375" y="3488746"/>
                  <a:ext cx="1208285" cy="475488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dirty="0">
                      <a:latin typeface="LM Roman 12" panose="00000500000000000000" pitchFamily="50" charset="0"/>
                    </a:rPr>
                    <a:t>Break</a:t>
                  </a:r>
                </a:p>
              </p:txBody>
            </p:sp>
            <p:cxnSp>
              <p:nvCxnSpPr>
                <p:cNvPr id="55" name="Straight Arrow Connector 54">
                  <a:extLst>
                    <a:ext uri="{FF2B5EF4-FFF2-40B4-BE49-F238E27FC236}">
                      <a16:creationId xmlns:a16="http://schemas.microsoft.com/office/drawing/2014/main" id="{F3DCDB6B-8D5F-7F7C-7956-2F02D7EA0B9D}"/>
                    </a:ext>
                  </a:extLst>
                </p:cNvPr>
                <p:cNvCxnSpPr>
                  <a:stCxn id="35" idx="3"/>
                  <a:endCxn id="37" idx="1"/>
                </p:cNvCxnSpPr>
                <p:nvPr/>
              </p:nvCxnSpPr>
              <p:spPr>
                <a:xfrm>
                  <a:off x="2403046" y="3742094"/>
                  <a:ext cx="590714" cy="857"/>
                </a:xfrm>
                <a:prstGeom prst="straightConnector1">
                  <a:avLst/>
                </a:prstGeom>
                <a:ln>
                  <a:solidFill>
                    <a:srgbClr val="FFFF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Arrow Connector 57">
                  <a:extLst>
                    <a:ext uri="{FF2B5EF4-FFF2-40B4-BE49-F238E27FC236}">
                      <a16:creationId xmlns:a16="http://schemas.microsoft.com/office/drawing/2014/main" id="{AEB91916-30CE-BDF8-3CAA-061DD55299BC}"/>
                    </a:ext>
                  </a:extLst>
                </p:cNvPr>
                <p:cNvCxnSpPr>
                  <a:stCxn id="37" idx="3"/>
                  <a:endCxn id="39" idx="1"/>
                </p:cNvCxnSpPr>
                <p:nvPr/>
              </p:nvCxnSpPr>
              <p:spPr>
                <a:xfrm flipV="1">
                  <a:off x="4202045" y="3726490"/>
                  <a:ext cx="429330" cy="16461"/>
                </a:xfrm>
                <a:prstGeom prst="straightConnector1">
                  <a:avLst/>
                </a:prstGeom>
                <a:ln>
                  <a:solidFill>
                    <a:srgbClr val="FFFF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11" name="Group 110">
                  <a:extLst>
                    <a:ext uri="{FF2B5EF4-FFF2-40B4-BE49-F238E27FC236}">
                      <a16:creationId xmlns:a16="http://schemas.microsoft.com/office/drawing/2014/main" id="{6B91ED46-BCA9-95FA-715A-C634B9E71C1C}"/>
                    </a:ext>
                  </a:extLst>
                </p:cNvPr>
                <p:cNvGrpSpPr/>
                <p:nvPr/>
              </p:nvGrpSpPr>
              <p:grpSpPr>
                <a:xfrm>
                  <a:off x="1488646" y="3427388"/>
                  <a:ext cx="914400" cy="629412"/>
                  <a:chOff x="1488646" y="3427388"/>
                  <a:chExt cx="914400" cy="629412"/>
                </a:xfrm>
              </p:grpSpPr>
              <p:sp>
                <p:nvSpPr>
                  <p:cNvPr id="35" name="Flowchart: Decision 34">
                    <a:extLst>
                      <a:ext uri="{FF2B5EF4-FFF2-40B4-BE49-F238E27FC236}">
                        <a16:creationId xmlns:a16="http://schemas.microsoft.com/office/drawing/2014/main" id="{4C6EC231-6D6C-8AAD-8F7A-C4D0005E3586}"/>
                      </a:ext>
                    </a:extLst>
                  </p:cNvPr>
                  <p:cNvSpPr/>
                  <p:nvPr/>
                </p:nvSpPr>
                <p:spPr>
                  <a:xfrm>
                    <a:off x="1488646" y="3427388"/>
                    <a:ext cx="914400" cy="629412"/>
                  </a:xfrm>
                  <a:prstGeom prst="flowChartDecision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>
                    <a:outerShdw blurRad="44450" dist="27940" dir="5400000" algn="ctr">
                      <a:srgbClr val="000000">
                        <a:alpha val="32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balanced" dir="t">
                      <a:rot lat="0" lon="0" rev="8700000"/>
                    </a:lightRig>
                  </a:scene3d>
                  <a:sp3d>
                    <a:bevelT w="190500" h="38100"/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ZA" sz="1000" dirty="0"/>
                  </a:p>
                </p:txBody>
              </p:sp>
              <p:sp>
                <p:nvSpPr>
                  <p:cNvPr id="79" name="TextBox 78">
                    <a:extLst>
                      <a:ext uri="{FF2B5EF4-FFF2-40B4-BE49-F238E27FC236}">
                        <a16:creationId xmlns:a16="http://schemas.microsoft.com/office/drawing/2014/main" id="{4811D043-9235-BC39-6C4C-E042D345D9B4}"/>
                      </a:ext>
                    </a:extLst>
                  </p:cNvPr>
                  <p:cNvSpPr txBox="1"/>
                  <p:nvPr/>
                </p:nvSpPr>
                <p:spPr>
                  <a:xfrm>
                    <a:off x="1495058" y="3541824"/>
                    <a:ext cx="89159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ZA" dirty="0">
                        <a:solidFill>
                          <a:schemeClr val="bg1"/>
                        </a:solidFill>
                        <a:latin typeface="LM Roman 12" panose="00000500000000000000" pitchFamily="50" charset="0"/>
                      </a:rPr>
                      <a:t>Case C</a:t>
                    </a:r>
                  </a:p>
                </p:txBody>
              </p:sp>
            </p:grpSp>
          </p:grpSp>
          <p:grpSp>
            <p:nvGrpSpPr>
              <p:cNvPr id="182" name="Group 181">
                <a:extLst>
                  <a:ext uri="{FF2B5EF4-FFF2-40B4-BE49-F238E27FC236}">
                    <a16:creationId xmlns:a16="http://schemas.microsoft.com/office/drawing/2014/main" id="{374497B0-6548-1533-DD3C-04E9A4CC2169}"/>
                  </a:ext>
                </a:extLst>
              </p:cNvPr>
              <p:cNvGrpSpPr/>
              <p:nvPr/>
            </p:nvGrpSpPr>
            <p:grpSpPr>
              <a:xfrm>
                <a:off x="3079405" y="4402688"/>
                <a:ext cx="358140" cy="198152"/>
                <a:chOff x="1760220" y="4259682"/>
                <a:chExt cx="358140" cy="198152"/>
              </a:xfrm>
            </p:grpSpPr>
            <p:cxnSp>
              <p:nvCxnSpPr>
                <p:cNvPr id="165" name="Straight Connector 164">
                  <a:extLst>
                    <a:ext uri="{FF2B5EF4-FFF2-40B4-BE49-F238E27FC236}">
                      <a16:creationId xmlns:a16="http://schemas.microsoft.com/office/drawing/2014/main" id="{C43B1A39-73E7-0177-BFBF-B4E2F47611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60220" y="4319884"/>
                  <a:ext cx="358140" cy="13795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7" name="Straight Connector 166">
                  <a:extLst>
                    <a:ext uri="{FF2B5EF4-FFF2-40B4-BE49-F238E27FC236}">
                      <a16:creationId xmlns:a16="http://schemas.microsoft.com/office/drawing/2014/main" id="{F53362B1-E597-1FA8-53B2-07FB59E3F74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60220" y="4259682"/>
                  <a:ext cx="358140" cy="144678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99" name="Straight Connector 198">
                <a:extLst>
                  <a:ext uri="{FF2B5EF4-FFF2-40B4-BE49-F238E27FC236}">
                    <a16:creationId xmlns:a16="http://schemas.microsoft.com/office/drawing/2014/main" id="{91B07D58-5867-CDCE-5AEC-FC15A7265C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58844" y="3865406"/>
                <a:ext cx="378261" cy="0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8" name="Group 217">
                <a:extLst>
                  <a:ext uri="{FF2B5EF4-FFF2-40B4-BE49-F238E27FC236}">
                    <a16:creationId xmlns:a16="http://schemas.microsoft.com/office/drawing/2014/main" id="{6B8E7871-B4AD-7583-754F-759542704583}"/>
                  </a:ext>
                </a:extLst>
              </p:cNvPr>
              <p:cNvGrpSpPr/>
              <p:nvPr/>
            </p:nvGrpSpPr>
            <p:grpSpPr>
              <a:xfrm>
                <a:off x="7336456" y="3885100"/>
                <a:ext cx="358140" cy="409384"/>
                <a:chOff x="1760220" y="4048450"/>
                <a:chExt cx="358140" cy="409384"/>
              </a:xfrm>
            </p:grpSpPr>
            <p:cxnSp>
              <p:nvCxnSpPr>
                <p:cNvPr id="219" name="Straight Connector 218">
                  <a:extLst>
                    <a:ext uri="{FF2B5EF4-FFF2-40B4-BE49-F238E27FC236}">
                      <a16:creationId xmlns:a16="http://schemas.microsoft.com/office/drawing/2014/main" id="{537974AC-3420-F746-46CA-43AF6BAEB2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60220" y="4319884"/>
                  <a:ext cx="358140" cy="13795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Arrow Connector 219">
                  <a:extLst>
                    <a:ext uri="{FF2B5EF4-FFF2-40B4-BE49-F238E27FC236}">
                      <a16:creationId xmlns:a16="http://schemas.microsoft.com/office/drawing/2014/main" id="{EA34CB84-1F9B-2253-875F-C6D752390BB8}"/>
                    </a:ext>
                  </a:extLst>
                </p:cNvPr>
                <p:cNvCxnSpPr/>
                <p:nvPr/>
              </p:nvCxnSpPr>
              <p:spPr>
                <a:xfrm>
                  <a:off x="1961876" y="4048450"/>
                  <a:ext cx="6595" cy="272090"/>
                </a:xfrm>
                <a:prstGeom prst="straightConnector1">
                  <a:avLst/>
                </a:prstGeom>
                <a:ln>
                  <a:solidFill>
                    <a:srgbClr val="FFFF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1" name="Straight Connector 220">
                  <a:extLst>
                    <a:ext uri="{FF2B5EF4-FFF2-40B4-BE49-F238E27FC236}">
                      <a16:creationId xmlns:a16="http://schemas.microsoft.com/office/drawing/2014/main" id="{32B21353-D2FE-1D0B-A043-6B699D1209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60220" y="4259682"/>
                  <a:ext cx="358140" cy="144678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E71214A0-0BF9-E114-D6DD-3C86390246DD}"/>
              </a:ext>
            </a:extLst>
          </p:cNvPr>
          <p:cNvGrpSpPr/>
          <p:nvPr/>
        </p:nvGrpSpPr>
        <p:grpSpPr>
          <a:xfrm>
            <a:off x="2814243" y="4233585"/>
            <a:ext cx="4730464" cy="1149575"/>
            <a:chOff x="2814243" y="4233585"/>
            <a:chExt cx="4730464" cy="1149575"/>
          </a:xfrm>
        </p:grpSpPr>
        <p:grpSp>
          <p:nvGrpSpPr>
            <p:cNvPr id="178" name="Group 177">
              <a:extLst>
                <a:ext uri="{FF2B5EF4-FFF2-40B4-BE49-F238E27FC236}">
                  <a16:creationId xmlns:a16="http://schemas.microsoft.com/office/drawing/2014/main" id="{F7334044-CBEE-A1C0-6851-FD6016DA046C}"/>
                </a:ext>
              </a:extLst>
            </p:cNvPr>
            <p:cNvGrpSpPr/>
            <p:nvPr/>
          </p:nvGrpSpPr>
          <p:grpSpPr>
            <a:xfrm>
              <a:off x="2814243" y="4753748"/>
              <a:ext cx="4344601" cy="629412"/>
              <a:chOff x="1495058" y="4610742"/>
              <a:chExt cx="4344601" cy="629412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82E68632-1755-A2A4-1249-C3D2481874B5}"/>
                  </a:ext>
                </a:extLst>
              </p:cNvPr>
              <p:cNvSpPr/>
              <p:nvPr/>
            </p:nvSpPr>
            <p:spPr>
              <a:xfrm>
                <a:off x="2993759" y="4687704"/>
                <a:ext cx="1208285" cy="47548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default action</a:t>
                </a:r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C1512ED1-5A09-1D86-1EA4-DCFE5AE8E60A}"/>
                  </a:ext>
                </a:extLst>
              </p:cNvPr>
              <p:cNvSpPr/>
              <p:nvPr/>
            </p:nvSpPr>
            <p:spPr>
              <a:xfrm>
                <a:off x="4631374" y="4673066"/>
                <a:ext cx="1208285" cy="47548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Break</a:t>
                </a:r>
              </a:p>
            </p:txBody>
          </p: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0360006C-599E-B891-7FA4-1B056BBA495E}"/>
                  </a:ext>
                </a:extLst>
              </p:cNvPr>
              <p:cNvCxnSpPr>
                <a:cxnSpLocks/>
                <a:stCxn id="62" idx="3"/>
                <a:endCxn id="64" idx="1"/>
              </p:cNvCxnSpPr>
              <p:nvPr/>
            </p:nvCxnSpPr>
            <p:spPr>
              <a:xfrm flipV="1">
                <a:off x="4202044" y="4910810"/>
                <a:ext cx="429330" cy="14638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2" name="Group 111">
                <a:extLst>
                  <a:ext uri="{FF2B5EF4-FFF2-40B4-BE49-F238E27FC236}">
                    <a16:creationId xmlns:a16="http://schemas.microsoft.com/office/drawing/2014/main" id="{072A66DE-662B-9FB7-0A6B-B9928EC45AB2}"/>
                  </a:ext>
                </a:extLst>
              </p:cNvPr>
              <p:cNvGrpSpPr/>
              <p:nvPr/>
            </p:nvGrpSpPr>
            <p:grpSpPr>
              <a:xfrm>
                <a:off x="1495058" y="4610742"/>
                <a:ext cx="914400" cy="629412"/>
                <a:chOff x="1455313" y="4599509"/>
                <a:chExt cx="914400" cy="629412"/>
              </a:xfrm>
            </p:grpSpPr>
            <p:sp>
              <p:nvSpPr>
                <p:cNvPr id="82" name="Flowchart: Decision 81">
                  <a:extLst>
                    <a:ext uri="{FF2B5EF4-FFF2-40B4-BE49-F238E27FC236}">
                      <a16:creationId xmlns:a16="http://schemas.microsoft.com/office/drawing/2014/main" id="{787FACA2-0B4A-232F-49D7-A6728E622C77}"/>
                    </a:ext>
                  </a:extLst>
                </p:cNvPr>
                <p:cNvSpPr/>
                <p:nvPr/>
              </p:nvSpPr>
              <p:spPr>
                <a:xfrm>
                  <a:off x="1455313" y="4599509"/>
                  <a:ext cx="914400" cy="629412"/>
                </a:xfrm>
                <a:prstGeom prst="flowChartDecision">
                  <a:avLst/>
                </a:prstGeom>
                <a:solidFill>
                  <a:srgbClr val="FF000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 sz="1000" dirty="0"/>
                </a:p>
              </p:txBody>
            </p:sp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42CF38F9-52A9-384A-174B-5EF05ACFD8A9}"/>
                    </a:ext>
                  </a:extLst>
                </p:cNvPr>
                <p:cNvSpPr txBox="1"/>
                <p:nvPr/>
              </p:nvSpPr>
              <p:spPr>
                <a:xfrm>
                  <a:off x="1494152" y="4714911"/>
                  <a:ext cx="86914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ZA" dirty="0">
                      <a:solidFill>
                        <a:schemeClr val="bg1"/>
                      </a:solidFill>
                      <a:latin typeface="LM Roman 12" panose="00000500000000000000" pitchFamily="50" charset="0"/>
                    </a:rPr>
                    <a:t>default</a:t>
                  </a:r>
                </a:p>
              </p:txBody>
            </p:sp>
          </p:grp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46294B11-6E16-4388-CAAC-3CCE87B459C9}"/>
                  </a:ext>
                </a:extLst>
              </p:cNvPr>
              <p:cNvCxnSpPr>
                <a:cxnSpLocks/>
                <a:stCxn id="84" idx="3"/>
                <a:endCxn id="62" idx="1"/>
              </p:cNvCxnSpPr>
              <p:nvPr/>
            </p:nvCxnSpPr>
            <p:spPr>
              <a:xfrm>
                <a:off x="2403046" y="4910810"/>
                <a:ext cx="590713" cy="14638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D2D2C695-1B1D-416D-74A1-FD2C3BC0467D}"/>
                </a:ext>
              </a:extLst>
            </p:cNvPr>
            <p:cNvCxnSpPr>
              <a:cxnSpLocks/>
              <a:endCxn id="82" idx="0"/>
            </p:cNvCxnSpPr>
            <p:nvPr/>
          </p:nvCxnSpPr>
          <p:spPr>
            <a:xfrm>
              <a:off x="3271443" y="4547366"/>
              <a:ext cx="0" cy="206382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EF2D919F-B814-3EC3-E304-3FD8DD856C71}"/>
                </a:ext>
              </a:extLst>
            </p:cNvPr>
            <p:cNvCxnSpPr>
              <a:cxnSpLocks/>
            </p:cNvCxnSpPr>
            <p:nvPr/>
          </p:nvCxnSpPr>
          <p:spPr>
            <a:xfrm>
              <a:off x="7158844" y="5068454"/>
              <a:ext cx="378261" cy="0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EB11A4C7-5040-2879-6522-FA0E89E6B3D1}"/>
                </a:ext>
              </a:extLst>
            </p:cNvPr>
            <p:cNvSpPr txBox="1"/>
            <p:nvPr/>
          </p:nvSpPr>
          <p:spPr>
            <a:xfrm>
              <a:off x="3361987" y="4447286"/>
              <a:ext cx="393889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2000" b="1" dirty="0">
                  <a:latin typeface="LM Roman 12" panose="00000500000000000000" pitchFamily="50" charset="0"/>
                </a:rPr>
                <a:t>Otherwise do this default action</a:t>
              </a:r>
            </a:p>
          </p:txBody>
        </p:sp>
        <p:cxnSp>
          <p:nvCxnSpPr>
            <p:cNvPr id="222" name="Straight Arrow Connector 221">
              <a:extLst>
                <a:ext uri="{FF2B5EF4-FFF2-40B4-BE49-F238E27FC236}">
                  <a16:creationId xmlns:a16="http://schemas.microsoft.com/office/drawing/2014/main" id="{4BAB12F5-CF3E-7907-5ADB-1B0A4FE40228}"/>
                </a:ext>
              </a:extLst>
            </p:cNvPr>
            <p:cNvCxnSpPr>
              <a:cxnSpLocks/>
            </p:cNvCxnSpPr>
            <p:nvPr/>
          </p:nvCxnSpPr>
          <p:spPr>
            <a:xfrm>
              <a:off x="7544707" y="4233585"/>
              <a:ext cx="0" cy="834869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3" name="TextBox 232">
            <a:extLst>
              <a:ext uri="{FF2B5EF4-FFF2-40B4-BE49-F238E27FC236}">
                <a16:creationId xmlns:a16="http://schemas.microsoft.com/office/drawing/2014/main" id="{6A90FDF2-062C-8927-0D4E-25225293F785}"/>
              </a:ext>
            </a:extLst>
          </p:cNvPr>
          <p:cNvSpPr txBox="1"/>
          <p:nvPr/>
        </p:nvSpPr>
        <p:spPr>
          <a:xfrm>
            <a:off x="3600212" y="2115805"/>
            <a:ext cx="5838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1100" dirty="0">
                <a:latin typeface="LM Roman 12" panose="00000500000000000000" pitchFamily="50" charset="0"/>
              </a:rPr>
              <a:t>TRUE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2C1CF1A5-63FE-545E-B7AB-578AF5ECBC63}"/>
              </a:ext>
            </a:extLst>
          </p:cNvPr>
          <p:cNvSpPr txBox="1"/>
          <p:nvPr/>
        </p:nvSpPr>
        <p:spPr>
          <a:xfrm>
            <a:off x="2624232" y="2381070"/>
            <a:ext cx="61073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200" dirty="0">
                <a:latin typeface="LM Roman 12" panose="00000500000000000000" pitchFamily="50" charset="0"/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82438348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" grpId="0"/>
      <p:bldP spid="23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8CD87-2C46-CEE3-014B-6FCB55CBB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B04F2FB5-C490-A099-5C47-8F924C7D355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B04F2FB5-C490-A099-5C47-8F924C7D35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CF93AE5E-3B83-F3A5-DC64-51616ED5B87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402EFAD-DE38-15B4-F262-67934E4FAD56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4	pg. 52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D3309ED-738C-DD27-3E98-0A71B2138DFD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C1EC22E-E8B9-264B-AF10-61BC44BC8B80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5232B51-591B-F12B-0909-34F50C0BA323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57104CA1-55B3-8EA4-BFEB-D7D97B53037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B7BDD2A-7625-1AA5-1BF1-1668A2F3277B}"/>
                </a:ext>
              </a:extLst>
            </p:cNvPr>
            <p:cNvSpPr txBox="1"/>
            <p:nvPr/>
          </p:nvSpPr>
          <p:spPr>
            <a:xfrm>
              <a:off x="2488042" y="184666"/>
              <a:ext cx="72825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05 August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106E8B90-3334-80C4-9B82-309DB758B8ED}"/>
              </a:ext>
            </a:extLst>
          </p:cNvPr>
          <p:cNvSpPr/>
          <p:nvPr/>
        </p:nvSpPr>
        <p:spPr>
          <a:xfrm>
            <a:off x="3329940" y="584240"/>
            <a:ext cx="6027420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00B0F0"/>
                </a:solidFill>
                <a:latin typeface="LM Roman 12" panose="00000500000000000000" pitchFamily="50" charset="0"/>
              </a:rPr>
              <a:t>switch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 multiple-selection statement I</a:t>
            </a:r>
          </a:p>
        </p:txBody>
      </p: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F6381D35-374B-A1E0-F26F-79495428611F}"/>
              </a:ext>
            </a:extLst>
          </p:cNvPr>
          <p:cNvGrpSpPr/>
          <p:nvPr/>
        </p:nvGrpSpPr>
        <p:grpSpPr>
          <a:xfrm>
            <a:off x="2807831" y="1126935"/>
            <a:ext cx="5110428" cy="5166445"/>
            <a:chOff x="3335710" y="1099066"/>
            <a:chExt cx="5110428" cy="5166445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A1A7D4B1-EADD-2366-40C0-11E5CCB73A98}"/>
                </a:ext>
              </a:extLst>
            </p:cNvPr>
            <p:cNvSpPr/>
            <p:nvPr/>
          </p:nvSpPr>
          <p:spPr>
            <a:xfrm>
              <a:off x="3342122" y="1099066"/>
              <a:ext cx="914400" cy="47548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start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0B9B9F5C-9286-EF45-8D51-FD929ABC0458}"/>
                </a:ext>
              </a:extLst>
            </p:cNvPr>
            <p:cNvSpPr/>
            <p:nvPr/>
          </p:nvSpPr>
          <p:spPr>
            <a:xfrm>
              <a:off x="3342122" y="5790023"/>
              <a:ext cx="914400" cy="47548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end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6AF3B0A-134A-F4AD-E8F1-EF094720A0E1}"/>
                </a:ext>
              </a:extLst>
            </p:cNvPr>
            <p:cNvCxnSpPr>
              <a:cxnSpLocks/>
              <a:stCxn id="3" idx="4"/>
              <a:endCxn id="7" idx="0"/>
            </p:cNvCxnSpPr>
            <p:nvPr/>
          </p:nvCxnSpPr>
          <p:spPr>
            <a:xfrm flipH="1">
              <a:off x="3792910" y="1574554"/>
              <a:ext cx="6412" cy="210367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4670AFBC-E830-B4AC-0807-1C99F0B91734}"/>
                </a:ext>
              </a:extLst>
            </p:cNvPr>
            <p:cNvGrpSpPr/>
            <p:nvPr/>
          </p:nvGrpSpPr>
          <p:grpSpPr>
            <a:xfrm>
              <a:off x="3335710" y="1784921"/>
              <a:ext cx="4351014" cy="629412"/>
              <a:chOff x="1488646" y="1669784"/>
              <a:chExt cx="4351014" cy="629412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51552CE-5E85-E071-5389-64ABE6E0BFC0}"/>
                  </a:ext>
                </a:extLst>
              </p:cNvPr>
              <p:cNvSpPr/>
              <p:nvPr/>
            </p:nvSpPr>
            <p:spPr>
              <a:xfrm>
                <a:off x="2993760" y="1735055"/>
                <a:ext cx="1208285" cy="47548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Do this action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9EB52D3F-25D4-48F7-0A49-E29ECAD5B50E}"/>
                  </a:ext>
                </a:extLst>
              </p:cNvPr>
              <p:cNvSpPr/>
              <p:nvPr/>
            </p:nvSpPr>
            <p:spPr>
              <a:xfrm>
                <a:off x="4631375" y="1746746"/>
                <a:ext cx="1208285" cy="47548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Break</a:t>
                </a:r>
                <a:endParaRPr lang="en-ZA" dirty="0"/>
              </a:p>
            </p:txBody>
          </p: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4AC26DC7-E3DC-360C-C646-68006228E358}"/>
                  </a:ext>
                </a:extLst>
              </p:cNvPr>
              <p:cNvCxnSpPr>
                <a:stCxn id="7" idx="3"/>
                <a:endCxn id="12" idx="1"/>
              </p:cNvCxnSpPr>
              <p:nvPr/>
            </p:nvCxnSpPr>
            <p:spPr>
              <a:xfrm flipV="1">
                <a:off x="2403046" y="1972799"/>
                <a:ext cx="590714" cy="11691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BE75DF6E-27BC-D49D-E7C1-691F60E03238}"/>
                  </a:ext>
                </a:extLst>
              </p:cNvPr>
              <p:cNvCxnSpPr>
                <a:stCxn id="12" idx="3"/>
                <a:endCxn id="23" idx="1"/>
              </p:cNvCxnSpPr>
              <p:nvPr/>
            </p:nvCxnSpPr>
            <p:spPr>
              <a:xfrm>
                <a:off x="4202045" y="1972799"/>
                <a:ext cx="429330" cy="11691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9" name="Group 108">
                <a:extLst>
                  <a:ext uri="{FF2B5EF4-FFF2-40B4-BE49-F238E27FC236}">
                    <a16:creationId xmlns:a16="http://schemas.microsoft.com/office/drawing/2014/main" id="{1FE6CFA4-A5F2-C6B4-106B-4C748ABAD199}"/>
                  </a:ext>
                </a:extLst>
              </p:cNvPr>
              <p:cNvGrpSpPr/>
              <p:nvPr/>
            </p:nvGrpSpPr>
            <p:grpSpPr>
              <a:xfrm>
                <a:off x="1488646" y="1669784"/>
                <a:ext cx="914400" cy="629412"/>
                <a:chOff x="1465837" y="1712996"/>
                <a:chExt cx="914400" cy="629412"/>
              </a:xfrm>
            </p:grpSpPr>
            <p:sp>
              <p:nvSpPr>
                <p:cNvPr id="7" name="Flowchart: Decision 6">
                  <a:extLst>
                    <a:ext uri="{FF2B5EF4-FFF2-40B4-BE49-F238E27FC236}">
                      <a16:creationId xmlns:a16="http://schemas.microsoft.com/office/drawing/2014/main" id="{F4443DBB-676D-193D-C814-F025EC0A5017}"/>
                    </a:ext>
                  </a:extLst>
                </p:cNvPr>
                <p:cNvSpPr/>
                <p:nvPr/>
              </p:nvSpPr>
              <p:spPr>
                <a:xfrm>
                  <a:off x="1465837" y="1712996"/>
                  <a:ext cx="914400" cy="629412"/>
                </a:xfrm>
                <a:prstGeom prst="flowChartDecision">
                  <a:avLst/>
                </a:prstGeom>
                <a:solidFill>
                  <a:srgbClr val="FF000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 sz="1000" dirty="0"/>
                </a:p>
              </p:txBody>
            </p:sp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A3F86FB5-F42F-CE1A-429F-4412EDF55C34}"/>
                    </a:ext>
                  </a:extLst>
                </p:cNvPr>
                <p:cNvSpPr txBox="1"/>
                <p:nvPr/>
              </p:nvSpPr>
              <p:spPr>
                <a:xfrm>
                  <a:off x="1472249" y="1813169"/>
                  <a:ext cx="89800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ZA" dirty="0">
                      <a:solidFill>
                        <a:schemeClr val="bg1"/>
                      </a:solidFill>
                      <a:latin typeface="LM Roman 12" panose="00000500000000000000" pitchFamily="50" charset="0"/>
                    </a:rPr>
                    <a:t>Case A</a:t>
                  </a:r>
                </a:p>
              </p:txBody>
            </p:sp>
          </p:grpSp>
        </p:grpSp>
        <p:grpSp>
          <p:nvGrpSpPr>
            <p:cNvPr id="176" name="Group 175">
              <a:extLst>
                <a:ext uri="{FF2B5EF4-FFF2-40B4-BE49-F238E27FC236}">
                  <a16:creationId xmlns:a16="http://schemas.microsoft.com/office/drawing/2014/main" id="{CD2EC78A-4A87-5FF1-8099-244E69DA8ED8}"/>
                </a:ext>
              </a:extLst>
            </p:cNvPr>
            <p:cNvGrpSpPr/>
            <p:nvPr/>
          </p:nvGrpSpPr>
          <p:grpSpPr>
            <a:xfrm>
              <a:off x="3335710" y="2727536"/>
              <a:ext cx="4351014" cy="629412"/>
              <a:chOff x="1488646" y="2612399"/>
              <a:chExt cx="4351014" cy="629412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4CDE9323-2514-265D-64E7-3F0D2329E783}"/>
                  </a:ext>
                </a:extLst>
              </p:cNvPr>
              <p:cNvSpPr/>
              <p:nvPr/>
            </p:nvSpPr>
            <p:spPr>
              <a:xfrm>
                <a:off x="2993760" y="2689361"/>
                <a:ext cx="1208285" cy="47548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Do that action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669D5312-4632-EF3C-DAC6-1AB2F8CDEAB3}"/>
                  </a:ext>
                </a:extLst>
              </p:cNvPr>
              <p:cNvSpPr/>
              <p:nvPr/>
            </p:nvSpPr>
            <p:spPr>
              <a:xfrm>
                <a:off x="4631375" y="2673212"/>
                <a:ext cx="1208285" cy="47548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Break</a:t>
                </a:r>
              </a:p>
            </p:txBody>
          </p: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15620ABD-0637-671C-16C9-C789D60D5BD6}"/>
                  </a:ext>
                </a:extLst>
              </p:cNvPr>
              <p:cNvCxnSpPr>
                <a:stCxn id="28" idx="3"/>
                <a:endCxn id="31" idx="1"/>
              </p:cNvCxnSpPr>
              <p:nvPr/>
            </p:nvCxnSpPr>
            <p:spPr>
              <a:xfrm>
                <a:off x="2403046" y="2927105"/>
                <a:ext cx="590714" cy="0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68DAC710-2A61-0072-F058-D8FF4EC4DF66}"/>
                  </a:ext>
                </a:extLst>
              </p:cNvPr>
              <p:cNvCxnSpPr>
                <a:stCxn id="31" idx="3"/>
                <a:endCxn id="33" idx="1"/>
              </p:cNvCxnSpPr>
              <p:nvPr/>
            </p:nvCxnSpPr>
            <p:spPr>
              <a:xfrm flipV="1">
                <a:off x="4202045" y="2910956"/>
                <a:ext cx="429330" cy="16149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0" name="Group 109">
                <a:extLst>
                  <a:ext uri="{FF2B5EF4-FFF2-40B4-BE49-F238E27FC236}">
                    <a16:creationId xmlns:a16="http://schemas.microsoft.com/office/drawing/2014/main" id="{82DBAB71-D3B3-3904-FE13-886F45A4725A}"/>
                  </a:ext>
                </a:extLst>
              </p:cNvPr>
              <p:cNvGrpSpPr/>
              <p:nvPr/>
            </p:nvGrpSpPr>
            <p:grpSpPr>
              <a:xfrm>
                <a:off x="1488646" y="2612399"/>
                <a:ext cx="914400" cy="629412"/>
                <a:chOff x="1488646" y="2612399"/>
                <a:chExt cx="914400" cy="629412"/>
              </a:xfrm>
            </p:grpSpPr>
            <p:sp>
              <p:nvSpPr>
                <p:cNvPr id="28" name="Flowchart: Decision 27">
                  <a:extLst>
                    <a:ext uri="{FF2B5EF4-FFF2-40B4-BE49-F238E27FC236}">
                      <a16:creationId xmlns:a16="http://schemas.microsoft.com/office/drawing/2014/main" id="{32A99E98-D5F7-9AF4-CE59-19E5A5079EF3}"/>
                    </a:ext>
                  </a:extLst>
                </p:cNvPr>
                <p:cNvSpPr/>
                <p:nvPr/>
              </p:nvSpPr>
              <p:spPr>
                <a:xfrm>
                  <a:off x="1488646" y="2612399"/>
                  <a:ext cx="914400" cy="629412"/>
                </a:xfrm>
                <a:prstGeom prst="flowChartDecision">
                  <a:avLst/>
                </a:prstGeom>
                <a:solidFill>
                  <a:srgbClr val="FF000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 sz="1000" dirty="0"/>
                </a:p>
              </p:txBody>
            </p:sp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660AD381-B593-EDE1-0790-24EE7EA4E8E2}"/>
                    </a:ext>
                  </a:extLst>
                </p:cNvPr>
                <p:cNvSpPr txBox="1"/>
                <p:nvPr/>
              </p:nvSpPr>
              <p:spPr>
                <a:xfrm>
                  <a:off x="1495058" y="2719813"/>
                  <a:ext cx="88838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ZA" dirty="0">
                      <a:solidFill>
                        <a:schemeClr val="bg1"/>
                      </a:solidFill>
                      <a:latin typeface="LM Roman 12" panose="00000500000000000000" pitchFamily="50" charset="0"/>
                    </a:rPr>
                    <a:t>Case B</a:t>
                  </a:r>
                </a:p>
              </p:txBody>
            </p:sp>
          </p:grpSp>
        </p:grpSp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id="{50ED64E2-89A7-F7FB-DF0A-9F4127BF8FB5}"/>
                </a:ext>
              </a:extLst>
            </p:cNvPr>
            <p:cNvGrpSpPr/>
            <p:nvPr/>
          </p:nvGrpSpPr>
          <p:grpSpPr>
            <a:xfrm>
              <a:off x="3335710" y="3542525"/>
              <a:ext cx="4351014" cy="629412"/>
              <a:chOff x="1488646" y="3427388"/>
              <a:chExt cx="4351014" cy="629412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83AA377A-77CA-E6EE-5F75-ADDDBBA9548A}"/>
                  </a:ext>
                </a:extLst>
              </p:cNvPr>
              <p:cNvSpPr/>
              <p:nvPr/>
            </p:nvSpPr>
            <p:spPr>
              <a:xfrm>
                <a:off x="2993760" y="3505207"/>
                <a:ext cx="1208285" cy="47548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Do that action</a:t>
                </a: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272EDA19-72A3-7EE0-1F10-92555E3ED719}"/>
                  </a:ext>
                </a:extLst>
              </p:cNvPr>
              <p:cNvSpPr/>
              <p:nvPr/>
            </p:nvSpPr>
            <p:spPr>
              <a:xfrm>
                <a:off x="4631375" y="3488746"/>
                <a:ext cx="1208285" cy="47548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Break</a:t>
                </a:r>
              </a:p>
            </p:txBody>
          </p: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74BC2CA4-63F2-F785-B85E-4BFAC8B9871F}"/>
                  </a:ext>
                </a:extLst>
              </p:cNvPr>
              <p:cNvCxnSpPr>
                <a:stCxn id="35" idx="3"/>
                <a:endCxn id="37" idx="1"/>
              </p:cNvCxnSpPr>
              <p:nvPr/>
            </p:nvCxnSpPr>
            <p:spPr>
              <a:xfrm>
                <a:off x="2403046" y="3742094"/>
                <a:ext cx="590714" cy="857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EC56F296-E394-38FA-E20A-7F11DFEA066E}"/>
                  </a:ext>
                </a:extLst>
              </p:cNvPr>
              <p:cNvCxnSpPr>
                <a:stCxn id="37" idx="3"/>
                <a:endCxn id="39" idx="1"/>
              </p:cNvCxnSpPr>
              <p:nvPr/>
            </p:nvCxnSpPr>
            <p:spPr>
              <a:xfrm flipV="1">
                <a:off x="4202045" y="3726490"/>
                <a:ext cx="429330" cy="16461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01800830-225D-F14A-C76F-C61D46E5BB27}"/>
                  </a:ext>
                </a:extLst>
              </p:cNvPr>
              <p:cNvGrpSpPr/>
              <p:nvPr/>
            </p:nvGrpSpPr>
            <p:grpSpPr>
              <a:xfrm>
                <a:off x="1488646" y="3427388"/>
                <a:ext cx="914400" cy="629412"/>
                <a:chOff x="1488646" y="3427388"/>
                <a:chExt cx="914400" cy="629412"/>
              </a:xfrm>
            </p:grpSpPr>
            <p:sp>
              <p:nvSpPr>
                <p:cNvPr id="35" name="Flowchart: Decision 34">
                  <a:extLst>
                    <a:ext uri="{FF2B5EF4-FFF2-40B4-BE49-F238E27FC236}">
                      <a16:creationId xmlns:a16="http://schemas.microsoft.com/office/drawing/2014/main" id="{43A71282-2814-B256-EF40-D2D1078092A6}"/>
                    </a:ext>
                  </a:extLst>
                </p:cNvPr>
                <p:cNvSpPr/>
                <p:nvPr/>
              </p:nvSpPr>
              <p:spPr>
                <a:xfrm>
                  <a:off x="1488646" y="3427388"/>
                  <a:ext cx="914400" cy="629412"/>
                </a:xfrm>
                <a:prstGeom prst="flowChartDecision">
                  <a:avLst/>
                </a:prstGeom>
                <a:solidFill>
                  <a:srgbClr val="FF000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 sz="1000" dirty="0"/>
                </a:p>
              </p:txBody>
            </p:sp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CB0C7340-3971-31C2-F852-8805AEDDDFFD}"/>
                    </a:ext>
                  </a:extLst>
                </p:cNvPr>
                <p:cNvSpPr txBox="1"/>
                <p:nvPr/>
              </p:nvSpPr>
              <p:spPr>
                <a:xfrm>
                  <a:off x="1495058" y="3541824"/>
                  <a:ext cx="89159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ZA" dirty="0">
                      <a:solidFill>
                        <a:schemeClr val="bg1"/>
                      </a:solidFill>
                      <a:latin typeface="LM Roman 12" panose="00000500000000000000" pitchFamily="50" charset="0"/>
                    </a:rPr>
                    <a:t>Case C</a:t>
                  </a:r>
                </a:p>
              </p:txBody>
            </p:sp>
          </p:grpSp>
        </p:grpSp>
        <p:grpSp>
          <p:nvGrpSpPr>
            <p:cNvPr id="178" name="Group 177">
              <a:extLst>
                <a:ext uri="{FF2B5EF4-FFF2-40B4-BE49-F238E27FC236}">
                  <a16:creationId xmlns:a16="http://schemas.microsoft.com/office/drawing/2014/main" id="{34586E6D-53E9-8875-B682-BCC93F8BE4E0}"/>
                </a:ext>
              </a:extLst>
            </p:cNvPr>
            <p:cNvGrpSpPr/>
            <p:nvPr/>
          </p:nvGrpSpPr>
          <p:grpSpPr>
            <a:xfrm>
              <a:off x="3342122" y="4725879"/>
              <a:ext cx="4344601" cy="629412"/>
              <a:chOff x="1495058" y="4610742"/>
              <a:chExt cx="4344601" cy="629412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87575955-C515-DE8F-3C8F-076EAC1D8C51}"/>
                  </a:ext>
                </a:extLst>
              </p:cNvPr>
              <p:cNvSpPr/>
              <p:nvPr/>
            </p:nvSpPr>
            <p:spPr>
              <a:xfrm>
                <a:off x="2993759" y="4687704"/>
                <a:ext cx="1208285" cy="47548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default action</a:t>
                </a:r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7B9E64AC-EB8B-3D40-0315-3E5AA356D762}"/>
                  </a:ext>
                </a:extLst>
              </p:cNvPr>
              <p:cNvSpPr/>
              <p:nvPr/>
            </p:nvSpPr>
            <p:spPr>
              <a:xfrm>
                <a:off x="4631374" y="4673066"/>
                <a:ext cx="1208285" cy="47548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Break</a:t>
                </a:r>
              </a:p>
            </p:txBody>
          </p: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BC004767-E409-EFDA-78A8-5858DDD30EEB}"/>
                  </a:ext>
                </a:extLst>
              </p:cNvPr>
              <p:cNvCxnSpPr>
                <a:cxnSpLocks/>
                <a:stCxn id="62" idx="3"/>
                <a:endCxn id="64" idx="1"/>
              </p:cNvCxnSpPr>
              <p:nvPr/>
            </p:nvCxnSpPr>
            <p:spPr>
              <a:xfrm flipV="1">
                <a:off x="4202044" y="4910810"/>
                <a:ext cx="429330" cy="14638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2" name="Group 111">
                <a:extLst>
                  <a:ext uri="{FF2B5EF4-FFF2-40B4-BE49-F238E27FC236}">
                    <a16:creationId xmlns:a16="http://schemas.microsoft.com/office/drawing/2014/main" id="{4DCE42BE-48AB-8D05-563F-EBF5A74961D2}"/>
                  </a:ext>
                </a:extLst>
              </p:cNvPr>
              <p:cNvGrpSpPr/>
              <p:nvPr/>
            </p:nvGrpSpPr>
            <p:grpSpPr>
              <a:xfrm>
                <a:off x="1495058" y="4610742"/>
                <a:ext cx="914400" cy="629412"/>
                <a:chOff x="1455313" y="4599509"/>
                <a:chExt cx="914400" cy="629412"/>
              </a:xfrm>
            </p:grpSpPr>
            <p:sp>
              <p:nvSpPr>
                <p:cNvPr id="82" name="Flowchart: Decision 81">
                  <a:extLst>
                    <a:ext uri="{FF2B5EF4-FFF2-40B4-BE49-F238E27FC236}">
                      <a16:creationId xmlns:a16="http://schemas.microsoft.com/office/drawing/2014/main" id="{0FB89812-599D-CB69-9E95-A197E6308E75}"/>
                    </a:ext>
                  </a:extLst>
                </p:cNvPr>
                <p:cNvSpPr/>
                <p:nvPr/>
              </p:nvSpPr>
              <p:spPr>
                <a:xfrm>
                  <a:off x="1455313" y="4599509"/>
                  <a:ext cx="914400" cy="629412"/>
                </a:xfrm>
                <a:prstGeom prst="flowChartDecision">
                  <a:avLst/>
                </a:prstGeom>
                <a:solidFill>
                  <a:srgbClr val="FF000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 sz="1000" dirty="0"/>
                </a:p>
              </p:txBody>
            </p:sp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20566C65-7135-574A-E347-FDA051E1E12D}"/>
                    </a:ext>
                  </a:extLst>
                </p:cNvPr>
                <p:cNvSpPr txBox="1"/>
                <p:nvPr/>
              </p:nvSpPr>
              <p:spPr>
                <a:xfrm>
                  <a:off x="1494152" y="4714911"/>
                  <a:ext cx="86914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ZA" dirty="0">
                      <a:solidFill>
                        <a:schemeClr val="bg1"/>
                      </a:solidFill>
                      <a:latin typeface="LM Roman 12" panose="00000500000000000000" pitchFamily="50" charset="0"/>
                    </a:rPr>
                    <a:t>default</a:t>
                  </a:r>
                </a:p>
              </p:txBody>
            </p:sp>
          </p:grp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F86FF829-93D3-37CA-2B4B-1BB3D589DB03}"/>
                  </a:ext>
                </a:extLst>
              </p:cNvPr>
              <p:cNvCxnSpPr>
                <a:cxnSpLocks/>
                <a:stCxn id="84" idx="3"/>
                <a:endCxn id="62" idx="1"/>
              </p:cNvCxnSpPr>
              <p:nvPr/>
            </p:nvCxnSpPr>
            <p:spPr>
              <a:xfrm>
                <a:off x="2403046" y="4910810"/>
                <a:ext cx="590713" cy="14638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A21C104D-0A59-ADBF-4930-3EC20AC10A2D}"/>
                </a:ext>
              </a:extLst>
            </p:cNvPr>
            <p:cNvCxnSpPr>
              <a:cxnSpLocks/>
              <a:stCxn id="82" idx="2"/>
              <a:endCxn id="5" idx="0"/>
            </p:cNvCxnSpPr>
            <p:nvPr/>
          </p:nvCxnSpPr>
          <p:spPr>
            <a:xfrm>
              <a:off x="3799322" y="5355291"/>
              <a:ext cx="0" cy="434732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8C40F2AB-597D-3609-C494-CC8FFFE75CD6}"/>
                </a:ext>
              </a:extLst>
            </p:cNvPr>
            <p:cNvCxnSpPr>
              <a:cxnSpLocks/>
              <a:stCxn id="7" idx="2"/>
              <a:endCxn id="28" idx="0"/>
            </p:cNvCxnSpPr>
            <p:nvPr/>
          </p:nvCxnSpPr>
          <p:spPr>
            <a:xfrm>
              <a:off x="3792910" y="2414333"/>
              <a:ext cx="0" cy="313203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6F4A143A-488D-FC84-CC5A-0D782B490849}"/>
                </a:ext>
              </a:extLst>
            </p:cNvPr>
            <p:cNvCxnSpPr>
              <a:cxnSpLocks/>
              <a:stCxn id="28" idx="2"/>
              <a:endCxn id="35" idx="0"/>
            </p:cNvCxnSpPr>
            <p:nvPr/>
          </p:nvCxnSpPr>
          <p:spPr>
            <a:xfrm>
              <a:off x="3792910" y="3356948"/>
              <a:ext cx="0" cy="185577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1FD7A405-A4FA-81D2-D485-C426F6251B26}"/>
                </a:ext>
              </a:extLst>
            </p:cNvPr>
            <p:cNvCxnSpPr>
              <a:cxnSpLocks/>
              <a:stCxn id="35" idx="2"/>
            </p:cNvCxnSpPr>
            <p:nvPr/>
          </p:nvCxnSpPr>
          <p:spPr>
            <a:xfrm>
              <a:off x="3792910" y="4171937"/>
              <a:ext cx="6595" cy="272090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D4F5AE4E-C0ED-9C72-EA42-B81423458A17}"/>
                </a:ext>
              </a:extLst>
            </p:cNvPr>
            <p:cNvCxnSpPr>
              <a:cxnSpLocks/>
              <a:endCxn id="82" idx="0"/>
            </p:cNvCxnSpPr>
            <p:nvPr/>
          </p:nvCxnSpPr>
          <p:spPr>
            <a:xfrm>
              <a:off x="3799322" y="4519497"/>
              <a:ext cx="0" cy="206382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32C01C0A-F8AB-7DB9-9810-16A2EE6586F9}"/>
                </a:ext>
              </a:extLst>
            </p:cNvPr>
            <p:cNvGrpSpPr/>
            <p:nvPr/>
          </p:nvGrpSpPr>
          <p:grpSpPr>
            <a:xfrm>
              <a:off x="3607284" y="4163587"/>
              <a:ext cx="358140" cy="409384"/>
              <a:chOff x="1760220" y="4048450"/>
              <a:chExt cx="358140" cy="409384"/>
            </a:xfrm>
          </p:grpSpPr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7F9AEA12-637B-CC6A-DF4B-0329CC2F56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60220" y="4319884"/>
                <a:ext cx="358140" cy="13795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Arrow Connector 165">
                <a:extLst>
                  <a:ext uri="{FF2B5EF4-FFF2-40B4-BE49-F238E27FC236}">
                    <a16:creationId xmlns:a16="http://schemas.microsoft.com/office/drawing/2014/main" id="{8C22AC15-3799-56EF-2B49-A6E5C1022F67}"/>
                  </a:ext>
                </a:extLst>
              </p:cNvPr>
              <p:cNvCxnSpPr/>
              <p:nvPr/>
            </p:nvCxnSpPr>
            <p:spPr>
              <a:xfrm>
                <a:off x="1961876" y="4048450"/>
                <a:ext cx="6595" cy="272090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1053744A-BF08-5C3A-E76B-16079DCD6A4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60220" y="4259682"/>
                <a:ext cx="358140" cy="14467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ED6887FF-84BF-4DF9-4407-8E21DE9869A3}"/>
                </a:ext>
              </a:extLst>
            </p:cNvPr>
            <p:cNvGrpSpPr/>
            <p:nvPr/>
          </p:nvGrpSpPr>
          <p:grpSpPr>
            <a:xfrm>
              <a:off x="7686723" y="2099627"/>
              <a:ext cx="378261" cy="2940958"/>
              <a:chOff x="5839659" y="1984490"/>
              <a:chExt cx="378261" cy="2940958"/>
            </a:xfrm>
          </p:grpSpPr>
          <p:cxnSp>
            <p:nvCxnSpPr>
              <p:cNvPr id="193" name="Straight Connector 192">
                <a:extLst>
                  <a:ext uri="{FF2B5EF4-FFF2-40B4-BE49-F238E27FC236}">
                    <a16:creationId xmlns:a16="http://schemas.microsoft.com/office/drawing/2014/main" id="{FCB9C8E0-8E4F-6A4B-FA72-CA63FA44C7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39659" y="4925448"/>
                <a:ext cx="378261" cy="0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>
                <a:extLst>
                  <a:ext uri="{FF2B5EF4-FFF2-40B4-BE49-F238E27FC236}">
                    <a16:creationId xmlns:a16="http://schemas.microsoft.com/office/drawing/2014/main" id="{6A417721-3983-C563-A6E9-4A22743C2E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39659" y="3722400"/>
                <a:ext cx="378261" cy="0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>
                <a:extLst>
                  <a:ext uri="{FF2B5EF4-FFF2-40B4-BE49-F238E27FC236}">
                    <a16:creationId xmlns:a16="http://schemas.microsoft.com/office/drawing/2014/main" id="{F4E68DB2-2AF1-1E54-52C3-A286FFC227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39659" y="2922560"/>
                <a:ext cx="378261" cy="0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F05215C5-ED2D-E285-F0D0-1147AA524B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39659" y="2003260"/>
                <a:ext cx="378261" cy="0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>
                <a:extLst>
                  <a:ext uri="{FF2B5EF4-FFF2-40B4-BE49-F238E27FC236}">
                    <a16:creationId xmlns:a16="http://schemas.microsoft.com/office/drawing/2014/main" id="{8B610927-A31B-7C6C-F822-253945A4D433}"/>
                  </a:ext>
                </a:extLst>
              </p:cNvPr>
              <p:cNvCxnSpPr/>
              <p:nvPr/>
            </p:nvCxnSpPr>
            <p:spPr>
              <a:xfrm>
                <a:off x="6217920" y="1984490"/>
                <a:ext cx="0" cy="2940958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A58D7E69-6B51-7696-B1CD-B11E5C7017BE}"/>
                </a:ext>
              </a:extLst>
            </p:cNvPr>
            <p:cNvSpPr txBox="1"/>
            <p:nvPr/>
          </p:nvSpPr>
          <p:spPr>
            <a:xfrm>
              <a:off x="3965424" y="1454453"/>
              <a:ext cx="44807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2000" b="1" dirty="0">
                  <a:latin typeface="LM Roman 12" panose="00000500000000000000" pitchFamily="50" charset="0"/>
                </a:rPr>
                <a:t>when this case is true…do this action</a:t>
              </a: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26512419-683C-8691-6926-7B91D99CF19D}"/>
                </a:ext>
              </a:extLst>
            </p:cNvPr>
            <p:cNvSpPr txBox="1"/>
            <p:nvPr/>
          </p:nvSpPr>
          <p:spPr>
            <a:xfrm>
              <a:off x="3889866" y="4419417"/>
              <a:ext cx="393889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2000" b="1" dirty="0">
                  <a:latin typeface="LM Roman 12" panose="00000500000000000000" pitchFamily="50" charset="0"/>
                </a:rPr>
                <a:t>Otherwise do this default action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44342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51D81-DB9D-BF4E-4030-39EEA2EAA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183AB975-032D-EB58-DC0E-47DE5EC4D6F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183AB975-032D-EB58-DC0E-47DE5EC4D6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606D88EA-9352-5A6C-C18F-E3B4CF90ECA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36D058C-D0CA-93C1-E7E3-8312B58B62D4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4	pg. 53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05288AB-300F-FBB1-61BE-3EDB111C140C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48C7E4C-F2B3-C8F1-CDD5-FF094C5CA62A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76B4266-8A47-FA27-EF53-7156FAE1140C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2B074C9B-D7B6-02F6-6B27-C6ED4111521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0F9A0E7-81C7-FA7B-519A-99A1EACEC229}"/>
                </a:ext>
              </a:extLst>
            </p:cNvPr>
            <p:cNvSpPr txBox="1"/>
            <p:nvPr/>
          </p:nvSpPr>
          <p:spPr>
            <a:xfrm>
              <a:off x="2488042" y="184666"/>
              <a:ext cx="72825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05 August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456F8AFA-B5EB-F135-BBDF-8749F4BBBDA3}"/>
              </a:ext>
            </a:extLst>
          </p:cNvPr>
          <p:cNvSpPr/>
          <p:nvPr/>
        </p:nvSpPr>
        <p:spPr>
          <a:xfrm>
            <a:off x="3329940" y="584240"/>
            <a:ext cx="6027420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00B0F0"/>
                </a:solidFill>
                <a:latin typeface="LM Roman 12" panose="00000500000000000000" pitchFamily="50" charset="0"/>
              </a:rPr>
              <a:t>switch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 multiple-selection statement I</a:t>
            </a:r>
          </a:p>
        </p:txBody>
      </p: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AC8F7EFD-F9A5-75BE-03CF-BC937B219D5D}"/>
              </a:ext>
            </a:extLst>
          </p:cNvPr>
          <p:cNvGrpSpPr/>
          <p:nvPr/>
        </p:nvGrpSpPr>
        <p:grpSpPr>
          <a:xfrm>
            <a:off x="1352484" y="1126935"/>
            <a:ext cx="5110428" cy="5166445"/>
            <a:chOff x="3335710" y="1099066"/>
            <a:chExt cx="5110428" cy="5166445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80E31BF-9D74-7160-7E71-041C578C88DF}"/>
                </a:ext>
              </a:extLst>
            </p:cNvPr>
            <p:cNvSpPr/>
            <p:nvPr/>
          </p:nvSpPr>
          <p:spPr>
            <a:xfrm>
              <a:off x="3342122" y="1099066"/>
              <a:ext cx="914400" cy="47548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start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495B6C8-4798-A01C-1D82-546A22FB7BC7}"/>
                </a:ext>
              </a:extLst>
            </p:cNvPr>
            <p:cNvSpPr/>
            <p:nvPr/>
          </p:nvSpPr>
          <p:spPr>
            <a:xfrm>
              <a:off x="3342122" y="5790023"/>
              <a:ext cx="914400" cy="47548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end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1CC9F226-15E8-94BF-69CC-C89B145C1F47}"/>
                </a:ext>
              </a:extLst>
            </p:cNvPr>
            <p:cNvCxnSpPr>
              <a:cxnSpLocks/>
              <a:stCxn id="3" idx="4"/>
              <a:endCxn id="7" idx="0"/>
            </p:cNvCxnSpPr>
            <p:nvPr/>
          </p:nvCxnSpPr>
          <p:spPr>
            <a:xfrm flipH="1">
              <a:off x="3792910" y="1574554"/>
              <a:ext cx="6412" cy="210367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D3488BC1-0239-0DCA-3FCE-84BD1B7F4811}"/>
                </a:ext>
              </a:extLst>
            </p:cNvPr>
            <p:cNvGrpSpPr/>
            <p:nvPr/>
          </p:nvGrpSpPr>
          <p:grpSpPr>
            <a:xfrm>
              <a:off x="3335710" y="1784921"/>
              <a:ext cx="4351014" cy="629412"/>
              <a:chOff x="1488646" y="1669784"/>
              <a:chExt cx="4351014" cy="629412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5F09C93-EACB-4B8E-67E9-F4ADECE79EEB}"/>
                  </a:ext>
                </a:extLst>
              </p:cNvPr>
              <p:cNvSpPr/>
              <p:nvPr/>
            </p:nvSpPr>
            <p:spPr>
              <a:xfrm>
                <a:off x="2993760" y="1735055"/>
                <a:ext cx="1208285" cy="47548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Do this action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64850071-BD30-F01D-D012-FE5FEC47DF70}"/>
                  </a:ext>
                </a:extLst>
              </p:cNvPr>
              <p:cNvSpPr/>
              <p:nvPr/>
            </p:nvSpPr>
            <p:spPr>
              <a:xfrm>
                <a:off x="4631375" y="1746746"/>
                <a:ext cx="1208285" cy="47548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Break</a:t>
                </a:r>
                <a:endParaRPr lang="en-ZA" dirty="0"/>
              </a:p>
            </p:txBody>
          </p: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2D73913D-B676-8B33-92FC-2491B1A6FEFC}"/>
                  </a:ext>
                </a:extLst>
              </p:cNvPr>
              <p:cNvCxnSpPr>
                <a:stCxn id="7" idx="3"/>
                <a:endCxn id="12" idx="1"/>
              </p:cNvCxnSpPr>
              <p:nvPr/>
            </p:nvCxnSpPr>
            <p:spPr>
              <a:xfrm flipV="1">
                <a:off x="2403046" y="1972799"/>
                <a:ext cx="590714" cy="11691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F0C800BA-BBD9-6820-DF18-A1A39365863D}"/>
                  </a:ext>
                </a:extLst>
              </p:cNvPr>
              <p:cNvCxnSpPr>
                <a:stCxn id="12" idx="3"/>
                <a:endCxn id="23" idx="1"/>
              </p:cNvCxnSpPr>
              <p:nvPr/>
            </p:nvCxnSpPr>
            <p:spPr>
              <a:xfrm>
                <a:off x="4202045" y="1972799"/>
                <a:ext cx="429330" cy="11691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9" name="Group 108">
                <a:extLst>
                  <a:ext uri="{FF2B5EF4-FFF2-40B4-BE49-F238E27FC236}">
                    <a16:creationId xmlns:a16="http://schemas.microsoft.com/office/drawing/2014/main" id="{5A2B7CB4-EC0D-BEC0-8103-0C58E9C7F899}"/>
                  </a:ext>
                </a:extLst>
              </p:cNvPr>
              <p:cNvGrpSpPr/>
              <p:nvPr/>
            </p:nvGrpSpPr>
            <p:grpSpPr>
              <a:xfrm>
                <a:off x="1488646" y="1669784"/>
                <a:ext cx="914400" cy="629412"/>
                <a:chOff x="1465837" y="1712996"/>
                <a:chExt cx="914400" cy="629412"/>
              </a:xfrm>
            </p:grpSpPr>
            <p:sp>
              <p:nvSpPr>
                <p:cNvPr id="7" name="Flowchart: Decision 6">
                  <a:extLst>
                    <a:ext uri="{FF2B5EF4-FFF2-40B4-BE49-F238E27FC236}">
                      <a16:creationId xmlns:a16="http://schemas.microsoft.com/office/drawing/2014/main" id="{74ED7422-05BF-9319-9098-597E4DBF5FEB}"/>
                    </a:ext>
                  </a:extLst>
                </p:cNvPr>
                <p:cNvSpPr/>
                <p:nvPr/>
              </p:nvSpPr>
              <p:spPr>
                <a:xfrm>
                  <a:off x="1465837" y="1712996"/>
                  <a:ext cx="914400" cy="629412"/>
                </a:xfrm>
                <a:prstGeom prst="flowChartDecision">
                  <a:avLst/>
                </a:prstGeom>
                <a:solidFill>
                  <a:srgbClr val="FF000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 sz="1000" dirty="0"/>
                </a:p>
              </p:txBody>
            </p:sp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19500EC7-A306-B384-CB7F-901FC59552BB}"/>
                    </a:ext>
                  </a:extLst>
                </p:cNvPr>
                <p:cNvSpPr txBox="1"/>
                <p:nvPr/>
              </p:nvSpPr>
              <p:spPr>
                <a:xfrm>
                  <a:off x="1472249" y="1813169"/>
                  <a:ext cx="89800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ZA" dirty="0">
                      <a:solidFill>
                        <a:schemeClr val="bg1"/>
                      </a:solidFill>
                      <a:latin typeface="LM Roman 12" panose="00000500000000000000" pitchFamily="50" charset="0"/>
                    </a:rPr>
                    <a:t>Case A</a:t>
                  </a:r>
                </a:p>
              </p:txBody>
            </p:sp>
          </p:grpSp>
        </p:grpSp>
        <p:grpSp>
          <p:nvGrpSpPr>
            <p:cNvPr id="176" name="Group 175">
              <a:extLst>
                <a:ext uri="{FF2B5EF4-FFF2-40B4-BE49-F238E27FC236}">
                  <a16:creationId xmlns:a16="http://schemas.microsoft.com/office/drawing/2014/main" id="{D6D3F1D1-8D68-EA18-2B9A-9634A8CA8ECE}"/>
                </a:ext>
              </a:extLst>
            </p:cNvPr>
            <p:cNvGrpSpPr/>
            <p:nvPr/>
          </p:nvGrpSpPr>
          <p:grpSpPr>
            <a:xfrm>
              <a:off x="3335710" y="2727536"/>
              <a:ext cx="4351014" cy="629412"/>
              <a:chOff x="1488646" y="2612399"/>
              <a:chExt cx="4351014" cy="629412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058CA187-D1F2-4E07-4CE4-4B854421688C}"/>
                  </a:ext>
                </a:extLst>
              </p:cNvPr>
              <p:cNvSpPr/>
              <p:nvPr/>
            </p:nvSpPr>
            <p:spPr>
              <a:xfrm>
                <a:off x="2993760" y="2689361"/>
                <a:ext cx="1208285" cy="47548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Do that action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772ED661-5C0C-0AFC-FE43-CE879B232925}"/>
                  </a:ext>
                </a:extLst>
              </p:cNvPr>
              <p:cNvSpPr/>
              <p:nvPr/>
            </p:nvSpPr>
            <p:spPr>
              <a:xfrm>
                <a:off x="4631375" y="2673212"/>
                <a:ext cx="1208285" cy="47548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Break</a:t>
                </a:r>
              </a:p>
            </p:txBody>
          </p: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0240F96B-D0DA-1C58-FC79-A07DC3CE8CD0}"/>
                  </a:ext>
                </a:extLst>
              </p:cNvPr>
              <p:cNvCxnSpPr>
                <a:stCxn id="28" idx="3"/>
                <a:endCxn id="31" idx="1"/>
              </p:cNvCxnSpPr>
              <p:nvPr/>
            </p:nvCxnSpPr>
            <p:spPr>
              <a:xfrm>
                <a:off x="2403046" y="2927105"/>
                <a:ext cx="590714" cy="0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29D3E5DF-0883-A9B7-DBCB-FB9F79C72E11}"/>
                  </a:ext>
                </a:extLst>
              </p:cNvPr>
              <p:cNvCxnSpPr>
                <a:stCxn id="31" idx="3"/>
                <a:endCxn id="33" idx="1"/>
              </p:cNvCxnSpPr>
              <p:nvPr/>
            </p:nvCxnSpPr>
            <p:spPr>
              <a:xfrm flipV="1">
                <a:off x="4202045" y="2910956"/>
                <a:ext cx="429330" cy="16149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0" name="Group 109">
                <a:extLst>
                  <a:ext uri="{FF2B5EF4-FFF2-40B4-BE49-F238E27FC236}">
                    <a16:creationId xmlns:a16="http://schemas.microsoft.com/office/drawing/2014/main" id="{A6328600-8904-0FD8-9659-30AE94C2517F}"/>
                  </a:ext>
                </a:extLst>
              </p:cNvPr>
              <p:cNvGrpSpPr/>
              <p:nvPr/>
            </p:nvGrpSpPr>
            <p:grpSpPr>
              <a:xfrm>
                <a:off x="1488646" y="2612399"/>
                <a:ext cx="914400" cy="629412"/>
                <a:chOff x="1488646" y="2612399"/>
                <a:chExt cx="914400" cy="629412"/>
              </a:xfrm>
            </p:grpSpPr>
            <p:sp>
              <p:nvSpPr>
                <p:cNvPr id="28" name="Flowchart: Decision 27">
                  <a:extLst>
                    <a:ext uri="{FF2B5EF4-FFF2-40B4-BE49-F238E27FC236}">
                      <a16:creationId xmlns:a16="http://schemas.microsoft.com/office/drawing/2014/main" id="{87F63558-C958-3630-D759-8DD1689F4E11}"/>
                    </a:ext>
                  </a:extLst>
                </p:cNvPr>
                <p:cNvSpPr/>
                <p:nvPr/>
              </p:nvSpPr>
              <p:spPr>
                <a:xfrm>
                  <a:off x="1488646" y="2612399"/>
                  <a:ext cx="914400" cy="629412"/>
                </a:xfrm>
                <a:prstGeom prst="flowChartDecision">
                  <a:avLst/>
                </a:prstGeom>
                <a:solidFill>
                  <a:srgbClr val="FF000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 sz="1000" dirty="0"/>
                </a:p>
              </p:txBody>
            </p:sp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BA7397F5-40C7-7FEC-6E12-43289DE4D8A1}"/>
                    </a:ext>
                  </a:extLst>
                </p:cNvPr>
                <p:cNvSpPr txBox="1"/>
                <p:nvPr/>
              </p:nvSpPr>
              <p:spPr>
                <a:xfrm>
                  <a:off x="1495058" y="2719813"/>
                  <a:ext cx="88838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ZA" dirty="0">
                      <a:solidFill>
                        <a:schemeClr val="bg1"/>
                      </a:solidFill>
                      <a:latin typeface="LM Roman 12" panose="00000500000000000000" pitchFamily="50" charset="0"/>
                    </a:rPr>
                    <a:t>Case B</a:t>
                  </a:r>
                </a:p>
              </p:txBody>
            </p:sp>
          </p:grpSp>
        </p:grpSp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id="{98A8B434-8D02-B2CB-6D2C-18DA36969FFA}"/>
                </a:ext>
              </a:extLst>
            </p:cNvPr>
            <p:cNvGrpSpPr/>
            <p:nvPr/>
          </p:nvGrpSpPr>
          <p:grpSpPr>
            <a:xfrm>
              <a:off x="3335710" y="3542525"/>
              <a:ext cx="4351014" cy="629412"/>
              <a:chOff x="1488646" y="3427388"/>
              <a:chExt cx="4351014" cy="629412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AEBBD8C2-5FD1-D587-66EF-130B7A48A515}"/>
                  </a:ext>
                </a:extLst>
              </p:cNvPr>
              <p:cNvSpPr/>
              <p:nvPr/>
            </p:nvSpPr>
            <p:spPr>
              <a:xfrm>
                <a:off x="2993760" y="3505207"/>
                <a:ext cx="1208285" cy="47548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Do that action</a:t>
                </a: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77FC99B1-D000-69F7-DA7A-6B07FAD9071D}"/>
                  </a:ext>
                </a:extLst>
              </p:cNvPr>
              <p:cNvSpPr/>
              <p:nvPr/>
            </p:nvSpPr>
            <p:spPr>
              <a:xfrm>
                <a:off x="4631375" y="3488746"/>
                <a:ext cx="1208285" cy="47548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Break</a:t>
                </a:r>
              </a:p>
            </p:txBody>
          </p: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0C4493CF-0C57-62C4-749E-098EE4F6F9A5}"/>
                  </a:ext>
                </a:extLst>
              </p:cNvPr>
              <p:cNvCxnSpPr>
                <a:stCxn id="35" idx="3"/>
                <a:endCxn id="37" idx="1"/>
              </p:cNvCxnSpPr>
              <p:nvPr/>
            </p:nvCxnSpPr>
            <p:spPr>
              <a:xfrm>
                <a:off x="2403046" y="3742094"/>
                <a:ext cx="590714" cy="857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29F73098-7FCB-085B-D3A6-3B556292E45C}"/>
                  </a:ext>
                </a:extLst>
              </p:cNvPr>
              <p:cNvCxnSpPr>
                <a:stCxn id="37" idx="3"/>
                <a:endCxn id="39" idx="1"/>
              </p:cNvCxnSpPr>
              <p:nvPr/>
            </p:nvCxnSpPr>
            <p:spPr>
              <a:xfrm flipV="1">
                <a:off x="4202045" y="3726490"/>
                <a:ext cx="429330" cy="16461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28963409-774F-FC6A-D065-0B3AA536369C}"/>
                  </a:ext>
                </a:extLst>
              </p:cNvPr>
              <p:cNvGrpSpPr/>
              <p:nvPr/>
            </p:nvGrpSpPr>
            <p:grpSpPr>
              <a:xfrm>
                <a:off x="1488646" y="3427388"/>
                <a:ext cx="914400" cy="629412"/>
                <a:chOff x="1488646" y="3427388"/>
                <a:chExt cx="914400" cy="629412"/>
              </a:xfrm>
            </p:grpSpPr>
            <p:sp>
              <p:nvSpPr>
                <p:cNvPr id="35" name="Flowchart: Decision 34">
                  <a:extLst>
                    <a:ext uri="{FF2B5EF4-FFF2-40B4-BE49-F238E27FC236}">
                      <a16:creationId xmlns:a16="http://schemas.microsoft.com/office/drawing/2014/main" id="{874BE6E8-8EEE-928F-1340-B38222C244BA}"/>
                    </a:ext>
                  </a:extLst>
                </p:cNvPr>
                <p:cNvSpPr/>
                <p:nvPr/>
              </p:nvSpPr>
              <p:spPr>
                <a:xfrm>
                  <a:off x="1488646" y="3427388"/>
                  <a:ext cx="914400" cy="629412"/>
                </a:xfrm>
                <a:prstGeom prst="flowChartDecision">
                  <a:avLst/>
                </a:prstGeom>
                <a:solidFill>
                  <a:srgbClr val="FF000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 sz="1000" dirty="0"/>
                </a:p>
              </p:txBody>
            </p:sp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FD9657AD-AB68-842A-1051-1A71F5495604}"/>
                    </a:ext>
                  </a:extLst>
                </p:cNvPr>
                <p:cNvSpPr txBox="1"/>
                <p:nvPr/>
              </p:nvSpPr>
              <p:spPr>
                <a:xfrm>
                  <a:off x="1495058" y="3541824"/>
                  <a:ext cx="89159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ZA" dirty="0">
                      <a:solidFill>
                        <a:schemeClr val="bg1"/>
                      </a:solidFill>
                      <a:latin typeface="LM Roman 12" panose="00000500000000000000" pitchFamily="50" charset="0"/>
                    </a:rPr>
                    <a:t>Case C</a:t>
                  </a:r>
                </a:p>
              </p:txBody>
            </p:sp>
          </p:grpSp>
        </p:grpSp>
        <p:grpSp>
          <p:nvGrpSpPr>
            <p:cNvPr id="178" name="Group 177">
              <a:extLst>
                <a:ext uri="{FF2B5EF4-FFF2-40B4-BE49-F238E27FC236}">
                  <a16:creationId xmlns:a16="http://schemas.microsoft.com/office/drawing/2014/main" id="{C0B83148-9E00-EFF3-1ACE-CD38F870B785}"/>
                </a:ext>
              </a:extLst>
            </p:cNvPr>
            <p:cNvGrpSpPr/>
            <p:nvPr/>
          </p:nvGrpSpPr>
          <p:grpSpPr>
            <a:xfrm>
              <a:off x="3342122" y="4725879"/>
              <a:ext cx="4344601" cy="629412"/>
              <a:chOff x="1495058" y="4610742"/>
              <a:chExt cx="4344601" cy="629412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33B1E29C-2513-EBA9-73E6-B62B2B9989FF}"/>
                  </a:ext>
                </a:extLst>
              </p:cNvPr>
              <p:cNvSpPr/>
              <p:nvPr/>
            </p:nvSpPr>
            <p:spPr>
              <a:xfrm>
                <a:off x="2993759" y="4687704"/>
                <a:ext cx="1208285" cy="47548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default action</a:t>
                </a:r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29F4935C-8279-CC21-375D-DC7D3D750F52}"/>
                  </a:ext>
                </a:extLst>
              </p:cNvPr>
              <p:cNvSpPr/>
              <p:nvPr/>
            </p:nvSpPr>
            <p:spPr>
              <a:xfrm>
                <a:off x="4631374" y="4673066"/>
                <a:ext cx="1208285" cy="47548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Break</a:t>
                </a:r>
              </a:p>
            </p:txBody>
          </p: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C4846E86-649C-506C-B2E7-A7688B1B4A52}"/>
                  </a:ext>
                </a:extLst>
              </p:cNvPr>
              <p:cNvCxnSpPr>
                <a:cxnSpLocks/>
                <a:stCxn id="62" idx="3"/>
                <a:endCxn id="64" idx="1"/>
              </p:cNvCxnSpPr>
              <p:nvPr/>
            </p:nvCxnSpPr>
            <p:spPr>
              <a:xfrm flipV="1">
                <a:off x="4202044" y="4910810"/>
                <a:ext cx="429330" cy="14638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2" name="Group 111">
                <a:extLst>
                  <a:ext uri="{FF2B5EF4-FFF2-40B4-BE49-F238E27FC236}">
                    <a16:creationId xmlns:a16="http://schemas.microsoft.com/office/drawing/2014/main" id="{C4A2BB8D-3DDC-13E0-4650-2D81DA208431}"/>
                  </a:ext>
                </a:extLst>
              </p:cNvPr>
              <p:cNvGrpSpPr/>
              <p:nvPr/>
            </p:nvGrpSpPr>
            <p:grpSpPr>
              <a:xfrm>
                <a:off x="1495058" y="4610742"/>
                <a:ext cx="914400" cy="629412"/>
                <a:chOff x="1455313" y="4599509"/>
                <a:chExt cx="914400" cy="629412"/>
              </a:xfrm>
            </p:grpSpPr>
            <p:sp>
              <p:nvSpPr>
                <p:cNvPr id="82" name="Flowchart: Decision 81">
                  <a:extLst>
                    <a:ext uri="{FF2B5EF4-FFF2-40B4-BE49-F238E27FC236}">
                      <a16:creationId xmlns:a16="http://schemas.microsoft.com/office/drawing/2014/main" id="{9EDF2B30-5933-D017-7773-451F9DD242F5}"/>
                    </a:ext>
                  </a:extLst>
                </p:cNvPr>
                <p:cNvSpPr/>
                <p:nvPr/>
              </p:nvSpPr>
              <p:spPr>
                <a:xfrm>
                  <a:off x="1455313" y="4599509"/>
                  <a:ext cx="914400" cy="629412"/>
                </a:xfrm>
                <a:prstGeom prst="flowChartDecision">
                  <a:avLst/>
                </a:prstGeom>
                <a:solidFill>
                  <a:srgbClr val="FF000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 sz="1000" dirty="0"/>
                </a:p>
              </p:txBody>
            </p:sp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0BC55FE2-8B75-6530-416B-3CD62C21FBAE}"/>
                    </a:ext>
                  </a:extLst>
                </p:cNvPr>
                <p:cNvSpPr txBox="1"/>
                <p:nvPr/>
              </p:nvSpPr>
              <p:spPr>
                <a:xfrm>
                  <a:off x="1494152" y="4714911"/>
                  <a:ext cx="86914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ZA" dirty="0">
                      <a:solidFill>
                        <a:schemeClr val="bg1"/>
                      </a:solidFill>
                      <a:latin typeface="LM Roman 12" panose="00000500000000000000" pitchFamily="50" charset="0"/>
                    </a:rPr>
                    <a:t>default</a:t>
                  </a:r>
                </a:p>
              </p:txBody>
            </p:sp>
          </p:grp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E3288B69-AE7A-8B56-069A-AB7F7FC228CB}"/>
                  </a:ext>
                </a:extLst>
              </p:cNvPr>
              <p:cNvCxnSpPr>
                <a:cxnSpLocks/>
                <a:stCxn id="84" idx="3"/>
                <a:endCxn id="62" idx="1"/>
              </p:cNvCxnSpPr>
              <p:nvPr/>
            </p:nvCxnSpPr>
            <p:spPr>
              <a:xfrm>
                <a:off x="2403046" y="4910810"/>
                <a:ext cx="590713" cy="14638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86F906E7-30C6-2E8D-7A68-ED55D5700EFB}"/>
                </a:ext>
              </a:extLst>
            </p:cNvPr>
            <p:cNvCxnSpPr>
              <a:cxnSpLocks/>
              <a:stCxn id="82" idx="2"/>
              <a:endCxn id="5" idx="0"/>
            </p:cNvCxnSpPr>
            <p:nvPr/>
          </p:nvCxnSpPr>
          <p:spPr>
            <a:xfrm>
              <a:off x="3799322" y="5355291"/>
              <a:ext cx="0" cy="434732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36FF84E1-1ED6-FF4A-392B-14DF9CD14D79}"/>
                </a:ext>
              </a:extLst>
            </p:cNvPr>
            <p:cNvCxnSpPr>
              <a:cxnSpLocks/>
              <a:stCxn id="7" idx="2"/>
              <a:endCxn id="28" idx="0"/>
            </p:cNvCxnSpPr>
            <p:nvPr/>
          </p:nvCxnSpPr>
          <p:spPr>
            <a:xfrm>
              <a:off x="3792910" y="2414333"/>
              <a:ext cx="0" cy="313203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953B8FE2-A66A-FFA2-3DAE-E7552FCB0955}"/>
                </a:ext>
              </a:extLst>
            </p:cNvPr>
            <p:cNvCxnSpPr>
              <a:cxnSpLocks/>
              <a:stCxn id="28" idx="2"/>
              <a:endCxn id="35" idx="0"/>
            </p:cNvCxnSpPr>
            <p:nvPr/>
          </p:nvCxnSpPr>
          <p:spPr>
            <a:xfrm>
              <a:off x="3792910" y="3356948"/>
              <a:ext cx="0" cy="185577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D488152A-1DF3-8B41-C03D-AE99D98CD719}"/>
                </a:ext>
              </a:extLst>
            </p:cNvPr>
            <p:cNvCxnSpPr>
              <a:cxnSpLocks/>
              <a:stCxn id="35" idx="2"/>
            </p:cNvCxnSpPr>
            <p:nvPr/>
          </p:nvCxnSpPr>
          <p:spPr>
            <a:xfrm>
              <a:off x="3792910" y="4171937"/>
              <a:ext cx="6595" cy="272090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0EF66C47-A91A-4884-8A74-7954AACC53A0}"/>
                </a:ext>
              </a:extLst>
            </p:cNvPr>
            <p:cNvCxnSpPr>
              <a:cxnSpLocks/>
              <a:endCxn id="82" idx="0"/>
            </p:cNvCxnSpPr>
            <p:nvPr/>
          </p:nvCxnSpPr>
          <p:spPr>
            <a:xfrm>
              <a:off x="3799322" y="4519497"/>
              <a:ext cx="0" cy="206382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D331289C-AD0D-28C6-DF14-2ED71EC3F99C}"/>
                </a:ext>
              </a:extLst>
            </p:cNvPr>
            <p:cNvGrpSpPr/>
            <p:nvPr/>
          </p:nvGrpSpPr>
          <p:grpSpPr>
            <a:xfrm>
              <a:off x="3607284" y="4163587"/>
              <a:ext cx="358140" cy="409384"/>
              <a:chOff x="1760220" y="4048450"/>
              <a:chExt cx="358140" cy="409384"/>
            </a:xfrm>
          </p:grpSpPr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ABB5D2D0-DEEA-B6DD-1D16-2C43AC98741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60220" y="4319884"/>
                <a:ext cx="358140" cy="13795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Arrow Connector 165">
                <a:extLst>
                  <a:ext uri="{FF2B5EF4-FFF2-40B4-BE49-F238E27FC236}">
                    <a16:creationId xmlns:a16="http://schemas.microsoft.com/office/drawing/2014/main" id="{D6121579-14FA-9E9D-9C43-AD71EC343F92}"/>
                  </a:ext>
                </a:extLst>
              </p:cNvPr>
              <p:cNvCxnSpPr/>
              <p:nvPr/>
            </p:nvCxnSpPr>
            <p:spPr>
              <a:xfrm>
                <a:off x="1961876" y="4048450"/>
                <a:ext cx="6595" cy="272090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AAE57788-4CD7-D44B-FEB0-AE37838B7A7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60220" y="4259682"/>
                <a:ext cx="358140" cy="14467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2CD029B0-3804-B037-3DF9-CC5A34E871CA}"/>
                </a:ext>
              </a:extLst>
            </p:cNvPr>
            <p:cNvGrpSpPr/>
            <p:nvPr/>
          </p:nvGrpSpPr>
          <p:grpSpPr>
            <a:xfrm>
              <a:off x="7686723" y="2099627"/>
              <a:ext cx="378261" cy="2940958"/>
              <a:chOff x="5839659" y="1984490"/>
              <a:chExt cx="378261" cy="2940958"/>
            </a:xfrm>
          </p:grpSpPr>
          <p:cxnSp>
            <p:nvCxnSpPr>
              <p:cNvPr id="193" name="Straight Connector 192">
                <a:extLst>
                  <a:ext uri="{FF2B5EF4-FFF2-40B4-BE49-F238E27FC236}">
                    <a16:creationId xmlns:a16="http://schemas.microsoft.com/office/drawing/2014/main" id="{054BD616-E632-2435-9BDC-035092FBD2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39659" y="4925448"/>
                <a:ext cx="378261" cy="0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>
                <a:extLst>
                  <a:ext uri="{FF2B5EF4-FFF2-40B4-BE49-F238E27FC236}">
                    <a16:creationId xmlns:a16="http://schemas.microsoft.com/office/drawing/2014/main" id="{1DE635DB-465C-A3AF-0138-EB9BDC4E02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39659" y="3722400"/>
                <a:ext cx="378261" cy="0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>
                <a:extLst>
                  <a:ext uri="{FF2B5EF4-FFF2-40B4-BE49-F238E27FC236}">
                    <a16:creationId xmlns:a16="http://schemas.microsoft.com/office/drawing/2014/main" id="{87598555-A495-5121-4B20-A91228AFBE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39659" y="2922560"/>
                <a:ext cx="378261" cy="0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4EF0AEBF-96AE-B9F3-DE3B-E152FFA7E9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39659" y="2003260"/>
                <a:ext cx="378261" cy="0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>
                <a:extLst>
                  <a:ext uri="{FF2B5EF4-FFF2-40B4-BE49-F238E27FC236}">
                    <a16:creationId xmlns:a16="http://schemas.microsoft.com/office/drawing/2014/main" id="{F0F25F42-EB0A-2DB7-8D95-E618ABCB9938}"/>
                  </a:ext>
                </a:extLst>
              </p:cNvPr>
              <p:cNvCxnSpPr/>
              <p:nvPr/>
            </p:nvCxnSpPr>
            <p:spPr>
              <a:xfrm>
                <a:off x="6217920" y="1984490"/>
                <a:ext cx="0" cy="2940958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34DAC9CF-A6C1-B887-855D-D5E6C3ED0030}"/>
                </a:ext>
              </a:extLst>
            </p:cNvPr>
            <p:cNvSpPr txBox="1"/>
            <p:nvPr/>
          </p:nvSpPr>
          <p:spPr>
            <a:xfrm>
              <a:off x="3965424" y="1454453"/>
              <a:ext cx="44807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2000" b="1" dirty="0">
                  <a:latin typeface="LM Roman 12" panose="00000500000000000000" pitchFamily="50" charset="0"/>
                </a:rPr>
                <a:t>when this case is true…do this action</a:t>
              </a: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92A1C2B5-60AE-3A3A-6BA8-28C508C0279E}"/>
                </a:ext>
              </a:extLst>
            </p:cNvPr>
            <p:cNvSpPr txBox="1"/>
            <p:nvPr/>
          </p:nvSpPr>
          <p:spPr>
            <a:xfrm>
              <a:off x="3889866" y="4419417"/>
              <a:ext cx="393889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2000" b="1" dirty="0">
                  <a:latin typeface="LM Roman 12" panose="00000500000000000000" pitchFamily="50" charset="0"/>
                </a:rPr>
                <a:t>Otherwise do this default action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3857FD5F-88D2-FDAC-5051-F549D2EBA4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6348" y="1637050"/>
            <a:ext cx="5289865" cy="20961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635E9AA-A68D-071D-F7E6-12CEAE087CD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8957" y="3919795"/>
            <a:ext cx="5616427" cy="81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6132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90645-8896-9226-DEAC-749D8CC3D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C8908473-7C0E-FDDB-046A-A6C5C8E543E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C8908473-7C0E-FDDB-046A-A6C5C8E543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47059CFC-6FF1-39E5-65F7-D64B5702BB7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C07169B-4792-6178-62AA-DB82B17E826B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4	pg. 54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9723DB4-B4E2-E720-8D1A-85ACBBBED538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C78F917-943A-090C-E1EC-EED798B78509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6757460-DC9D-E793-F80F-B546A07AD027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34DB0B6A-612D-F3E7-B7E4-2393ED4C54D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B54B7D8-AB29-33CB-2E25-A86208DA09C5}"/>
                </a:ext>
              </a:extLst>
            </p:cNvPr>
            <p:cNvSpPr txBox="1"/>
            <p:nvPr/>
          </p:nvSpPr>
          <p:spPr>
            <a:xfrm>
              <a:off x="2488042" y="184666"/>
              <a:ext cx="72825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05 August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02B1EF67-AF12-2A8E-3ABC-05D8BC6063F4}"/>
              </a:ext>
            </a:extLst>
          </p:cNvPr>
          <p:cNvSpPr/>
          <p:nvPr/>
        </p:nvSpPr>
        <p:spPr>
          <a:xfrm>
            <a:off x="3329940" y="584240"/>
            <a:ext cx="6027420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Comparing </a:t>
            </a:r>
            <a:r>
              <a:rPr lang="en-ZA" dirty="0">
                <a:solidFill>
                  <a:srgbClr val="00B0F0"/>
                </a:solidFill>
                <a:latin typeface="LM Roman 12" panose="00000500000000000000" pitchFamily="50" charset="0"/>
              </a:rPr>
              <a:t>switch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 &amp; </a:t>
            </a:r>
            <a:r>
              <a:rPr lang="en-ZA" dirty="0">
                <a:solidFill>
                  <a:srgbClr val="00B0F0"/>
                </a:solidFill>
                <a:latin typeface="LM Roman 12" panose="00000500000000000000" pitchFamily="50" charset="0"/>
              </a:rPr>
              <a:t>if else 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selection statements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0ED684C-D859-8DB2-1A11-C21A55732802}"/>
              </a:ext>
            </a:extLst>
          </p:cNvPr>
          <p:cNvGrpSpPr/>
          <p:nvPr/>
        </p:nvGrpSpPr>
        <p:grpSpPr>
          <a:xfrm>
            <a:off x="6343650" y="1245641"/>
            <a:ext cx="5110428" cy="5166445"/>
            <a:chOff x="3335710" y="1099066"/>
            <a:chExt cx="5110428" cy="5166445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5928ACA-680D-2292-CDF5-80770D8CDC5A}"/>
                </a:ext>
              </a:extLst>
            </p:cNvPr>
            <p:cNvSpPr/>
            <p:nvPr/>
          </p:nvSpPr>
          <p:spPr>
            <a:xfrm>
              <a:off x="3342122" y="1099066"/>
              <a:ext cx="914400" cy="47548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start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6C24571-4BE7-4576-E8C3-79FADDD1E7A3}"/>
                </a:ext>
              </a:extLst>
            </p:cNvPr>
            <p:cNvSpPr/>
            <p:nvPr/>
          </p:nvSpPr>
          <p:spPr>
            <a:xfrm>
              <a:off x="3342122" y="5790023"/>
              <a:ext cx="914400" cy="47548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end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4426F60-7E31-0362-02F2-FF1BE97812BA}"/>
                </a:ext>
              </a:extLst>
            </p:cNvPr>
            <p:cNvCxnSpPr>
              <a:cxnSpLocks/>
              <a:stCxn id="8" idx="4"/>
              <a:endCxn id="91" idx="0"/>
            </p:cNvCxnSpPr>
            <p:nvPr/>
          </p:nvCxnSpPr>
          <p:spPr>
            <a:xfrm flipH="1">
              <a:off x="3792910" y="1574554"/>
              <a:ext cx="6412" cy="210367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06C9344-A1A6-3C00-66B4-E97FD2142684}"/>
                </a:ext>
              </a:extLst>
            </p:cNvPr>
            <p:cNvGrpSpPr/>
            <p:nvPr/>
          </p:nvGrpSpPr>
          <p:grpSpPr>
            <a:xfrm>
              <a:off x="3335710" y="1784921"/>
              <a:ext cx="4351014" cy="629412"/>
              <a:chOff x="1488646" y="1669784"/>
              <a:chExt cx="4351014" cy="629412"/>
            </a:xfrm>
          </p:grpSpPr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A7EE0367-DA69-B53C-124B-AA00076CF34E}"/>
                  </a:ext>
                </a:extLst>
              </p:cNvPr>
              <p:cNvSpPr/>
              <p:nvPr/>
            </p:nvSpPr>
            <p:spPr>
              <a:xfrm>
                <a:off x="2993760" y="1735055"/>
                <a:ext cx="1208285" cy="47548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Do this action</a:t>
                </a:r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CEA799ED-9591-0876-0753-B0EB0AE49E59}"/>
                  </a:ext>
                </a:extLst>
              </p:cNvPr>
              <p:cNvSpPr/>
              <p:nvPr/>
            </p:nvSpPr>
            <p:spPr>
              <a:xfrm>
                <a:off x="4631375" y="1746746"/>
                <a:ext cx="1208285" cy="47548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Break</a:t>
                </a:r>
                <a:endParaRPr lang="en-ZA" dirty="0"/>
              </a:p>
            </p:txBody>
          </p: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FC91051A-98E7-8AE5-EE03-8F34B54B590A}"/>
                  </a:ext>
                </a:extLst>
              </p:cNvPr>
              <p:cNvCxnSpPr>
                <a:stCxn id="91" idx="3"/>
                <a:endCxn id="85" idx="1"/>
              </p:cNvCxnSpPr>
              <p:nvPr/>
            </p:nvCxnSpPr>
            <p:spPr>
              <a:xfrm flipV="1">
                <a:off x="2403046" y="1972799"/>
                <a:ext cx="590714" cy="11691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0F587DC7-24F3-7CD0-D589-379E80827517}"/>
                  </a:ext>
                </a:extLst>
              </p:cNvPr>
              <p:cNvCxnSpPr>
                <a:stCxn id="85" idx="3"/>
                <a:endCxn id="86" idx="1"/>
              </p:cNvCxnSpPr>
              <p:nvPr/>
            </p:nvCxnSpPr>
            <p:spPr>
              <a:xfrm>
                <a:off x="4202045" y="1972799"/>
                <a:ext cx="429330" cy="11691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94AB8AD3-9F9A-2E90-C9C9-77D1BBED3269}"/>
                  </a:ext>
                </a:extLst>
              </p:cNvPr>
              <p:cNvGrpSpPr/>
              <p:nvPr/>
            </p:nvGrpSpPr>
            <p:grpSpPr>
              <a:xfrm>
                <a:off x="1488646" y="1669784"/>
                <a:ext cx="914400" cy="629412"/>
                <a:chOff x="1465837" y="1712996"/>
                <a:chExt cx="914400" cy="629412"/>
              </a:xfrm>
            </p:grpSpPr>
            <p:sp>
              <p:nvSpPr>
                <p:cNvPr id="91" name="Flowchart: Decision 90">
                  <a:extLst>
                    <a:ext uri="{FF2B5EF4-FFF2-40B4-BE49-F238E27FC236}">
                      <a16:creationId xmlns:a16="http://schemas.microsoft.com/office/drawing/2014/main" id="{D4A5C22B-CE90-892E-6193-CC1364653A8A}"/>
                    </a:ext>
                  </a:extLst>
                </p:cNvPr>
                <p:cNvSpPr/>
                <p:nvPr/>
              </p:nvSpPr>
              <p:spPr>
                <a:xfrm>
                  <a:off x="1465837" y="1712996"/>
                  <a:ext cx="914400" cy="629412"/>
                </a:xfrm>
                <a:prstGeom prst="flowChartDecision">
                  <a:avLst/>
                </a:prstGeom>
                <a:solidFill>
                  <a:srgbClr val="FF000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 sz="1000" dirty="0"/>
                </a:p>
              </p:txBody>
            </p:sp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C280A300-658C-0DE2-F167-652423CAC503}"/>
                    </a:ext>
                  </a:extLst>
                </p:cNvPr>
                <p:cNvSpPr txBox="1"/>
                <p:nvPr/>
              </p:nvSpPr>
              <p:spPr>
                <a:xfrm>
                  <a:off x="1472249" y="1813169"/>
                  <a:ext cx="89800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ZA" dirty="0">
                      <a:solidFill>
                        <a:schemeClr val="bg1"/>
                      </a:solidFill>
                      <a:latin typeface="LM Roman 12" panose="00000500000000000000" pitchFamily="50" charset="0"/>
                    </a:rPr>
                    <a:t>Case A</a:t>
                  </a:r>
                </a:p>
              </p:txBody>
            </p:sp>
          </p:grp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13A709D-4349-DC4B-54A6-AE7ED89562F3}"/>
                </a:ext>
              </a:extLst>
            </p:cNvPr>
            <p:cNvGrpSpPr/>
            <p:nvPr/>
          </p:nvGrpSpPr>
          <p:grpSpPr>
            <a:xfrm>
              <a:off x="3335710" y="2727536"/>
              <a:ext cx="4351014" cy="629412"/>
              <a:chOff x="1488646" y="2612399"/>
              <a:chExt cx="4351014" cy="629412"/>
            </a:xfrm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49FD344C-8CFD-ABE9-BFE9-432D08A888B3}"/>
                  </a:ext>
                </a:extLst>
              </p:cNvPr>
              <p:cNvSpPr/>
              <p:nvPr/>
            </p:nvSpPr>
            <p:spPr>
              <a:xfrm>
                <a:off x="2993760" y="2689361"/>
                <a:ext cx="1208285" cy="47548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Do that action</a:t>
                </a:r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7CBC0BFD-0B04-A6B5-DCA2-299AD2C0CE29}"/>
                  </a:ext>
                </a:extLst>
              </p:cNvPr>
              <p:cNvSpPr/>
              <p:nvPr/>
            </p:nvSpPr>
            <p:spPr>
              <a:xfrm>
                <a:off x="4631375" y="2673212"/>
                <a:ext cx="1208285" cy="47548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Break</a:t>
                </a:r>
              </a:p>
            </p:txBody>
          </p: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4F506739-E533-15DA-2C7C-465206444A5D}"/>
                  </a:ext>
                </a:extLst>
              </p:cNvPr>
              <p:cNvCxnSpPr>
                <a:stCxn id="81" idx="3"/>
                <a:endCxn id="72" idx="1"/>
              </p:cNvCxnSpPr>
              <p:nvPr/>
            </p:nvCxnSpPr>
            <p:spPr>
              <a:xfrm>
                <a:off x="2403046" y="2927105"/>
                <a:ext cx="590714" cy="0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E741FB90-8F69-676F-275E-9E4A8932FB23}"/>
                  </a:ext>
                </a:extLst>
              </p:cNvPr>
              <p:cNvCxnSpPr>
                <a:stCxn id="72" idx="3"/>
                <a:endCxn id="74" idx="1"/>
              </p:cNvCxnSpPr>
              <p:nvPr/>
            </p:nvCxnSpPr>
            <p:spPr>
              <a:xfrm flipV="1">
                <a:off x="4202045" y="2910956"/>
                <a:ext cx="429330" cy="16149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0" name="Group 79">
                <a:extLst>
                  <a:ext uri="{FF2B5EF4-FFF2-40B4-BE49-F238E27FC236}">
                    <a16:creationId xmlns:a16="http://schemas.microsoft.com/office/drawing/2014/main" id="{373B280C-392C-9A04-9B73-C68D177FC6C3}"/>
                  </a:ext>
                </a:extLst>
              </p:cNvPr>
              <p:cNvGrpSpPr/>
              <p:nvPr/>
            </p:nvGrpSpPr>
            <p:grpSpPr>
              <a:xfrm>
                <a:off x="1488646" y="2612399"/>
                <a:ext cx="914400" cy="629412"/>
                <a:chOff x="1488646" y="2612399"/>
                <a:chExt cx="914400" cy="629412"/>
              </a:xfrm>
            </p:grpSpPr>
            <p:sp>
              <p:nvSpPr>
                <p:cNvPr id="81" name="Flowchart: Decision 80">
                  <a:extLst>
                    <a:ext uri="{FF2B5EF4-FFF2-40B4-BE49-F238E27FC236}">
                      <a16:creationId xmlns:a16="http://schemas.microsoft.com/office/drawing/2014/main" id="{1465F6D9-43A8-9CE9-E87E-6A5133727DED}"/>
                    </a:ext>
                  </a:extLst>
                </p:cNvPr>
                <p:cNvSpPr/>
                <p:nvPr/>
              </p:nvSpPr>
              <p:spPr>
                <a:xfrm>
                  <a:off x="1488646" y="2612399"/>
                  <a:ext cx="914400" cy="629412"/>
                </a:xfrm>
                <a:prstGeom prst="flowChartDecision">
                  <a:avLst/>
                </a:prstGeom>
                <a:solidFill>
                  <a:srgbClr val="FF000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 sz="1000" dirty="0"/>
                </a:p>
              </p:txBody>
            </p:sp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E8BEFA30-3114-1349-1724-889EE01A6841}"/>
                    </a:ext>
                  </a:extLst>
                </p:cNvPr>
                <p:cNvSpPr txBox="1"/>
                <p:nvPr/>
              </p:nvSpPr>
              <p:spPr>
                <a:xfrm>
                  <a:off x="1495058" y="2719813"/>
                  <a:ext cx="88838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ZA" dirty="0">
                      <a:solidFill>
                        <a:schemeClr val="bg1"/>
                      </a:solidFill>
                      <a:latin typeface="LM Roman 12" panose="00000500000000000000" pitchFamily="50" charset="0"/>
                    </a:rPr>
                    <a:t>Case B</a:t>
                  </a:r>
                </a:p>
              </p:txBody>
            </p:sp>
          </p:grp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2BDD662F-FC74-29B2-DCB8-15BB7818B073}"/>
                </a:ext>
              </a:extLst>
            </p:cNvPr>
            <p:cNvGrpSpPr/>
            <p:nvPr/>
          </p:nvGrpSpPr>
          <p:grpSpPr>
            <a:xfrm>
              <a:off x="3335710" y="3542525"/>
              <a:ext cx="4351014" cy="629412"/>
              <a:chOff x="1488646" y="3427388"/>
              <a:chExt cx="4351014" cy="629412"/>
            </a:xfrm>
          </p:grpSpPr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7CCF5DC0-3908-3165-AA17-349F472ED36C}"/>
                  </a:ext>
                </a:extLst>
              </p:cNvPr>
              <p:cNvSpPr/>
              <p:nvPr/>
            </p:nvSpPr>
            <p:spPr>
              <a:xfrm>
                <a:off x="2993760" y="3505207"/>
                <a:ext cx="1208285" cy="47548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Do that action</a:t>
                </a:r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73ABDB5F-AC2E-E99A-55AC-C4B5F0243166}"/>
                  </a:ext>
                </a:extLst>
              </p:cNvPr>
              <p:cNvSpPr/>
              <p:nvPr/>
            </p:nvSpPr>
            <p:spPr>
              <a:xfrm>
                <a:off x="4631375" y="3488746"/>
                <a:ext cx="1208285" cy="47548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Break</a:t>
                </a:r>
              </a:p>
            </p:txBody>
          </p: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91BA64D3-B397-5376-467D-FB5AFE18A5D3}"/>
                  </a:ext>
                </a:extLst>
              </p:cNvPr>
              <p:cNvCxnSpPr>
                <a:stCxn id="70" idx="3"/>
                <a:endCxn id="65" idx="1"/>
              </p:cNvCxnSpPr>
              <p:nvPr/>
            </p:nvCxnSpPr>
            <p:spPr>
              <a:xfrm>
                <a:off x="2403046" y="3742094"/>
                <a:ext cx="590714" cy="857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CEAC2C39-6CD5-64BB-B9CD-FF88383CFBCA}"/>
                  </a:ext>
                </a:extLst>
              </p:cNvPr>
              <p:cNvCxnSpPr>
                <a:stCxn id="65" idx="3"/>
                <a:endCxn id="66" idx="1"/>
              </p:cNvCxnSpPr>
              <p:nvPr/>
            </p:nvCxnSpPr>
            <p:spPr>
              <a:xfrm flipV="1">
                <a:off x="4202045" y="3726490"/>
                <a:ext cx="429330" cy="16461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F497EC21-79F2-3456-8BDA-49A64867B166}"/>
                  </a:ext>
                </a:extLst>
              </p:cNvPr>
              <p:cNvGrpSpPr/>
              <p:nvPr/>
            </p:nvGrpSpPr>
            <p:grpSpPr>
              <a:xfrm>
                <a:off x="1488646" y="3427388"/>
                <a:ext cx="914400" cy="629412"/>
                <a:chOff x="1488646" y="3427388"/>
                <a:chExt cx="914400" cy="629412"/>
              </a:xfrm>
            </p:grpSpPr>
            <p:sp>
              <p:nvSpPr>
                <p:cNvPr id="70" name="Flowchart: Decision 69">
                  <a:extLst>
                    <a:ext uri="{FF2B5EF4-FFF2-40B4-BE49-F238E27FC236}">
                      <a16:creationId xmlns:a16="http://schemas.microsoft.com/office/drawing/2014/main" id="{826D8DEF-1EAD-E086-21D0-C265CB00D254}"/>
                    </a:ext>
                  </a:extLst>
                </p:cNvPr>
                <p:cNvSpPr/>
                <p:nvPr/>
              </p:nvSpPr>
              <p:spPr>
                <a:xfrm>
                  <a:off x="1488646" y="3427388"/>
                  <a:ext cx="914400" cy="629412"/>
                </a:xfrm>
                <a:prstGeom prst="flowChartDecision">
                  <a:avLst/>
                </a:prstGeom>
                <a:solidFill>
                  <a:srgbClr val="FF000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 sz="1000" dirty="0"/>
                </a:p>
              </p:txBody>
            </p:sp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96986F19-CEC5-4F99-0A7C-A5D7DA8EC08B}"/>
                    </a:ext>
                  </a:extLst>
                </p:cNvPr>
                <p:cNvSpPr txBox="1"/>
                <p:nvPr/>
              </p:nvSpPr>
              <p:spPr>
                <a:xfrm>
                  <a:off x="1495058" y="3541824"/>
                  <a:ext cx="89159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ZA" dirty="0">
                      <a:solidFill>
                        <a:schemeClr val="bg1"/>
                      </a:solidFill>
                      <a:latin typeface="LM Roman 12" panose="00000500000000000000" pitchFamily="50" charset="0"/>
                    </a:rPr>
                    <a:t>Case C</a:t>
                  </a:r>
                </a:p>
              </p:txBody>
            </p:sp>
          </p:grp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3EE48601-BCFF-A0FD-C017-1EE4988F2DCF}"/>
                </a:ext>
              </a:extLst>
            </p:cNvPr>
            <p:cNvGrpSpPr/>
            <p:nvPr/>
          </p:nvGrpSpPr>
          <p:grpSpPr>
            <a:xfrm>
              <a:off x="3342122" y="4725879"/>
              <a:ext cx="4344601" cy="629412"/>
              <a:chOff x="1495058" y="4610742"/>
              <a:chExt cx="4344601" cy="629412"/>
            </a:xfrm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066614CD-BC00-EA17-4301-343CA78A5CF2}"/>
                  </a:ext>
                </a:extLst>
              </p:cNvPr>
              <p:cNvSpPr/>
              <p:nvPr/>
            </p:nvSpPr>
            <p:spPr>
              <a:xfrm>
                <a:off x="2993759" y="4687704"/>
                <a:ext cx="1208285" cy="47548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default action</a:t>
                </a: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D42C0575-6FBA-82D9-9306-9BFDD173CA97}"/>
                  </a:ext>
                </a:extLst>
              </p:cNvPr>
              <p:cNvSpPr/>
              <p:nvPr/>
            </p:nvSpPr>
            <p:spPr>
              <a:xfrm>
                <a:off x="4631374" y="4673066"/>
                <a:ext cx="1208285" cy="47548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Break</a:t>
                </a:r>
              </a:p>
            </p:txBody>
          </p: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5AF32B7B-86A8-9CF9-E760-C75E2B9636DB}"/>
                  </a:ext>
                </a:extLst>
              </p:cNvPr>
              <p:cNvCxnSpPr>
                <a:cxnSpLocks/>
                <a:stCxn id="54" idx="3"/>
                <a:endCxn id="56" idx="1"/>
              </p:cNvCxnSpPr>
              <p:nvPr/>
            </p:nvCxnSpPr>
            <p:spPr>
              <a:xfrm flipV="1">
                <a:off x="4202044" y="4910810"/>
                <a:ext cx="429330" cy="14638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E5BF9368-1252-4519-815F-B7703E9933D5}"/>
                  </a:ext>
                </a:extLst>
              </p:cNvPr>
              <p:cNvGrpSpPr/>
              <p:nvPr/>
            </p:nvGrpSpPr>
            <p:grpSpPr>
              <a:xfrm>
                <a:off x="1495058" y="4610742"/>
                <a:ext cx="914400" cy="629412"/>
                <a:chOff x="1455313" y="4599509"/>
                <a:chExt cx="914400" cy="629412"/>
              </a:xfrm>
            </p:grpSpPr>
            <p:sp>
              <p:nvSpPr>
                <p:cNvPr id="61" name="Flowchart: Decision 60">
                  <a:extLst>
                    <a:ext uri="{FF2B5EF4-FFF2-40B4-BE49-F238E27FC236}">
                      <a16:creationId xmlns:a16="http://schemas.microsoft.com/office/drawing/2014/main" id="{3EF33C33-CE45-5AB0-E437-874837A9AAF5}"/>
                    </a:ext>
                  </a:extLst>
                </p:cNvPr>
                <p:cNvSpPr/>
                <p:nvPr/>
              </p:nvSpPr>
              <p:spPr>
                <a:xfrm>
                  <a:off x="1455313" y="4599509"/>
                  <a:ext cx="914400" cy="629412"/>
                </a:xfrm>
                <a:prstGeom prst="flowChartDecision">
                  <a:avLst/>
                </a:prstGeom>
                <a:solidFill>
                  <a:srgbClr val="FF000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 sz="1000" dirty="0"/>
                </a:p>
              </p:txBody>
            </p: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022EFDCD-6162-7610-407E-D72EFC4B7309}"/>
                    </a:ext>
                  </a:extLst>
                </p:cNvPr>
                <p:cNvSpPr txBox="1"/>
                <p:nvPr/>
              </p:nvSpPr>
              <p:spPr>
                <a:xfrm>
                  <a:off x="1494152" y="4714911"/>
                  <a:ext cx="86914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ZA" dirty="0">
                      <a:solidFill>
                        <a:schemeClr val="bg1"/>
                      </a:solidFill>
                      <a:latin typeface="LM Roman 12" panose="00000500000000000000" pitchFamily="50" charset="0"/>
                    </a:rPr>
                    <a:t>default</a:t>
                  </a:r>
                </a:p>
              </p:txBody>
            </p:sp>
          </p:grp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6B52DF2F-331B-013B-620B-A64DA842DED6}"/>
                  </a:ext>
                </a:extLst>
              </p:cNvPr>
              <p:cNvCxnSpPr>
                <a:cxnSpLocks/>
                <a:stCxn id="63" idx="3"/>
                <a:endCxn id="54" idx="1"/>
              </p:cNvCxnSpPr>
              <p:nvPr/>
            </p:nvCxnSpPr>
            <p:spPr>
              <a:xfrm>
                <a:off x="2403046" y="4910810"/>
                <a:ext cx="590713" cy="14638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1367F6A1-DBFB-6EB9-F52D-A36854987258}"/>
                </a:ext>
              </a:extLst>
            </p:cNvPr>
            <p:cNvCxnSpPr>
              <a:cxnSpLocks/>
              <a:stCxn id="61" idx="2"/>
              <a:endCxn id="11" idx="0"/>
            </p:cNvCxnSpPr>
            <p:nvPr/>
          </p:nvCxnSpPr>
          <p:spPr>
            <a:xfrm>
              <a:off x="3799322" y="5355291"/>
              <a:ext cx="0" cy="434732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E5B6D8AF-0632-9742-30E7-6A6413B3ECCB}"/>
                </a:ext>
              </a:extLst>
            </p:cNvPr>
            <p:cNvCxnSpPr>
              <a:cxnSpLocks/>
              <a:stCxn id="91" idx="2"/>
              <a:endCxn id="81" idx="0"/>
            </p:cNvCxnSpPr>
            <p:nvPr/>
          </p:nvCxnSpPr>
          <p:spPr>
            <a:xfrm>
              <a:off x="3792910" y="2414333"/>
              <a:ext cx="0" cy="313203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E0D5EB37-F4A2-0BEE-B054-094674A3AA50}"/>
                </a:ext>
              </a:extLst>
            </p:cNvPr>
            <p:cNvCxnSpPr>
              <a:cxnSpLocks/>
              <a:stCxn id="81" idx="2"/>
              <a:endCxn id="70" idx="0"/>
            </p:cNvCxnSpPr>
            <p:nvPr/>
          </p:nvCxnSpPr>
          <p:spPr>
            <a:xfrm>
              <a:off x="3792910" y="3356948"/>
              <a:ext cx="0" cy="185577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E40D6D1C-B83E-5A67-7412-1015BC791ADF}"/>
                </a:ext>
              </a:extLst>
            </p:cNvPr>
            <p:cNvCxnSpPr>
              <a:cxnSpLocks/>
              <a:stCxn id="70" idx="2"/>
            </p:cNvCxnSpPr>
            <p:nvPr/>
          </p:nvCxnSpPr>
          <p:spPr>
            <a:xfrm>
              <a:off x="3792910" y="4171937"/>
              <a:ext cx="6595" cy="272090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D866414C-32A0-5527-A294-8CC7CB22EB5B}"/>
                </a:ext>
              </a:extLst>
            </p:cNvPr>
            <p:cNvCxnSpPr>
              <a:cxnSpLocks/>
              <a:endCxn id="61" idx="0"/>
            </p:cNvCxnSpPr>
            <p:nvPr/>
          </p:nvCxnSpPr>
          <p:spPr>
            <a:xfrm>
              <a:off x="3799322" y="4519497"/>
              <a:ext cx="0" cy="206382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287F7C51-2B85-5F2C-254B-4A74816AE501}"/>
                </a:ext>
              </a:extLst>
            </p:cNvPr>
            <p:cNvGrpSpPr/>
            <p:nvPr/>
          </p:nvGrpSpPr>
          <p:grpSpPr>
            <a:xfrm>
              <a:off x="3607284" y="4163587"/>
              <a:ext cx="358140" cy="409384"/>
              <a:chOff x="1760220" y="4048450"/>
              <a:chExt cx="358140" cy="409384"/>
            </a:xfrm>
          </p:grpSpPr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28C7BA5C-DF54-C71E-B04E-7849AB0B3A7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60220" y="4319884"/>
                <a:ext cx="358140" cy="13795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AF87DF1A-C5B5-172C-C6B9-F64D8F4784DD}"/>
                  </a:ext>
                </a:extLst>
              </p:cNvPr>
              <p:cNvCxnSpPr/>
              <p:nvPr/>
            </p:nvCxnSpPr>
            <p:spPr>
              <a:xfrm>
                <a:off x="1961876" y="4048450"/>
                <a:ext cx="6595" cy="272090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9EB97DEF-BF74-3A63-A6CF-21972E74D52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60220" y="4259682"/>
                <a:ext cx="358140" cy="14467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FF50092-4727-3C15-D4A7-AE7BE0E19100}"/>
                </a:ext>
              </a:extLst>
            </p:cNvPr>
            <p:cNvGrpSpPr/>
            <p:nvPr/>
          </p:nvGrpSpPr>
          <p:grpSpPr>
            <a:xfrm>
              <a:off x="7686723" y="2099627"/>
              <a:ext cx="378261" cy="2940958"/>
              <a:chOff x="5839659" y="1984490"/>
              <a:chExt cx="378261" cy="2940958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9B7DA311-A7DB-6915-65E0-290C99BF4D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39659" y="4925448"/>
                <a:ext cx="378261" cy="0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BF1EB3E8-CA95-4C96-A047-EB7A436BC5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39659" y="3722400"/>
                <a:ext cx="378261" cy="0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DA6E0FDD-CE91-0B7A-EDFB-CC31B065A3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39659" y="2922560"/>
                <a:ext cx="378261" cy="0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CDABE7BD-70CB-725D-8BD1-C62867266B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39659" y="2003260"/>
                <a:ext cx="378261" cy="0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9C72C66C-77FF-E354-D909-7522B0D76466}"/>
                  </a:ext>
                </a:extLst>
              </p:cNvPr>
              <p:cNvCxnSpPr/>
              <p:nvPr/>
            </p:nvCxnSpPr>
            <p:spPr>
              <a:xfrm>
                <a:off x="6217920" y="1984490"/>
                <a:ext cx="0" cy="2940958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4C2F164-F126-FE10-21DE-F653D7515513}"/>
                </a:ext>
              </a:extLst>
            </p:cNvPr>
            <p:cNvSpPr txBox="1"/>
            <p:nvPr/>
          </p:nvSpPr>
          <p:spPr>
            <a:xfrm>
              <a:off x="3965424" y="1454453"/>
              <a:ext cx="44807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2000" b="1" dirty="0">
                  <a:latin typeface="LM Roman 12" panose="00000500000000000000" pitchFamily="50" charset="0"/>
                </a:rPr>
                <a:t>when this case is true…do this action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3FF19C6-745C-EF77-1EFC-4D95AA0F0C5D}"/>
                </a:ext>
              </a:extLst>
            </p:cNvPr>
            <p:cNvSpPr txBox="1"/>
            <p:nvPr/>
          </p:nvSpPr>
          <p:spPr>
            <a:xfrm>
              <a:off x="3889866" y="4419417"/>
              <a:ext cx="393889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2000" b="1" dirty="0">
                  <a:latin typeface="LM Roman 12" panose="00000500000000000000" pitchFamily="50" charset="0"/>
                </a:rPr>
                <a:t>Otherwise do this default action</a:t>
              </a:r>
            </a:p>
          </p:txBody>
        </p:sp>
      </p:grpSp>
      <p:sp>
        <p:nvSpPr>
          <p:cNvPr id="94" name="TextBox 93">
            <a:extLst>
              <a:ext uri="{FF2B5EF4-FFF2-40B4-BE49-F238E27FC236}">
                <a16:creationId xmlns:a16="http://schemas.microsoft.com/office/drawing/2014/main" id="{DCC86952-6380-A09C-F377-D8FE8431687D}"/>
              </a:ext>
            </a:extLst>
          </p:cNvPr>
          <p:cNvSpPr txBox="1"/>
          <p:nvPr/>
        </p:nvSpPr>
        <p:spPr>
          <a:xfrm>
            <a:off x="2050871" y="5719232"/>
            <a:ext cx="202972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5400" b="1" dirty="0"/>
              <a:t>if</a:t>
            </a:r>
            <a:r>
              <a:rPr lang="en-ZA" sz="3600" b="1" dirty="0"/>
              <a:t> </a:t>
            </a:r>
            <a:r>
              <a:rPr lang="en-ZA" sz="5400" b="1" dirty="0"/>
              <a:t>else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51F5B62-3E80-EC90-DEFF-E0B2D8EA95E5}"/>
              </a:ext>
            </a:extLst>
          </p:cNvPr>
          <p:cNvSpPr txBox="1"/>
          <p:nvPr/>
        </p:nvSpPr>
        <p:spPr>
          <a:xfrm>
            <a:off x="8137844" y="5620918"/>
            <a:ext cx="226773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5400" b="1" dirty="0"/>
              <a:t>switch</a:t>
            </a: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627DAB0D-27E9-6607-C5C8-39A2011C26EC}"/>
              </a:ext>
            </a:extLst>
          </p:cNvPr>
          <p:cNvGrpSpPr/>
          <p:nvPr/>
        </p:nvGrpSpPr>
        <p:grpSpPr>
          <a:xfrm>
            <a:off x="315425" y="1339470"/>
            <a:ext cx="5277140" cy="5166445"/>
            <a:chOff x="3335710" y="1099066"/>
            <a:chExt cx="5277140" cy="5166445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83743E21-0612-F59B-4415-19EB01677764}"/>
                </a:ext>
              </a:extLst>
            </p:cNvPr>
            <p:cNvSpPr/>
            <p:nvPr/>
          </p:nvSpPr>
          <p:spPr>
            <a:xfrm>
              <a:off x="3342122" y="1099066"/>
              <a:ext cx="914400" cy="47548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start</a:t>
              </a:r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730926DA-FE07-5054-9551-0B1463ADC2A2}"/>
                </a:ext>
              </a:extLst>
            </p:cNvPr>
            <p:cNvSpPr/>
            <p:nvPr/>
          </p:nvSpPr>
          <p:spPr>
            <a:xfrm>
              <a:off x="3342122" y="5790023"/>
              <a:ext cx="914400" cy="47548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end</a:t>
              </a:r>
            </a:p>
          </p:txBody>
        </p: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DBB3E1A2-4BBC-4533-1B7F-A8CFD8C1CB3E}"/>
                </a:ext>
              </a:extLst>
            </p:cNvPr>
            <p:cNvCxnSpPr>
              <a:cxnSpLocks/>
              <a:stCxn id="98" idx="4"/>
              <a:endCxn id="157" idx="0"/>
            </p:cNvCxnSpPr>
            <p:nvPr/>
          </p:nvCxnSpPr>
          <p:spPr>
            <a:xfrm flipH="1">
              <a:off x="3792910" y="1574554"/>
              <a:ext cx="6412" cy="210367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0D892D9F-D184-4B96-E6AB-41AE7F5CFB26}"/>
                </a:ext>
              </a:extLst>
            </p:cNvPr>
            <p:cNvGrpSpPr/>
            <p:nvPr/>
          </p:nvGrpSpPr>
          <p:grpSpPr>
            <a:xfrm>
              <a:off x="3335710" y="1784921"/>
              <a:ext cx="2713399" cy="629412"/>
              <a:chOff x="1488646" y="1669784"/>
              <a:chExt cx="2713399" cy="629412"/>
            </a:xfrm>
          </p:grpSpPr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9A4DC98B-AF8C-C5E7-2147-630DFF55C982}"/>
                  </a:ext>
                </a:extLst>
              </p:cNvPr>
              <p:cNvSpPr/>
              <p:nvPr/>
            </p:nvSpPr>
            <p:spPr>
              <a:xfrm>
                <a:off x="2993760" y="1735055"/>
                <a:ext cx="1208285" cy="47548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Do this action</a:t>
                </a:r>
              </a:p>
            </p:txBody>
          </p:sp>
          <p:cxnSp>
            <p:nvCxnSpPr>
              <p:cNvPr id="154" name="Straight Arrow Connector 153">
                <a:extLst>
                  <a:ext uri="{FF2B5EF4-FFF2-40B4-BE49-F238E27FC236}">
                    <a16:creationId xmlns:a16="http://schemas.microsoft.com/office/drawing/2014/main" id="{58FE010C-C2E0-B41E-6D9C-14FD8D62EC14}"/>
                  </a:ext>
                </a:extLst>
              </p:cNvPr>
              <p:cNvCxnSpPr>
                <a:stCxn id="157" idx="3"/>
                <a:endCxn id="152" idx="1"/>
              </p:cNvCxnSpPr>
              <p:nvPr/>
            </p:nvCxnSpPr>
            <p:spPr>
              <a:xfrm flipV="1">
                <a:off x="2403046" y="1972799"/>
                <a:ext cx="590714" cy="11691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6" name="Group 155">
                <a:extLst>
                  <a:ext uri="{FF2B5EF4-FFF2-40B4-BE49-F238E27FC236}">
                    <a16:creationId xmlns:a16="http://schemas.microsoft.com/office/drawing/2014/main" id="{C86CB758-2741-69D6-A130-CE4FA7440336}"/>
                  </a:ext>
                </a:extLst>
              </p:cNvPr>
              <p:cNvGrpSpPr/>
              <p:nvPr/>
            </p:nvGrpSpPr>
            <p:grpSpPr>
              <a:xfrm>
                <a:off x="1488646" y="1669784"/>
                <a:ext cx="914400" cy="629412"/>
                <a:chOff x="1465837" y="1712996"/>
                <a:chExt cx="914400" cy="629412"/>
              </a:xfrm>
            </p:grpSpPr>
            <p:sp>
              <p:nvSpPr>
                <p:cNvPr id="157" name="Flowchart: Decision 156">
                  <a:extLst>
                    <a:ext uri="{FF2B5EF4-FFF2-40B4-BE49-F238E27FC236}">
                      <a16:creationId xmlns:a16="http://schemas.microsoft.com/office/drawing/2014/main" id="{E9498623-8AC3-8FC0-61AD-EB587C10C041}"/>
                    </a:ext>
                  </a:extLst>
                </p:cNvPr>
                <p:cNvSpPr/>
                <p:nvPr/>
              </p:nvSpPr>
              <p:spPr>
                <a:xfrm>
                  <a:off x="1465837" y="1712996"/>
                  <a:ext cx="914400" cy="629412"/>
                </a:xfrm>
                <a:prstGeom prst="flowChartDecision">
                  <a:avLst/>
                </a:prstGeom>
                <a:solidFill>
                  <a:srgbClr val="FF000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 sz="1000" dirty="0"/>
                </a:p>
              </p:txBody>
            </p:sp>
            <p:sp>
              <p:nvSpPr>
                <p:cNvPr id="158" name="TextBox 157">
                  <a:extLst>
                    <a:ext uri="{FF2B5EF4-FFF2-40B4-BE49-F238E27FC236}">
                      <a16:creationId xmlns:a16="http://schemas.microsoft.com/office/drawing/2014/main" id="{6794156C-6665-2232-26C1-2CF902645E47}"/>
                    </a:ext>
                  </a:extLst>
                </p:cNvPr>
                <p:cNvSpPr txBox="1"/>
                <p:nvPr/>
              </p:nvSpPr>
              <p:spPr>
                <a:xfrm>
                  <a:off x="1758425" y="1813743"/>
                  <a:ext cx="3161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ZA" dirty="0">
                      <a:solidFill>
                        <a:schemeClr val="bg1"/>
                      </a:solidFill>
                      <a:latin typeface="LM Roman 12" panose="00000500000000000000" pitchFamily="50" charset="0"/>
                    </a:rPr>
                    <a:t>if</a:t>
                  </a:r>
                </a:p>
              </p:txBody>
            </p:sp>
          </p:grp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ABC613A7-F498-297F-2729-A25ADC03D6F2}"/>
                </a:ext>
              </a:extLst>
            </p:cNvPr>
            <p:cNvGrpSpPr/>
            <p:nvPr/>
          </p:nvGrpSpPr>
          <p:grpSpPr>
            <a:xfrm>
              <a:off x="3335710" y="2727536"/>
              <a:ext cx="2713399" cy="629412"/>
              <a:chOff x="1488646" y="2612399"/>
              <a:chExt cx="2713399" cy="629412"/>
            </a:xfrm>
          </p:grpSpPr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86A383AA-EF9F-2840-EFB7-0819F45216EE}"/>
                  </a:ext>
                </a:extLst>
              </p:cNvPr>
              <p:cNvSpPr/>
              <p:nvPr/>
            </p:nvSpPr>
            <p:spPr>
              <a:xfrm>
                <a:off x="2993760" y="2689361"/>
                <a:ext cx="1208285" cy="47548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Do that action</a:t>
                </a:r>
              </a:p>
            </p:txBody>
          </p:sp>
          <p:cxnSp>
            <p:nvCxnSpPr>
              <p:cNvPr id="147" name="Straight Arrow Connector 146">
                <a:extLst>
                  <a:ext uri="{FF2B5EF4-FFF2-40B4-BE49-F238E27FC236}">
                    <a16:creationId xmlns:a16="http://schemas.microsoft.com/office/drawing/2014/main" id="{418C7754-1B28-F7A5-378B-9DF118145172}"/>
                  </a:ext>
                </a:extLst>
              </p:cNvPr>
              <p:cNvCxnSpPr>
                <a:stCxn id="150" idx="3"/>
                <a:endCxn id="145" idx="1"/>
              </p:cNvCxnSpPr>
              <p:nvPr/>
            </p:nvCxnSpPr>
            <p:spPr>
              <a:xfrm>
                <a:off x="2403046" y="2927105"/>
                <a:ext cx="590714" cy="0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9" name="Group 148">
                <a:extLst>
                  <a:ext uri="{FF2B5EF4-FFF2-40B4-BE49-F238E27FC236}">
                    <a16:creationId xmlns:a16="http://schemas.microsoft.com/office/drawing/2014/main" id="{E58EE894-F5E3-8F39-73C0-7B67520E46D4}"/>
                  </a:ext>
                </a:extLst>
              </p:cNvPr>
              <p:cNvGrpSpPr/>
              <p:nvPr/>
            </p:nvGrpSpPr>
            <p:grpSpPr>
              <a:xfrm>
                <a:off x="1488646" y="2612399"/>
                <a:ext cx="914400" cy="629412"/>
                <a:chOff x="1488646" y="2612399"/>
                <a:chExt cx="914400" cy="629412"/>
              </a:xfrm>
            </p:grpSpPr>
            <p:sp>
              <p:nvSpPr>
                <p:cNvPr id="150" name="Flowchart: Decision 149">
                  <a:extLst>
                    <a:ext uri="{FF2B5EF4-FFF2-40B4-BE49-F238E27FC236}">
                      <a16:creationId xmlns:a16="http://schemas.microsoft.com/office/drawing/2014/main" id="{13969EA1-AAA9-B113-FFDB-B1D0C94F94A9}"/>
                    </a:ext>
                  </a:extLst>
                </p:cNvPr>
                <p:cNvSpPr/>
                <p:nvPr/>
              </p:nvSpPr>
              <p:spPr>
                <a:xfrm>
                  <a:off x="1488646" y="2612399"/>
                  <a:ext cx="914400" cy="629412"/>
                </a:xfrm>
                <a:prstGeom prst="flowChartDecision">
                  <a:avLst/>
                </a:prstGeom>
                <a:solidFill>
                  <a:srgbClr val="FF000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 sz="1000" dirty="0"/>
                </a:p>
              </p:txBody>
            </p:sp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32A9FFF1-12AF-AE41-41E8-A45E0D4BBCB5}"/>
                    </a:ext>
                  </a:extLst>
                </p:cNvPr>
                <p:cNvSpPr txBox="1"/>
                <p:nvPr/>
              </p:nvSpPr>
              <p:spPr>
                <a:xfrm>
                  <a:off x="1495058" y="2719813"/>
                  <a:ext cx="7457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ZA" dirty="0">
                      <a:solidFill>
                        <a:schemeClr val="bg1"/>
                      </a:solidFill>
                      <a:latin typeface="LM Roman 12" panose="00000500000000000000" pitchFamily="50" charset="0"/>
                    </a:rPr>
                    <a:t>else if</a:t>
                  </a:r>
                </a:p>
              </p:txBody>
            </p:sp>
          </p:grpSp>
        </p:grp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3B5D0605-381D-BED0-F2A2-1AE6B3CFEAF0}"/>
                </a:ext>
              </a:extLst>
            </p:cNvPr>
            <p:cNvGrpSpPr/>
            <p:nvPr/>
          </p:nvGrpSpPr>
          <p:grpSpPr>
            <a:xfrm>
              <a:off x="3335710" y="3542525"/>
              <a:ext cx="2713399" cy="629412"/>
              <a:chOff x="1488646" y="3427388"/>
              <a:chExt cx="2713399" cy="629412"/>
            </a:xfrm>
          </p:grpSpPr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CA247266-C024-5E16-C6A9-8F7C7AF7770E}"/>
                  </a:ext>
                </a:extLst>
              </p:cNvPr>
              <p:cNvSpPr/>
              <p:nvPr/>
            </p:nvSpPr>
            <p:spPr>
              <a:xfrm>
                <a:off x="2993760" y="3505207"/>
                <a:ext cx="1208285" cy="47548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Do that action</a:t>
                </a:r>
              </a:p>
            </p:txBody>
          </p:sp>
          <p:cxnSp>
            <p:nvCxnSpPr>
              <p:cNvPr id="140" name="Straight Arrow Connector 139">
                <a:extLst>
                  <a:ext uri="{FF2B5EF4-FFF2-40B4-BE49-F238E27FC236}">
                    <a16:creationId xmlns:a16="http://schemas.microsoft.com/office/drawing/2014/main" id="{1CCBC25C-AA25-28D6-02B3-229D15F9B8E7}"/>
                  </a:ext>
                </a:extLst>
              </p:cNvPr>
              <p:cNvCxnSpPr>
                <a:stCxn id="143" idx="3"/>
                <a:endCxn id="138" idx="1"/>
              </p:cNvCxnSpPr>
              <p:nvPr/>
            </p:nvCxnSpPr>
            <p:spPr>
              <a:xfrm>
                <a:off x="2403046" y="3742094"/>
                <a:ext cx="590714" cy="857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92B7EF90-B62E-1408-5A4A-C46A437618D2}"/>
                  </a:ext>
                </a:extLst>
              </p:cNvPr>
              <p:cNvGrpSpPr/>
              <p:nvPr/>
            </p:nvGrpSpPr>
            <p:grpSpPr>
              <a:xfrm>
                <a:off x="1488646" y="3427388"/>
                <a:ext cx="914400" cy="629412"/>
                <a:chOff x="1488646" y="3427388"/>
                <a:chExt cx="914400" cy="629412"/>
              </a:xfrm>
            </p:grpSpPr>
            <p:sp>
              <p:nvSpPr>
                <p:cNvPr id="143" name="Flowchart: Decision 142">
                  <a:extLst>
                    <a:ext uri="{FF2B5EF4-FFF2-40B4-BE49-F238E27FC236}">
                      <a16:creationId xmlns:a16="http://schemas.microsoft.com/office/drawing/2014/main" id="{8C3DEAD9-585A-C853-0776-412F0700FB7A}"/>
                    </a:ext>
                  </a:extLst>
                </p:cNvPr>
                <p:cNvSpPr/>
                <p:nvPr/>
              </p:nvSpPr>
              <p:spPr>
                <a:xfrm>
                  <a:off x="1488646" y="3427388"/>
                  <a:ext cx="914400" cy="629412"/>
                </a:xfrm>
                <a:prstGeom prst="flowChartDecision">
                  <a:avLst/>
                </a:prstGeom>
                <a:solidFill>
                  <a:srgbClr val="FF000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 sz="1000" dirty="0"/>
                </a:p>
              </p:txBody>
            </p:sp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265A1C75-1631-7639-3C32-292B9EA53B25}"/>
                    </a:ext>
                  </a:extLst>
                </p:cNvPr>
                <p:cNvSpPr txBox="1"/>
                <p:nvPr/>
              </p:nvSpPr>
              <p:spPr>
                <a:xfrm>
                  <a:off x="1495058" y="3541824"/>
                  <a:ext cx="7457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ZA" dirty="0">
                      <a:solidFill>
                        <a:schemeClr val="bg1"/>
                      </a:solidFill>
                      <a:latin typeface="LM Roman 12" panose="00000500000000000000" pitchFamily="50" charset="0"/>
                    </a:rPr>
                    <a:t>else if</a:t>
                  </a:r>
                </a:p>
              </p:txBody>
            </p:sp>
          </p:grpSp>
        </p:grp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CD02407B-3DE4-243B-2807-87201C006250}"/>
                </a:ext>
              </a:extLst>
            </p:cNvPr>
            <p:cNvGrpSpPr/>
            <p:nvPr/>
          </p:nvGrpSpPr>
          <p:grpSpPr>
            <a:xfrm>
              <a:off x="3342122" y="4725879"/>
              <a:ext cx="2706986" cy="629412"/>
              <a:chOff x="1495058" y="4610742"/>
              <a:chExt cx="2706986" cy="629412"/>
            </a:xfrm>
          </p:grpSpPr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BA6C0891-306B-E4B8-8697-A720FF1B7152}"/>
                  </a:ext>
                </a:extLst>
              </p:cNvPr>
              <p:cNvSpPr/>
              <p:nvPr/>
            </p:nvSpPr>
            <p:spPr>
              <a:xfrm>
                <a:off x="2993759" y="4687704"/>
                <a:ext cx="1208285" cy="47548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default action</a:t>
                </a:r>
              </a:p>
            </p:txBody>
          </p:sp>
          <p:grpSp>
            <p:nvGrpSpPr>
              <p:cNvPr id="134" name="Group 133">
                <a:extLst>
                  <a:ext uri="{FF2B5EF4-FFF2-40B4-BE49-F238E27FC236}">
                    <a16:creationId xmlns:a16="http://schemas.microsoft.com/office/drawing/2014/main" id="{189A4875-5489-8958-3D60-49FADA26C1A4}"/>
                  </a:ext>
                </a:extLst>
              </p:cNvPr>
              <p:cNvGrpSpPr/>
              <p:nvPr/>
            </p:nvGrpSpPr>
            <p:grpSpPr>
              <a:xfrm>
                <a:off x="1495058" y="4610742"/>
                <a:ext cx="914400" cy="629412"/>
                <a:chOff x="1455313" y="4599509"/>
                <a:chExt cx="914400" cy="629412"/>
              </a:xfrm>
            </p:grpSpPr>
            <p:sp>
              <p:nvSpPr>
                <p:cNvPr id="136" name="Flowchart: Decision 135">
                  <a:extLst>
                    <a:ext uri="{FF2B5EF4-FFF2-40B4-BE49-F238E27FC236}">
                      <a16:creationId xmlns:a16="http://schemas.microsoft.com/office/drawing/2014/main" id="{251DB548-1DD9-0A89-0FF1-3199B31F140E}"/>
                    </a:ext>
                  </a:extLst>
                </p:cNvPr>
                <p:cNvSpPr/>
                <p:nvPr/>
              </p:nvSpPr>
              <p:spPr>
                <a:xfrm>
                  <a:off x="1455313" y="4599509"/>
                  <a:ext cx="914400" cy="629412"/>
                </a:xfrm>
                <a:prstGeom prst="flowChartDecision">
                  <a:avLst/>
                </a:prstGeom>
                <a:solidFill>
                  <a:srgbClr val="FF000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 sz="1000" dirty="0"/>
                </a:p>
              </p:txBody>
            </p:sp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0CF226E7-6025-7AF7-1688-C7E931FFED16}"/>
                    </a:ext>
                  </a:extLst>
                </p:cNvPr>
                <p:cNvSpPr txBox="1"/>
                <p:nvPr/>
              </p:nvSpPr>
              <p:spPr>
                <a:xfrm>
                  <a:off x="1659261" y="4722230"/>
                  <a:ext cx="53893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ZA" dirty="0">
                      <a:solidFill>
                        <a:schemeClr val="bg1"/>
                      </a:solidFill>
                      <a:latin typeface="LM Roman 12" panose="00000500000000000000" pitchFamily="50" charset="0"/>
                    </a:rPr>
                    <a:t>else</a:t>
                  </a:r>
                </a:p>
              </p:txBody>
            </p:sp>
          </p:grpSp>
          <p:cxnSp>
            <p:nvCxnSpPr>
              <p:cNvPr id="135" name="Straight Arrow Connector 134">
                <a:extLst>
                  <a:ext uri="{FF2B5EF4-FFF2-40B4-BE49-F238E27FC236}">
                    <a16:creationId xmlns:a16="http://schemas.microsoft.com/office/drawing/2014/main" id="{407D1B40-690A-C007-0D45-A964B8DAD80F}"/>
                  </a:ext>
                </a:extLst>
              </p:cNvPr>
              <p:cNvCxnSpPr>
                <a:cxnSpLocks/>
                <a:stCxn id="136" idx="3"/>
                <a:endCxn id="131" idx="1"/>
              </p:cNvCxnSpPr>
              <p:nvPr/>
            </p:nvCxnSpPr>
            <p:spPr>
              <a:xfrm>
                <a:off x="2409458" y="4925448"/>
                <a:ext cx="584301" cy="0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D8BF8819-7BC1-3D41-813E-5C38C956B6CB}"/>
                </a:ext>
              </a:extLst>
            </p:cNvPr>
            <p:cNvCxnSpPr>
              <a:cxnSpLocks/>
              <a:stCxn id="136" idx="2"/>
              <a:endCxn id="99" idx="0"/>
            </p:cNvCxnSpPr>
            <p:nvPr/>
          </p:nvCxnSpPr>
          <p:spPr>
            <a:xfrm>
              <a:off x="3799322" y="5355291"/>
              <a:ext cx="0" cy="434732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B5F5145D-167E-A488-EE63-2728B1865A7D}"/>
                </a:ext>
              </a:extLst>
            </p:cNvPr>
            <p:cNvCxnSpPr>
              <a:cxnSpLocks/>
              <a:stCxn id="157" idx="2"/>
              <a:endCxn id="150" idx="0"/>
            </p:cNvCxnSpPr>
            <p:nvPr/>
          </p:nvCxnSpPr>
          <p:spPr>
            <a:xfrm>
              <a:off x="3792910" y="2414333"/>
              <a:ext cx="0" cy="313203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F34EBBA6-8FEF-F480-D80C-D876DF213B1B}"/>
                </a:ext>
              </a:extLst>
            </p:cNvPr>
            <p:cNvCxnSpPr>
              <a:cxnSpLocks/>
              <a:stCxn id="150" idx="2"/>
              <a:endCxn id="143" idx="0"/>
            </p:cNvCxnSpPr>
            <p:nvPr/>
          </p:nvCxnSpPr>
          <p:spPr>
            <a:xfrm>
              <a:off x="3792910" y="3356948"/>
              <a:ext cx="0" cy="185577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Arrow Connector 116">
              <a:extLst>
                <a:ext uri="{FF2B5EF4-FFF2-40B4-BE49-F238E27FC236}">
                  <a16:creationId xmlns:a16="http://schemas.microsoft.com/office/drawing/2014/main" id="{49BD17C1-7812-0E49-2193-7D480DFBD5E9}"/>
                </a:ext>
              </a:extLst>
            </p:cNvPr>
            <p:cNvCxnSpPr>
              <a:cxnSpLocks/>
              <a:stCxn id="143" idx="2"/>
            </p:cNvCxnSpPr>
            <p:nvPr/>
          </p:nvCxnSpPr>
          <p:spPr>
            <a:xfrm>
              <a:off x="3792910" y="4171937"/>
              <a:ext cx="6595" cy="272090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Arrow Connector 117">
              <a:extLst>
                <a:ext uri="{FF2B5EF4-FFF2-40B4-BE49-F238E27FC236}">
                  <a16:creationId xmlns:a16="http://schemas.microsoft.com/office/drawing/2014/main" id="{CAD2141D-7936-667B-74D9-313D48C06594}"/>
                </a:ext>
              </a:extLst>
            </p:cNvPr>
            <p:cNvCxnSpPr>
              <a:cxnSpLocks/>
              <a:endCxn id="136" idx="0"/>
            </p:cNvCxnSpPr>
            <p:nvPr/>
          </p:nvCxnSpPr>
          <p:spPr>
            <a:xfrm>
              <a:off x="3799322" y="4519497"/>
              <a:ext cx="0" cy="206382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08777058-C0E9-F5A3-5718-EA6DB4F2317A}"/>
                </a:ext>
              </a:extLst>
            </p:cNvPr>
            <p:cNvGrpSpPr/>
            <p:nvPr/>
          </p:nvGrpSpPr>
          <p:grpSpPr>
            <a:xfrm>
              <a:off x="3607284" y="4163587"/>
              <a:ext cx="358140" cy="409384"/>
              <a:chOff x="1760220" y="4048450"/>
              <a:chExt cx="358140" cy="409384"/>
            </a:xfrm>
          </p:grpSpPr>
          <p:cxnSp>
            <p:nvCxnSpPr>
              <p:cNvPr id="128" name="Straight Connector 127">
                <a:extLst>
                  <a:ext uri="{FF2B5EF4-FFF2-40B4-BE49-F238E27FC236}">
                    <a16:creationId xmlns:a16="http://schemas.microsoft.com/office/drawing/2014/main" id="{A84B9933-5202-5B18-C430-64065C92346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60220" y="4319884"/>
                <a:ext cx="358140" cy="13795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Arrow Connector 128">
                <a:extLst>
                  <a:ext uri="{FF2B5EF4-FFF2-40B4-BE49-F238E27FC236}">
                    <a16:creationId xmlns:a16="http://schemas.microsoft.com/office/drawing/2014/main" id="{3B34EFD2-C2ED-8C16-CCC3-B4DF582A3489}"/>
                  </a:ext>
                </a:extLst>
              </p:cNvPr>
              <p:cNvCxnSpPr/>
              <p:nvPr/>
            </p:nvCxnSpPr>
            <p:spPr>
              <a:xfrm>
                <a:off x="1961876" y="4048450"/>
                <a:ext cx="6595" cy="272090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488D0A33-E37B-273E-8DFB-BCF09897562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60220" y="4259682"/>
                <a:ext cx="358140" cy="14467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9C20FD7A-BFFB-ADDA-40DE-2EEB02050AF5}"/>
                </a:ext>
              </a:extLst>
            </p:cNvPr>
            <p:cNvGrpSpPr/>
            <p:nvPr/>
          </p:nvGrpSpPr>
          <p:grpSpPr>
            <a:xfrm>
              <a:off x="6078056" y="2072046"/>
              <a:ext cx="378261" cy="2940958"/>
              <a:chOff x="4230992" y="1956909"/>
              <a:chExt cx="378261" cy="2940958"/>
            </a:xfrm>
          </p:grpSpPr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1E36BCBD-71E7-1394-9C2F-3DC7E69915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30992" y="4897867"/>
                <a:ext cx="378261" cy="0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>
                <a:extLst>
                  <a:ext uri="{FF2B5EF4-FFF2-40B4-BE49-F238E27FC236}">
                    <a16:creationId xmlns:a16="http://schemas.microsoft.com/office/drawing/2014/main" id="{E136C401-F298-9D26-68D0-29D18BB14A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30992" y="3694819"/>
                <a:ext cx="378261" cy="0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F5D33DD7-A5F7-8BDC-CC9E-6884FD4A18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30992" y="2894979"/>
                <a:ext cx="378261" cy="0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Connector 125">
                <a:extLst>
                  <a:ext uri="{FF2B5EF4-FFF2-40B4-BE49-F238E27FC236}">
                    <a16:creationId xmlns:a16="http://schemas.microsoft.com/office/drawing/2014/main" id="{586451F8-F499-35B1-ECAA-A7F7AB1ECF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30992" y="1975679"/>
                <a:ext cx="378261" cy="0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3BD3E701-7507-73F3-F003-FD1FA8B7CBB3}"/>
                  </a:ext>
                </a:extLst>
              </p:cNvPr>
              <p:cNvCxnSpPr/>
              <p:nvPr/>
            </p:nvCxnSpPr>
            <p:spPr>
              <a:xfrm>
                <a:off x="4609253" y="1956909"/>
                <a:ext cx="0" cy="2940958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FB03B0E1-4354-EF86-70FF-77AF7FAFA8DD}"/>
                </a:ext>
              </a:extLst>
            </p:cNvPr>
            <p:cNvSpPr txBox="1"/>
            <p:nvPr/>
          </p:nvSpPr>
          <p:spPr>
            <a:xfrm>
              <a:off x="3965424" y="1454453"/>
              <a:ext cx="464742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2000" b="1" dirty="0">
                  <a:latin typeface="LM Roman 12" panose="00000500000000000000" pitchFamily="50" charset="0"/>
                </a:rPr>
                <a:t>if this condition is true…do this action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1F4BF69C-1089-79DA-7642-37CA56464626}"/>
                </a:ext>
              </a:extLst>
            </p:cNvPr>
            <p:cNvSpPr txBox="1"/>
            <p:nvPr/>
          </p:nvSpPr>
          <p:spPr>
            <a:xfrm>
              <a:off x="3889866" y="4419417"/>
              <a:ext cx="339657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2000" b="1" dirty="0">
                  <a:latin typeface="LM Roman 12" panose="00000500000000000000" pitchFamily="50" charset="0"/>
                </a:rPr>
                <a:t>else revert to this condition</a:t>
              </a:r>
            </a:p>
          </p:txBody>
        </p:sp>
      </p:grp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AEB060D9-0004-749B-E4D9-1573862F62B5}"/>
              </a:ext>
            </a:extLst>
          </p:cNvPr>
          <p:cNvCxnSpPr>
            <a:cxnSpLocks/>
          </p:cNvCxnSpPr>
          <p:nvPr/>
        </p:nvCxnSpPr>
        <p:spPr>
          <a:xfrm>
            <a:off x="5592565" y="1109133"/>
            <a:ext cx="0" cy="55334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33890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BD0FF-0C7C-9CE1-EDF9-E6B5A22FC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2533F4F6-3562-A81C-AD7F-D4860BE7BFE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2533F4F6-3562-A81C-AD7F-D4860BE7BF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58A253FC-1E11-BD93-5CBC-F5B5F15D68F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B03588-9C2D-E887-93F5-507F48D31D10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4	pg. 55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DBBF829-69EE-76CA-DFF7-5F58B410010C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A478261-3483-397E-190D-C0612D596B42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4B1C201-A747-085C-BEEB-C03E2C74E795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5B6A73D7-8A73-47B9-3AAB-33D488925B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A7EAA88-985D-CA0A-2DDD-2370EBE3E931}"/>
                </a:ext>
              </a:extLst>
            </p:cNvPr>
            <p:cNvSpPr txBox="1"/>
            <p:nvPr/>
          </p:nvSpPr>
          <p:spPr>
            <a:xfrm>
              <a:off x="2488042" y="184666"/>
              <a:ext cx="72825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05 August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E53F8E8E-0088-FE94-6D40-C7763953D3DE}"/>
              </a:ext>
            </a:extLst>
          </p:cNvPr>
          <p:cNvSpPr/>
          <p:nvPr/>
        </p:nvSpPr>
        <p:spPr>
          <a:xfrm>
            <a:off x="3329940" y="584240"/>
            <a:ext cx="6027420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Simple </a:t>
            </a:r>
            <a:r>
              <a:rPr lang="en-ZA" dirty="0">
                <a:solidFill>
                  <a:srgbClr val="00B0F0"/>
                </a:solidFill>
                <a:latin typeface="LM Roman 12" panose="00000500000000000000" pitchFamily="50" charset="0"/>
              </a:rPr>
              <a:t>switch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 Example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" name="Slide Zoom 3">
                <a:extLst>
                  <a:ext uri="{FF2B5EF4-FFF2-40B4-BE49-F238E27FC236}">
                    <a16:creationId xmlns:a16="http://schemas.microsoft.com/office/drawing/2014/main" id="{9E459E8B-173F-9CF9-7733-6AAF0347CF2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340601" y="914400"/>
              <a:ext cx="10043347" cy="5649383"/>
            </p:xfrm>
            <a:graphic>
              <a:graphicData uri="http://schemas.microsoft.com/office/powerpoint/2016/slidezoom">
                <pslz:sldZm>
                  <pslz:sldZmObj sldId="494" cId="542526274">
                    <pslz:zmPr id="{FC5423A1-D549-4A21-9948-9C52FD1E7BD9}" returnToParent="0" transitionDur="1000" showBg="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0043347" cy="5649383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" name="Slide Zoom 3">
                <a:extLst>
                  <a:ext uri="{FF2B5EF4-FFF2-40B4-BE49-F238E27FC236}">
                    <a16:creationId xmlns:a16="http://schemas.microsoft.com/office/drawing/2014/main" id="{9E459E8B-173F-9CF9-7733-6AAF0347CF2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340601" y="914400"/>
                <a:ext cx="10043347" cy="5649383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68A3678D-2D30-4750-D20D-DBC67495EF8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2513" y="4713804"/>
            <a:ext cx="6416137" cy="101307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79971B1-5C9D-5599-8D22-96161A2605CC}"/>
              </a:ext>
            </a:extLst>
          </p:cNvPr>
          <p:cNvSpPr/>
          <p:nvPr/>
        </p:nvSpPr>
        <p:spPr>
          <a:xfrm>
            <a:off x="322513" y="1710267"/>
            <a:ext cx="6298420" cy="28050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FF00"/>
                </a:solidFill>
                <a:latin typeface="LM Roman 12" panose="00000500000000000000" pitchFamily="50" charset="0"/>
              </a:rPr>
              <a:t>EXAMPLE from notes (pg. 8&amp;9):</a:t>
            </a:r>
          </a:p>
          <a:p>
            <a:pPr algn="ctr"/>
            <a:r>
              <a:rPr lang="en-ZA" sz="2400" dirty="0">
                <a:solidFill>
                  <a:schemeClr val="bg1"/>
                </a:solidFill>
                <a:latin typeface="LM Roman 12" panose="00000500000000000000" pitchFamily="50" charset="0"/>
              </a:rPr>
              <a:t>Use the </a:t>
            </a:r>
            <a:r>
              <a:rPr lang="en-ZA" sz="2400" dirty="0">
                <a:solidFill>
                  <a:srgbClr val="00B0F0"/>
                </a:solidFill>
                <a:latin typeface="LM Roman 12" panose="00000500000000000000" pitchFamily="50" charset="0"/>
              </a:rPr>
              <a:t>switch</a:t>
            </a:r>
            <a:r>
              <a:rPr lang="en-ZA" sz="2400" dirty="0">
                <a:solidFill>
                  <a:schemeClr val="bg1"/>
                </a:solidFill>
                <a:latin typeface="LM Roman 12" panose="00000500000000000000" pitchFamily="50" charset="0"/>
              </a:rPr>
              <a:t> selection statement to match the cases for number of wheels and the type of vehicle.</a:t>
            </a:r>
          </a:p>
          <a:p>
            <a:pPr algn="ctr"/>
            <a:r>
              <a:rPr lang="en-ZA" sz="2400" dirty="0">
                <a:solidFill>
                  <a:schemeClr val="bg1"/>
                </a:solidFill>
                <a:latin typeface="LM Roman 12" panose="00000500000000000000" pitchFamily="50" charset="0"/>
              </a:rPr>
              <a:t>Cases: 1=unicycle, 2=bicycle, 3=tricycle, 4=car</a:t>
            </a:r>
            <a:endParaRPr lang="en-ZA" dirty="0">
              <a:solidFill>
                <a:schemeClr val="bg1"/>
              </a:solidFill>
              <a:latin typeface="LM Roman 12" panose="00000500000000000000" pitchFamily="50" charset="0"/>
            </a:endParaRPr>
          </a:p>
          <a:p>
            <a:pPr algn="ctr"/>
            <a:endParaRPr lang="en-ZA" dirty="0">
              <a:solidFill>
                <a:schemeClr val="bg1"/>
              </a:solidFill>
              <a:latin typeface="LM Roman 12" panose="00000500000000000000" pitchFamily="50" charset="0"/>
            </a:endParaRPr>
          </a:p>
          <a:p>
            <a:pPr algn="ctr"/>
            <a:endParaRPr lang="en-ZA" dirty="0">
              <a:solidFill>
                <a:schemeClr val="bg1"/>
              </a:solidFill>
              <a:latin typeface="LM Roman 12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73309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65FD6B-489C-1DA0-2832-AB76BD806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9283" y="1024467"/>
            <a:ext cx="6322717" cy="43772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FF114D-C90D-0F66-12F4-CE6DA199BB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829922"/>
            <a:ext cx="5796897" cy="54354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DFB07C-B0B7-C775-1306-D1FEE4FF271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56" b="-1"/>
          <a:stretch>
            <a:fillRect/>
          </a:stretch>
        </p:blipFill>
        <p:spPr>
          <a:xfrm>
            <a:off x="0" y="2836333"/>
            <a:ext cx="4977629" cy="3024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526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950E5-7158-37CA-5962-D0C24CB67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C7915F97-EFE3-5698-52AF-106CCC6A975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C7915F97-EFE3-5698-52AF-106CCC6A97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414F89A8-E0A7-33ED-D29A-FD434CB0B9E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F93CCA-E0A1-6D73-B302-16F4024BA0D4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4	pg. 55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2350F73-0578-CFC3-17A5-009A160EB7E2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7D97873-FB61-6A07-7AA9-D254E5D3F463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6153978-73D8-1FE6-096D-AA87834B399E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1A1F4646-6A1F-23AA-AD3C-DB6298010C2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67AE420-4946-0621-B5B0-777A39A67F01}"/>
                </a:ext>
              </a:extLst>
            </p:cNvPr>
            <p:cNvSpPr txBox="1"/>
            <p:nvPr/>
          </p:nvSpPr>
          <p:spPr>
            <a:xfrm>
              <a:off x="2488042" y="184666"/>
              <a:ext cx="72825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05 August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B2308463-A0E9-D89A-2AFB-43271B5B2CDB}"/>
              </a:ext>
            </a:extLst>
          </p:cNvPr>
          <p:cNvSpPr/>
          <p:nvPr/>
        </p:nvSpPr>
        <p:spPr>
          <a:xfrm>
            <a:off x="3329940" y="584240"/>
            <a:ext cx="6027420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Bigger </a:t>
            </a:r>
            <a:r>
              <a:rPr lang="en-ZA" dirty="0">
                <a:solidFill>
                  <a:srgbClr val="00B0F0"/>
                </a:solidFill>
                <a:latin typeface="LM Roman 12" panose="00000500000000000000" pitchFamily="50" charset="0"/>
              </a:rPr>
              <a:t>switch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 Example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C2619A-0F60-E4AA-0261-63DAE2845BEB}"/>
              </a:ext>
            </a:extLst>
          </p:cNvPr>
          <p:cNvSpPr/>
          <p:nvPr/>
        </p:nvSpPr>
        <p:spPr>
          <a:xfrm>
            <a:off x="68513" y="1573983"/>
            <a:ext cx="4224087" cy="317321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FF00"/>
                </a:solidFill>
                <a:latin typeface="LM Roman 12" panose="00000500000000000000" pitchFamily="50" charset="0"/>
              </a:rPr>
              <a:t>EXAMPLE from notes (pg. 10):</a:t>
            </a:r>
          </a:p>
          <a:p>
            <a:pPr algn="ctr"/>
            <a:endParaRPr lang="en-ZA" dirty="0">
              <a:solidFill>
                <a:schemeClr val="bg1"/>
              </a:solidFill>
              <a:latin typeface="LM Roman 12" panose="00000500000000000000" pitchFamily="50" charset="0"/>
            </a:endParaRPr>
          </a:p>
          <a:p>
            <a:pPr algn="ctr"/>
            <a:r>
              <a:rPr lang="en-ZA" sz="2000" dirty="0">
                <a:solidFill>
                  <a:schemeClr val="bg1"/>
                </a:solidFill>
                <a:latin typeface="LM Roman 12" panose="00000500000000000000" pitchFamily="50" charset="0"/>
              </a:rPr>
              <a:t>Calculate</a:t>
            </a:r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 how many students have passed or failed (using switch statements).</a:t>
            </a:r>
          </a:p>
          <a:p>
            <a:pPr algn="ctr"/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User enters either P or F (not case sensitive, can be lowercase). Output displays total passes and failures.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9C3F19-73FD-6E10-1469-6AF43E84062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31128" y="1573982"/>
            <a:ext cx="5342932" cy="3173213"/>
          </a:xfrm>
          <a:prstGeom prst="rect">
            <a:avLst/>
          </a:prstGeo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8" name="Slide Zoom 7">
                <a:extLst>
                  <a:ext uri="{FF2B5EF4-FFF2-40B4-BE49-F238E27FC236}">
                    <a16:creationId xmlns:a16="http://schemas.microsoft.com/office/drawing/2014/main" id="{226F1C34-33A0-E6DD-0FE6-AAC6BA0D7E1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9838346" y="1428883"/>
              <a:ext cx="6157171" cy="3463409"/>
            </p:xfrm>
            <a:graphic>
              <a:graphicData uri="http://schemas.microsoft.com/office/powerpoint/2016/slidezoom">
                <pslz:sldZm>
                  <pslz:sldZmObj sldId="496" cId="2123606527">
                    <pslz:zmPr id="{8C4F71E8-B01D-43AE-BFCA-1D77BF25F727}" transitionDur="1000" showBg="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157171" cy="3463409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8" name="Slide Zoom 7">
                <a:extLst>
                  <a:ext uri="{FF2B5EF4-FFF2-40B4-BE49-F238E27FC236}">
                    <a16:creationId xmlns:a16="http://schemas.microsoft.com/office/drawing/2014/main" id="{226F1C34-33A0-E6DD-0FE6-AAC6BA0D7E1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838346" y="1428883"/>
                <a:ext cx="6157171" cy="346340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161255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840026-A586-7F15-6ADA-2548929D8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79" y="763326"/>
            <a:ext cx="5746121" cy="55187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81BC32-5A12-072E-4263-E43F6BC6D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0899" y="449322"/>
            <a:ext cx="9769687" cy="5959356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F0CFCE6B-B4A0-3099-8059-E4CA8241FFDA}"/>
              </a:ext>
            </a:extLst>
          </p:cNvPr>
          <p:cNvGrpSpPr/>
          <p:nvPr/>
        </p:nvGrpSpPr>
        <p:grpSpPr>
          <a:xfrm>
            <a:off x="110489" y="2362200"/>
            <a:ext cx="4487333" cy="3217333"/>
            <a:chOff x="0" y="2362200"/>
            <a:chExt cx="4487333" cy="3217333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989B8CD-8D2C-0075-84E9-2CA7550D6521}"/>
                </a:ext>
              </a:extLst>
            </p:cNvPr>
            <p:cNvSpPr txBox="1"/>
            <p:nvPr/>
          </p:nvSpPr>
          <p:spPr>
            <a:xfrm>
              <a:off x="0" y="3056467"/>
              <a:ext cx="461665" cy="1815049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ZA" b="1" dirty="0"/>
                <a:t>DO WHILE LOOP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F8C7938-65B5-7766-76BF-4A910B594A16}"/>
                </a:ext>
              </a:extLst>
            </p:cNvPr>
            <p:cNvSpPr/>
            <p:nvPr/>
          </p:nvSpPr>
          <p:spPr>
            <a:xfrm>
              <a:off x="84667" y="2362200"/>
              <a:ext cx="4402666" cy="3217333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87478F5-2658-AAB5-9906-5F24E80FC099}"/>
              </a:ext>
            </a:extLst>
          </p:cNvPr>
          <p:cNvGrpSpPr/>
          <p:nvPr/>
        </p:nvGrpSpPr>
        <p:grpSpPr>
          <a:xfrm>
            <a:off x="256746" y="2405634"/>
            <a:ext cx="4281387" cy="3116713"/>
            <a:chOff x="256746" y="2405634"/>
            <a:chExt cx="4281387" cy="3116713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3136EC1E-FD0B-6857-C49C-9AC1598D60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26679"/>
            <a:stretch>
              <a:fillRect/>
            </a:stretch>
          </p:blipFill>
          <p:spPr>
            <a:xfrm>
              <a:off x="256746" y="2405634"/>
              <a:ext cx="4281387" cy="3116713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F8330C4-A341-6862-D4ED-EC13DFB29ADC}"/>
                </a:ext>
              </a:extLst>
            </p:cNvPr>
            <p:cNvSpPr txBox="1"/>
            <p:nvPr/>
          </p:nvSpPr>
          <p:spPr>
            <a:xfrm>
              <a:off x="4076468" y="3208866"/>
              <a:ext cx="461665" cy="1435136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ZA" b="1" dirty="0"/>
                <a:t>WHILE LOOP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F5F7B07-6260-3DC6-785B-5D025F75659A}"/>
              </a:ext>
            </a:extLst>
          </p:cNvPr>
          <p:cNvGrpSpPr/>
          <p:nvPr/>
        </p:nvGrpSpPr>
        <p:grpSpPr>
          <a:xfrm>
            <a:off x="255795" y="2386856"/>
            <a:ext cx="4281387" cy="3079156"/>
            <a:chOff x="5057394" y="2472877"/>
            <a:chExt cx="4365120" cy="3116713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3025C1AB-03A2-CE01-8C38-6261D91A05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57394" y="2472877"/>
              <a:ext cx="4365120" cy="3116713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E64FA5B-0E3E-11B3-AB68-C5341A46EB2B}"/>
                </a:ext>
              </a:extLst>
            </p:cNvPr>
            <p:cNvSpPr txBox="1"/>
            <p:nvPr/>
          </p:nvSpPr>
          <p:spPr>
            <a:xfrm>
              <a:off x="8815809" y="3208866"/>
              <a:ext cx="461665" cy="1215974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ZA" b="1" dirty="0"/>
                <a:t>FOR  LOOP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23606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8" dur="10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" dur="50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ED1E9-B0A5-B119-0945-01A5E5D57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BEC2F2C6-2191-90DB-6ACA-2AAE9526898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BEC2F2C6-2191-90DB-6ACA-2AAE952689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23DF8C4E-4B6B-7E60-AB19-490CC31F32F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4DEE41-89CE-3F15-AA47-64E62E8823FC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4	pg. 55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0F2AD4A-469F-1A15-E16C-440F043B2C22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2389D50-471F-75E8-9065-83880C9308E8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4E19A7D-ED88-82F4-8042-6895CF18336E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D0404970-1984-6566-F731-A83FCE4267A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CE9B7F4-AAFC-72F5-3B8D-C352DC8F89DB}"/>
                </a:ext>
              </a:extLst>
            </p:cNvPr>
            <p:cNvSpPr txBox="1"/>
            <p:nvPr/>
          </p:nvSpPr>
          <p:spPr>
            <a:xfrm>
              <a:off x="2488042" y="184666"/>
              <a:ext cx="72825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05 August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19823F51-F5FF-FDE8-573B-B6CC2F3E3349}"/>
              </a:ext>
            </a:extLst>
          </p:cNvPr>
          <p:cNvSpPr/>
          <p:nvPr/>
        </p:nvSpPr>
        <p:spPr>
          <a:xfrm>
            <a:off x="3329940" y="584240"/>
            <a:ext cx="6027420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00B0F0"/>
                </a:solidFill>
                <a:latin typeface="LM Roman 12" panose="00000500000000000000" pitchFamily="50" charset="0"/>
              </a:rPr>
              <a:t>break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 Statement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FA70012-D87F-7D07-3B78-1A3C40700C33}"/>
              </a:ext>
            </a:extLst>
          </p:cNvPr>
          <p:cNvGrpSpPr/>
          <p:nvPr/>
        </p:nvGrpSpPr>
        <p:grpSpPr>
          <a:xfrm>
            <a:off x="628650" y="1293277"/>
            <a:ext cx="5110428" cy="5166445"/>
            <a:chOff x="3335710" y="1099066"/>
            <a:chExt cx="5110428" cy="5166445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9207A5DA-60DC-EAF9-BE10-599803DA0E1B}"/>
                </a:ext>
              </a:extLst>
            </p:cNvPr>
            <p:cNvSpPr/>
            <p:nvPr/>
          </p:nvSpPr>
          <p:spPr>
            <a:xfrm>
              <a:off x="3342122" y="1099066"/>
              <a:ext cx="914400" cy="47548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start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85E1605-AED9-5D50-A6A2-527098903150}"/>
                </a:ext>
              </a:extLst>
            </p:cNvPr>
            <p:cNvSpPr/>
            <p:nvPr/>
          </p:nvSpPr>
          <p:spPr>
            <a:xfrm>
              <a:off x="3342122" y="5790023"/>
              <a:ext cx="914400" cy="47548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end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B64E13B8-FC10-1923-A80C-243F99505D5B}"/>
                </a:ext>
              </a:extLst>
            </p:cNvPr>
            <p:cNvCxnSpPr>
              <a:cxnSpLocks/>
              <a:stCxn id="4" idx="4"/>
              <a:endCxn id="65" idx="0"/>
            </p:cNvCxnSpPr>
            <p:nvPr/>
          </p:nvCxnSpPr>
          <p:spPr>
            <a:xfrm flipH="1">
              <a:off x="3792910" y="1574554"/>
              <a:ext cx="6412" cy="210367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92DA1E7-9790-5E7F-3ABF-71360EC26EE1}"/>
                </a:ext>
              </a:extLst>
            </p:cNvPr>
            <p:cNvGrpSpPr/>
            <p:nvPr/>
          </p:nvGrpSpPr>
          <p:grpSpPr>
            <a:xfrm>
              <a:off x="3335710" y="1784921"/>
              <a:ext cx="4351014" cy="629412"/>
              <a:chOff x="1488646" y="1669784"/>
              <a:chExt cx="4351014" cy="629412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2E1BD83E-69AE-4327-D88F-C6592F676A8F}"/>
                  </a:ext>
                </a:extLst>
              </p:cNvPr>
              <p:cNvSpPr/>
              <p:nvPr/>
            </p:nvSpPr>
            <p:spPr>
              <a:xfrm>
                <a:off x="2993760" y="1735055"/>
                <a:ext cx="1208285" cy="47548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Do this action</a:t>
                </a: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11377765-D546-4777-106B-080B7938D104}"/>
                  </a:ext>
                </a:extLst>
              </p:cNvPr>
              <p:cNvSpPr/>
              <p:nvPr/>
            </p:nvSpPr>
            <p:spPr>
              <a:xfrm>
                <a:off x="4631375" y="1746746"/>
                <a:ext cx="1208285" cy="47548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Break</a:t>
                </a:r>
                <a:endParaRPr lang="en-ZA" dirty="0"/>
              </a:p>
            </p:txBody>
          </p: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948921E4-B8CE-D0E1-B7C9-68C8C32E8CEE}"/>
                  </a:ext>
                </a:extLst>
              </p:cNvPr>
              <p:cNvCxnSpPr>
                <a:stCxn id="65" idx="3"/>
                <a:endCxn id="60" idx="1"/>
              </p:cNvCxnSpPr>
              <p:nvPr/>
            </p:nvCxnSpPr>
            <p:spPr>
              <a:xfrm flipV="1">
                <a:off x="2403046" y="1972799"/>
                <a:ext cx="590714" cy="11691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AA8EED9C-688F-BE30-DE97-123B8B53D1EC}"/>
                  </a:ext>
                </a:extLst>
              </p:cNvPr>
              <p:cNvCxnSpPr>
                <a:stCxn id="60" idx="3"/>
                <a:endCxn id="61" idx="1"/>
              </p:cNvCxnSpPr>
              <p:nvPr/>
            </p:nvCxnSpPr>
            <p:spPr>
              <a:xfrm>
                <a:off x="4202045" y="1972799"/>
                <a:ext cx="429330" cy="11691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FF55571E-CA54-B578-15FA-C030E1CCD256}"/>
                  </a:ext>
                </a:extLst>
              </p:cNvPr>
              <p:cNvGrpSpPr/>
              <p:nvPr/>
            </p:nvGrpSpPr>
            <p:grpSpPr>
              <a:xfrm>
                <a:off x="1488646" y="1669784"/>
                <a:ext cx="914400" cy="629412"/>
                <a:chOff x="1465837" y="1712996"/>
                <a:chExt cx="914400" cy="629412"/>
              </a:xfrm>
            </p:grpSpPr>
            <p:sp>
              <p:nvSpPr>
                <p:cNvPr id="65" name="Flowchart: Decision 64">
                  <a:extLst>
                    <a:ext uri="{FF2B5EF4-FFF2-40B4-BE49-F238E27FC236}">
                      <a16:creationId xmlns:a16="http://schemas.microsoft.com/office/drawing/2014/main" id="{FE1B5600-7CD4-F74C-ECB7-315F0D47C0E4}"/>
                    </a:ext>
                  </a:extLst>
                </p:cNvPr>
                <p:cNvSpPr/>
                <p:nvPr/>
              </p:nvSpPr>
              <p:spPr>
                <a:xfrm>
                  <a:off x="1465837" y="1712996"/>
                  <a:ext cx="914400" cy="629412"/>
                </a:xfrm>
                <a:prstGeom prst="flowChartDecision">
                  <a:avLst/>
                </a:prstGeom>
                <a:solidFill>
                  <a:srgbClr val="FF000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 sz="1000" dirty="0"/>
                </a:p>
              </p:txBody>
            </p:sp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C55CDB8C-EA9F-CC12-1D4A-6020A961982A}"/>
                    </a:ext>
                  </a:extLst>
                </p:cNvPr>
                <p:cNvSpPr txBox="1"/>
                <p:nvPr/>
              </p:nvSpPr>
              <p:spPr>
                <a:xfrm>
                  <a:off x="1472249" y="1813169"/>
                  <a:ext cx="89800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ZA" dirty="0">
                      <a:solidFill>
                        <a:schemeClr val="bg1"/>
                      </a:solidFill>
                      <a:latin typeface="LM Roman 12" panose="00000500000000000000" pitchFamily="50" charset="0"/>
                    </a:rPr>
                    <a:t>Case A</a:t>
                  </a:r>
                </a:p>
              </p:txBody>
            </p:sp>
          </p:grp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6BEA118-35EE-0A2E-5416-846B503F80A1}"/>
                </a:ext>
              </a:extLst>
            </p:cNvPr>
            <p:cNvGrpSpPr/>
            <p:nvPr/>
          </p:nvGrpSpPr>
          <p:grpSpPr>
            <a:xfrm>
              <a:off x="3335710" y="2727536"/>
              <a:ext cx="4351014" cy="629412"/>
              <a:chOff x="1488646" y="2612399"/>
              <a:chExt cx="4351014" cy="629412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73E2657C-CF4D-D945-512D-1416FC76D002}"/>
                  </a:ext>
                </a:extLst>
              </p:cNvPr>
              <p:cNvSpPr/>
              <p:nvPr/>
            </p:nvSpPr>
            <p:spPr>
              <a:xfrm>
                <a:off x="2993760" y="2689361"/>
                <a:ext cx="1208285" cy="47548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Do that action</a:t>
                </a:r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CAC6E23C-466B-0CE2-9976-7516EA705D6E}"/>
                  </a:ext>
                </a:extLst>
              </p:cNvPr>
              <p:cNvSpPr/>
              <p:nvPr/>
            </p:nvSpPr>
            <p:spPr>
              <a:xfrm>
                <a:off x="4631375" y="2673212"/>
                <a:ext cx="1208285" cy="47548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Break</a:t>
                </a:r>
              </a:p>
            </p:txBody>
          </p: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426732C8-8562-D00E-65C0-F1AFF5026DC0}"/>
                  </a:ext>
                </a:extLst>
              </p:cNvPr>
              <p:cNvCxnSpPr>
                <a:stCxn id="58" idx="3"/>
                <a:endCxn id="53" idx="1"/>
              </p:cNvCxnSpPr>
              <p:nvPr/>
            </p:nvCxnSpPr>
            <p:spPr>
              <a:xfrm>
                <a:off x="2403046" y="2927105"/>
                <a:ext cx="590714" cy="0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F64CDFE6-3C91-489D-25B7-1C3983AA0F52}"/>
                  </a:ext>
                </a:extLst>
              </p:cNvPr>
              <p:cNvCxnSpPr>
                <a:stCxn id="53" idx="3"/>
                <a:endCxn id="54" idx="1"/>
              </p:cNvCxnSpPr>
              <p:nvPr/>
            </p:nvCxnSpPr>
            <p:spPr>
              <a:xfrm flipV="1">
                <a:off x="4202045" y="2910956"/>
                <a:ext cx="429330" cy="16149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CEB20070-CB85-0A13-DCC0-280557625F48}"/>
                  </a:ext>
                </a:extLst>
              </p:cNvPr>
              <p:cNvGrpSpPr/>
              <p:nvPr/>
            </p:nvGrpSpPr>
            <p:grpSpPr>
              <a:xfrm>
                <a:off x="1488646" y="2612399"/>
                <a:ext cx="914400" cy="629412"/>
                <a:chOff x="1488646" y="2612399"/>
                <a:chExt cx="914400" cy="629412"/>
              </a:xfrm>
            </p:grpSpPr>
            <p:sp>
              <p:nvSpPr>
                <p:cNvPr id="58" name="Flowchart: Decision 57">
                  <a:extLst>
                    <a:ext uri="{FF2B5EF4-FFF2-40B4-BE49-F238E27FC236}">
                      <a16:creationId xmlns:a16="http://schemas.microsoft.com/office/drawing/2014/main" id="{0A664D43-0664-85EA-894E-EE3D6F6CB120}"/>
                    </a:ext>
                  </a:extLst>
                </p:cNvPr>
                <p:cNvSpPr/>
                <p:nvPr/>
              </p:nvSpPr>
              <p:spPr>
                <a:xfrm>
                  <a:off x="1488646" y="2612399"/>
                  <a:ext cx="914400" cy="629412"/>
                </a:xfrm>
                <a:prstGeom prst="flowChartDecision">
                  <a:avLst/>
                </a:prstGeom>
                <a:solidFill>
                  <a:srgbClr val="FF000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 sz="1000" dirty="0"/>
                </a:p>
              </p:txBody>
            </p:sp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40161E70-3E89-6A7C-4D0B-636495CC4640}"/>
                    </a:ext>
                  </a:extLst>
                </p:cNvPr>
                <p:cNvSpPr txBox="1"/>
                <p:nvPr/>
              </p:nvSpPr>
              <p:spPr>
                <a:xfrm>
                  <a:off x="1495058" y="2719813"/>
                  <a:ext cx="88838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ZA" dirty="0">
                      <a:solidFill>
                        <a:schemeClr val="bg1"/>
                      </a:solidFill>
                      <a:latin typeface="LM Roman 12" panose="00000500000000000000" pitchFamily="50" charset="0"/>
                    </a:rPr>
                    <a:t>Case B</a:t>
                  </a:r>
                </a:p>
              </p:txBody>
            </p:sp>
          </p:grp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D76481F-9D2D-939F-C05D-2524D421BAAA}"/>
                </a:ext>
              </a:extLst>
            </p:cNvPr>
            <p:cNvGrpSpPr/>
            <p:nvPr/>
          </p:nvGrpSpPr>
          <p:grpSpPr>
            <a:xfrm>
              <a:off x="3335710" y="3542525"/>
              <a:ext cx="4351014" cy="629412"/>
              <a:chOff x="1488646" y="3427388"/>
              <a:chExt cx="4351014" cy="629412"/>
            </a:xfrm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A785CBED-7D34-C476-2636-855404861D65}"/>
                  </a:ext>
                </a:extLst>
              </p:cNvPr>
              <p:cNvSpPr/>
              <p:nvPr/>
            </p:nvSpPr>
            <p:spPr>
              <a:xfrm>
                <a:off x="2993760" y="3505207"/>
                <a:ext cx="1208285" cy="47548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Do that action</a:t>
                </a: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9EFAAA10-9A69-9D40-8AA9-4AF9C89E482D}"/>
                  </a:ext>
                </a:extLst>
              </p:cNvPr>
              <p:cNvSpPr/>
              <p:nvPr/>
            </p:nvSpPr>
            <p:spPr>
              <a:xfrm>
                <a:off x="4631375" y="3488746"/>
                <a:ext cx="1208285" cy="47548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Break</a:t>
                </a:r>
              </a:p>
            </p:txBody>
          </p: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03683BF2-5475-D71D-45F0-4C727FA6E55C}"/>
                  </a:ext>
                </a:extLst>
              </p:cNvPr>
              <p:cNvCxnSpPr>
                <a:stCxn id="51" idx="3"/>
                <a:endCxn id="46" idx="1"/>
              </p:cNvCxnSpPr>
              <p:nvPr/>
            </p:nvCxnSpPr>
            <p:spPr>
              <a:xfrm>
                <a:off x="2403046" y="3742094"/>
                <a:ext cx="590714" cy="857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ED60F759-58D2-3F64-6732-A7AD18C4A416}"/>
                  </a:ext>
                </a:extLst>
              </p:cNvPr>
              <p:cNvCxnSpPr>
                <a:stCxn id="46" idx="3"/>
                <a:endCxn id="47" idx="1"/>
              </p:cNvCxnSpPr>
              <p:nvPr/>
            </p:nvCxnSpPr>
            <p:spPr>
              <a:xfrm flipV="1">
                <a:off x="4202045" y="3726490"/>
                <a:ext cx="429330" cy="16461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1A75B6E0-2011-9D51-72D0-7DB441569CDF}"/>
                  </a:ext>
                </a:extLst>
              </p:cNvPr>
              <p:cNvGrpSpPr/>
              <p:nvPr/>
            </p:nvGrpSpPr>
            <p:grpSpPr>
              <a:xfrm>
                <a:off x="1488646" y="3427388"/>
                <a:ext cx="914400" cy="629412"/>
                <a:chOff x="1488646" y="3427388"/>
                <a:chExt cx="914400" cy="629412"/>
              </a:xfrm>
            </p:grpSpPr>
            <p:sp>
              <p:nvSpPr>
                <p:cNvPr id="51" name="Flowchart: Decision 50">
                  <a:extLst>
                    <a:ext uri="{FF2B5EF4-FFF2-40B4-BE49-F238E27FC236}">
                      <a16:creationId xmlns:a16="http://schemas.microsoft.com/office/drawing/2014/main" id="{5B5AA008-6935-F1FE-F4FD-E9201CD1525B}"/>
                    </a:ext>
                  </a:extLst>
                </p:cNvPr>
                <p:cNvSpPr/>
                <p:nvPr/>
              </p:nvSpPr>
              <p:spPr>
                <a:xfrm>
                  <a:off x="1488646" y="3427388"/>
                  <a:ext cx="914400" cy="629412"/>
                </a:xfrm>
                <a:prstGeom prst="flowChartDecision">
                  <a:avLst/>
                </a:prstGeom>
                <a:solidFill>
                  <a:srgbClr val="FF000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 sz="1000" dirty="0"/>
                </a:p>
              </p:txBody>
            </p:sp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D77BFEDB-68BF-0495-2BB7-44380719341D}"/>
                    </a:ext>
                  </a:extLst>
                </p:cNvPr>
                <p:cNvSpPr txBox="1"/>
                <p:nvPr/>
              </p:nvSpPr>
              <p:spPr>
                <a:xfrm>
                  <a:off x="1495058" y="3541824"/>
                  <a:ext cx="89159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ZA" dirty="0">
                      <a:solidFill>
                        <a:schemeClr val="bg1"/>
                      </a:solidFill>
                      <a:latin typeface="LM Roman 12" panose="00000500000000000000" pitchFamily="50" charset="0"/>
                    </a:rPr>
                    <a:t>Case C</a:t>
                  </a:r>
                </a:p>
              </p:txBody>
            </p:sp>
          </p:grp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942A7569-6DAF-1B1B-4B47-ECCE38402B3E}"/>
                </a:ext>
              </a:extLst>
            </p:cNvPr>
            <p:cNvGrpSpPr/>
            <p:nvPr/>
          </p:nvGrpSpPr>
          <p:grpSpPr>
            <a:xfrm>
              <a:off x="3342122" y="4725879"/>
              <a:ext cx="4344601" cy="629412"/>
              <a:chOff x="1495058" y="4610742"/>
              <a:chExt cx="4344601" cy="629412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3A69BBB7-79CD-7008-0127-69A829123706}"/>
                  </a:ext>
                </a:extLst>
              </p:cNvPr>
              <p:cNvSpPr/>
              <p:nvPr/>
            </p:nvSpPr>
            <p:spPr>
              <a:xfrm>
                <a:off x="2993759" y="4687704"/>
                <a:ext cx="1208285" cy="47548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default action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3FB8E5E1-1A52-EDC9-AB4A-011E7A3FC40C}"/>
                  </a:ext>
                </a:extLst>
              </p:cNvPr>
              <p:cNvSpPr/>
              <p:nvPr/>
            </p:nvSpPr>
            <p:spPr>
              <a:xfrm>
                <a:off x="4631374" y="4673066"/>
                <a:ext cx="1208285" cy="47548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Break</a:t>
                </a:r>
              </a:p>
            </p:txBody>
          </p: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703D0C7F-94E3-2803-87AA-5C79AAB28891}"/>
                  </a:ext>
                </a:extLst>
              </p:cNvPr>
              <p:cNvCxnSpPr>
                <a:cxnSpLocks/>
                <a:stCxn id="37" idx="3"/>
                <a:endCxn id="38" idx="1"/>
              </p:cNvCxnSpPr>
              <p:nvPr/>
            </p:nvCxnSpPr>
            <p:spPr>
              <a:xfrm flipV="1">
                <a:off x="4202044" y="4910810"/>
                <a:ext cx="429330" cy="14638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71AD655B-45A5-1C7C-4417-0DEA4D6000F3}"/>
                  </a:ext>
                </a:extLst>
              </p:cNvPr>
              <p:cNvGrpSpPr/>
              <p:nvPr/>
            </p:nvGrpSpPr>
            <p:grpSpPr>
              <a:xfrm>
                <a:off x="1495058" y="4610742"/>
                <a:ext cx="914400" cy="629412"/>
                <a:chOff x="1455313" y="4599509"/>
                <a:chExt cx="914400" cy="629412"/>
              </a:xfrm>
            </p:grpSpPr>
            <p:sp>
              <p:nvSpPr>
                <p:cNvPr id="44" name="Flowchart: Decision 43">
                  <a:extLst>
                    <a:ext uri="{FF2B5EF4-FFF2-40B4-BE49-F238E27FC236}">
                      <a16:creationId xmlns:a16="http://schemas.microsoft.com/office/drawing/2014/main" id="{0AFA0A79-6ABF-AACF-24E3-93617122144F}"/>
                    </a:ext>
                  </a:extLst>
                </p:cNvPr>
                <p:cNvSpPr/>
                <p:nvPr/>
              </p:nvSpPr>
              <p:spPr>
                <a:xfrm>
                  <a:off x="1455313" y="4599509"/>
                  <a:ext cx="914400" cy="629412"/>
                </a:xfrm>
                <a:prstGeom prst="flowChartDecision">
                  <a:avLst/>
                </a:prstGeom>
                <a:solidFill>
                  <a:srgbClr val="FF000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 sz="1000" dirty="0"/>
                </a:p>
              </p:txBody>
            </p:sp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1CEB88B6-124A-134D-9DC4-FF73BAE36602}"/>
                    </a:ext>
                  </a:extLst>
                </p:cNvPr>
                <p:cNvSpPr txBox="1"/>
                <p:nvPr/>
              </p:nvSpPr>
              <p:spPr>
                <a:xfrm>
                  <a:off x="1494152" y="4714911"/>
                  <a:ext cx="86914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ZA" dirty="0">
                      <a:solidFill>
                        <a:schemeClr val="bg1"/>
                      </a:solidFill>
                      <a:latin typeface="LM Roman 12" panose="00000500000000000000" pitchFamily="50" charset="0"/>
                    </a:rPr>
                    <a:t>default</a:t>
                  </a:r>
                </a:p>
              </p:txBody>
            </p:sp>
          </p:grp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AFC2E32E-AB1E-0ADB-2F00-448011D97940}"/>
                  </a:ext>
                </a:extLst>
              </p:cNvPr>
              <p:cNvCxnSpPr>
                <a:cxnSpLocks/>
                <a:stCxn id="45" idx="3"/>
                <a:endCxn id="37" idx="1"/>
              </p:cNvCxnSpPr>
              <p:nvPr/>
            </p:nvCxnSpPr>
            <p:spPr>
              <a:xfrm>
                <a:off x="2403046" y="4910810"/>
                <a:ext cx="590713" cy="14638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5A96C9B7-B9FC-A7F6-ACC7-544ABED5DA6B}"/>
                </a:ext>
              </a:extLst>
            </p:cNvPr>
            <p:cNvCxnSpPr>
              <a:cxnSpLocks/>
              <a:stCxn id="44" idx="2"/>
              <a:endCxn id="5" idx="0"/>
            </p:cNvCxnSpPr>
            <p:nvPr/>
          </p:nvCxnSpPr>
          <p:spPr>
            <a:xfrm>
              <a:off x="3799322" y="5355291"/>
              <a:ext cx="0" cy="434732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48F4033-675C-B531-A713-C4047B489423}"/>
                </a:ext>
              </a:extLst>
            </p:cNvPr>
            <p:cNvCxnSpPr>
              <a:cxnSpLocks/>
              <a:stCxn id="65" idx="2"/>
              <a:endCxn id="58" idx="0"/>
            </p:cNvCxnSpPr>
            <p:nvPr/>
          </p:nvCxnSpPr>
          <p:spPr>
            <a:xfrm>
              <a:off x="3792910" y="2414333"/>
              <a:ext cx="0" cy="313203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9E9CD01F-5CE9-FA63-025D-54C38BBA6960}"/>
                </a:ext>
              </a:extLst>
            </p:cNvPr>
            <p:cNvCxnSpPr>
              <a:cxnSpLocks/>
              <a:stCxn id="58" idx="2"/>
              <a:endCxn id="51" idx="0"/>
            </p:cNvCxnSpPr>
            <p:nvPr/>
          </p:nvCxnSpPr>
          <p:spPr>
            <a:xfrm>
              <a:off x="3792910" y="3356948"/>
              <a:ext cx="0" cy="185577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17A05C2E-6205-E905-29EE-804F7D97C7EE}"/>
                </a:ext>
              </a:extLst>
            </p:cNvPr>
            <p:cNvCxnSpPr>
              <a:cxnSpLocks/>
              <a:stCxn id="51" idx="2"/>
            </p:cNvCxnSpPr>
            <p:nvPr/>
          </p:nvCxnSpPr>
          <p:spPr>
            <a:xfrm>
              <a:off x="3792910" y="4171937"/>
              <a:ext cx="6595" cy="272090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7928E60F-7E3C-7DB1-6FEB-8B247A9D6779}"/>
                </a:ext>
              </a:extLst>
            </p:cNvPr>
            <p:cNvCxnSpPr>
              <a:cxnSpLocks/>
              <a:endCxn id="44" idx="0"/>
            </p:cNvCxnSpPr>
            <p:nvPr/>
          </p:nvCxnSpPr>
          <p:spPr>
            <a:xfrm>
              <a:off x="3799322" y="4519497"/>
              <a:ext cx="0" cy="206382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D2C6B9D-2FD2-1B04-E4EE-A0DF6C92B79C}"/>
                </a:ext>
              </a:extLst>
            </p:cNvPr>
            <p:cNvGrpSpPr/>
            <p:nvPr/>
          </p:nvGrpSpPr>
          <p:grpSpPr>
            <a:xfrm>
              <a:off x="3607284" y="4163587"/>
              <a:ext cx="358140" cy="409384"/>
              <a:chOff x="1760220" y="4048450"/>
              <a:chExt cx="358140" cy="409384"/>
            </a:xfrm>
          </p:grpSpPr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B5096C9B-8F04-060C-2B31-E074970E2EA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60220" y="4319884"/>
                <a:ext cx="358140" cy="13795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AD758325-612C-18AB-7422-59BA97E95B59}"/>
                  </a:ext>
                </a:extLst>
              </p:cNvPr>
              <p:cNvCxnSpPr/>
              <p:nvPr/>
            </p:nvCxnSpPr>
            <p:spPr>
              <a:xfrm>
                <a:off x="1961876" y="4048450"/>
                <a:ext cx="6595" cy="272090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71749928-69F5-3717-B803-6861AC07FAD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60220" y="4259682"/>
                <a:ext cx="358140" cy="14467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D78CB815-0047-036F-0510-425597F0314A}"/>
                </a:ext>
              </a:extLst>
            </p:cNvPr>
            <p:cNvGrpSpPr/>
            <p:nvPr/>
          </p:nvGrpSpPr>
          <p:grpSpPr>
            <a:xfrm>
              <a:off x="7686723" y="2099627"/>
              <a:ext cx="378261" cy="2940958"/>
              <a:chOff x="5839659" y="1984490"/>
              <a:chExt cx="378261" cy="2940958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648F115A-2F5D-21BD-ACEF-5ED69D2C96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39659" y="4925448"/>
                <a:ext cx="378261" cy="0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37748D77-5A50-766D-6354-263CB8598D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39659" y="3722400"/>
                <a:ext cx="378261" cy="0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E7C15DE4-2195-C685-24FA-6174D6EF07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39659" y="2922560"/>
                <a:ext cx="378261" cy="0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FA9C9942-574C-522B-2922-45FD4774C5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39659" y="2003260"/>
                <a:ext cx="378261" cy="0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2583B01A-1B26-382C-7BE1-A05B67AE3139}"/>
                  </a:ext>
                </a:extLst>
              </p:cNvPr>
              <p:cNvCxnSpPr/>
              <p:nvPr/>
            </p:nvCxnSpPr>
            <p:spPr>
              <a:xfrm>
                <a:off x="6217920" y="1984490"/>
                <a:ext cx="0" cy="2940958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A3C089E-13F7-47EA-D15A-3C90701312A3}"/>
                </a:ext>
              </a:extLst>
            </p:cNvPr>
            <p:cNvSpPr txBox="1"/>
            <p:nvPr/>
          </p:nvSpPr>
          <p:spPr>
            <a:xfrm>
              <a:off x="3965424" y="1454453"/>
              <a:ext cx="44807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2000" b="1" dirty="0">
                  <a:latin typeface="LM Roman 12" panose="00000500000000000000" pitchFamily="50" charset="0"/>
                </a:rPr>
                <a:t>when this case is true…do this action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F97283B-AF81-F3A4-FF81-DEFAAF5B4A21}"/>
                </a:ext>
              </a:extLst>
            </p:cNvPr>
            <p:cNvSpPr txBox="1"/>
            <p:nvPr/>
          </p:nvSpPr>
          <p:spPr>
            <a:xfrm>
              <a:off x="3889866" y="4419417"/>
              <a:ext cx="393889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2000" b="1" dirty="0">
                  <a:latin typeface="LM Roman 12" panose="00000500000000000000" pitchFamily="50" charset="0"/>
                </a:rPr>
                <a:t>Otherwise do this default action</a:t>
              </a:r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8199A4D0-10CE-E586-56B5-747FDA8DB1DD}"/>
              </a:ext>
            </a:extLst>
          </p:cNvPr>
          <p:cNvSpPr txBox="1"/>
          <p:nvPr/>
        </p:nvSpPr>
        <p:spPr>
          <a:xfrm>
            <a:off x="2422844" y="5668554"/>
            <a:ext cx="226773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5400" b="1" dirty="0"/>
              <a:t>switch</a:t>
            </a: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7924339C-B3F1-B8A4-B898-ECB376A9BB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58069" y="1954015"/>
            <a:ext cx="6402750" cy="1935463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E5CE10D2-5A2D-8DB3-D15A-5D2B71A044B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58069" y="4098086"/>
            <a:ext cx="6402750" cy="1148378"/>
          </a:xfrm>
          <a:prstGeom prst="rect">
            <a:avLst/>
          </a:prstGeom>
        </p:spPr>
      </p:pic>
      <p:sp>
        <p:nvSpPr>
          <p:cNvPr id="76" name="Rectangle 75">
            <a:extLst>
              <a:ext uri="{FF2B5EF4-FFF2-40B4-BE49-F238E27FC236}">
                <a16:creationId xmlns:a16="http://schemas.microsoft.com/office/drawing/2014/main" id="{19989608-FD16-13CC-9566-F29AB1241440}"/>
              </a:ext>
            </a:extLst>
          </p:cNvPr>
          <p:cNvSpPr/>
          <p:nvPr/>
        </p:nvSpPr>
        <p:spPr>
          <a:xfrm>
            <a:off x="3498721" y="1982205"/>
            <a:ext cx="2022790" cy="390584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b="1" dirty="0">
              <a:solidFill>
                <a:srgbClr val="00B0F0"/>
              </a:solidFill>
            </a:endParaRPr>
          </a:p>
          <a:p>
            <a:pPr algn="ctr"/>
            <a:endParaRPr lang="en-ZA" b="1" dirty="0">
              <a:solidFill>
                <a:srgbClr val="00B0F0"/>
              </a:solidFill>
            </a:endParaRPr>
          </a:p>
          <a:p>
            <a:pPr algn="ctr"/>
            <a:endParaRPr lang="en-ZA" b="1" dirty="0">
              <a:solidFill>
                <a:srgbClr val="00B0F0"/>
              </a:solidFill>
            </a:endParaRPr>
          </a:p>
          <a:p>
            <a:pPr algn="ctr"/>
            <a:endParaRPr lang="en-ZA" b="1" dirty="0">
              <a:solidFill>
                <a:srgbClr val="00B0F0"/>
              </a:solidFill>
            </a:endParaRPr>
          </a:p>
          <a:p>
            <a:pPr algn="ctr"/>
            <a:endParaRPr lang="en-ZA" b="1" dirty="0">
              <a:solidFill>
                <a:srgbClr val="00B0F0"/>
              </a:solidFill>
            </a:endParaRPr>
          </a:p>
          <a:p>
            <a:pPr algn="ctr"/>
            <a:endParaRPr lang="en-ZA" b="1" dirty="0">
              <a:solidFill>
                <a:srgbClr val="00B0F0"/>
              </a:solidFill>
            </a:endParaRPr>
          </a:p>
          <a:p>
            <a:pPr algn="ctr"/>
            <a:endParaRPr lang="en-ZA" b="1" dirty="0">
              <a:solidFill>
                <a:srgbClr val="00B0F0"/>
              </a:solidFill>
            </a:endParaRPr>
          </a:p>
          <a:p>
            <a:pPr algn="ctr"/>
            <a:endParaRPr lang="en-ZA" b="1" dirty="0">
              <a:solidFill>
                <a:srgbClr val="00B0F0"/>
              </a:solidFill>
            </a:endParaRPr>
          </a:p>
          <a:p>
            <a:pPr algn="ctr"/>
            <a:endParaRPr lang="en-ZA" b="1" dirty="0">
              <a:solidFill>
                <a:srgbClr val="00B0F0"/>
              </a:solidFill>
            </a:endParaRPr>
          </a:p>
          <a:p>
            <a:pPr algn="ctr"/>
            <a:endParaRPr lang="en-ZA" b="1" dirty="0">
              <a:solidFill>
                <a:srgbClr val="00B0F0"/>
              </a:solidFill>
            </a:endParaRPr>
          </a:p>
          <a:p>
            <a:pPr algn="ctr"/>
            <a:endParaRPr lang="en-ZA" b="1" dirty="0">
              <a:solidFill>
                <a:srgbClr val="00B0F0"/>
              </a:solidFill>
            </a:endParaRPr>
          </a:p>
          <a:p>
            <a:pPr algn="ctr"/>
            <a:endParaRPr lang="en-ZA" b="1" dirty="0">
              <a:solidFill>
                <a:srgbClr val="00B0F0"/>
              </a:solidFill>
            </a:endParaRPr>
          </a:p>
          <a:p>
            <a:pPr algn="ctr"/>
            <a:endParaRPr lang="en-ZA" b="1" dirty="0">
              <a:solidFill>
                <a:srgbClr val="00B0F0"/>
              </a:solidFill>
            </a:endParaRPr>
          </a:p>
          <a:p>
            <a:pPr algn="ctr"/>
            <a:endParaRPr lang="en-ZA" b="1" dirty="0">
              <a:solidFill>
                <a:srgbClr val="00B0F0"/>
              </a:solidFill>
            </a:endParaRPr>
          </a:p>
          <a:p>
            <a:pPr algn="ctr"/>
            <a:r>
              <a:rPr lang="en-ZA" b="1" dirty="0">
                <a:solidFill>
                  <a:srgbClr val="00B0F0"/>
                </a:solidFill>
              </a:rPr>
              <a:t>break</a:t>
            </a:r>
            <a:r>
              <a:rPr lang="en-ZA" b="1" dirty="0"/>
              <a:t> </a:t>
            </a:r>
            <a:r>
              <a:rPr lang="en-ZA" b="1" dirty="0">
                <a:solidFill>
                  <a:schemeClr val="tx1"/>
                </a:solidFill>
              </a:rPr>
              <a:t>statements</a:t>
            </a:r>
          </a:p>
          <a:p>
            <a:pPr algn="ctr"/>
            <a:endParaRPr lang="en-ZA" dirty="0">
              <a:solidFill>
                <a:schemeClr val="bg1"/>
              </a:solidFill>
              <a:latin typeface="LM Roman 12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74525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 tmFilter="0, 0; .2, .5; .8, .5; 1, 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1000" autoRev="1" fill="hold"/>
                                        <p:tgtEl>
                                          <p:spTgt spid="7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F8524-9142-6EA6-122F-20C9C0AAE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0809BCFF-0895-B8DB-F000-7C97DAC4F5B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0809BCFF-0895-B8DB-F000-7C97DAC4F5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26565D96-B7E3-FA9D-B5FB-93CCE5E50AC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C321B71-A864-A31F-92F9-8A22AC0793B6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4	pg. 55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1FF10DA-4843-B6F3-C33D-BAFF312C2A16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1AC6218-9BDD-9785-6560-C48A4777DD65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2637C35-8070-A86C-F0BB-FD5D466D6C36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33098AA3-EDEE-17AE-946C-3CD7DA37CEA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7991A71-EF2F-20A1-DCDC-AFE80E1E9D8B}"/>
                </a:ext>
              </a:extLst>
            </p:cNvPr>
            <p:cNvSpPr txBox="1"/>
            <p:nvPr/>
          </p:nvSpPr>
          <p:spPr>
            <a:xfrm>
              <a:off x="2488042" y="184666"/>
              <a:ext cx="72825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05 August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7278842B-5470-8797-6278-FDF27AC64B89}"/>
              </a:ext>
            </a:extLst>
          </p:cNvPr>
          <p:cNvSpPr/>
          <p:nvPr/>
        </p:nvSpPr>
        <p:spPr>
          <a:xfrm>
            <a:off x="3329940" y="584240"/>
            <a:ext cx="6027420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00B0F0"/>
                </a:solidFill>
                <a:latin typeface="LM Roman 12" panose="00000500000000000000" pitchFamily="50" charset="0"/>
              </a:rPr>
              <a:t>Structured programming 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SUMMARY: sequence, selection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65BD703-AE7B-A9C7-F6CA-0E16D4685E8C}"/>
              </a:ext>
            </a:extLst>
          </p:cNvPr>
          <p:cNvGrpSpPr/>
          <p:nvPr/>
        </p:nvGrpSpPr>
        <p:grpSpPr>
          <a:xfrm>
            <a:off x="264945" y="1721026"/>
            <a:ext cx="1208285" cy="3217622"/>
            <a:chOff x="171820" y="1399032"/>
            <a:chExt cx="1208285" cy="3217622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581A604-258C-9F47-C08F-38EF0401007B}"/>
                </a:ext>
              </a:extLst>
            </p:cNvPr>
            <p:cNvSpPr/>
            <p:nvPr/>
          </p:nvSpPr>
          <p:spPr>
            <a:xfrm>
              <a:off x="322513" y="1399032"/>
              <a:ext cx="914400" cy="47548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start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1A5AF30-5029-D3D5-9DA0-3390DC62AD8B}"/>
                </a:ext>
              </a:extLst>
            </p:cNvPr>
            <p:cNvSpPr/>
            <p:nvPr/>
          </p:nvSpPr>
          <p:spPr>
            <a:xfrm>
              <a:off x="318763" y="4141166"/>
              <a:ext cx="914400" cy="47548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end</a:t>
              </a:r>
            </a:p>
          </p:txBody>
        </p:sp>
        <p:sp>
          <p:nvSpPr>
            <p:cNvPr id="68" name="Flowchart: Decision 67">
              <a:extLst>
                <a:ext uri="{FF2B5EF4-FFF2-40B4-BE49-F238E27FC236}">
                  <a16:creationId xmlns:a16="http://schemas.microsoft.com/office/drawing/2014/main" id="{BF46DD8B-D7B2-5457-9AFD-34F839152A79}"/>
                </a:ext>
              </a:extLst>
            </p:cNvPr>
            <p:cNvSpPr/>
            <p:nvPr/>
          </p:nvSpPr>
          <p:spPr>
            <a:xfrm>
              <a:off x="318762" y="2309622"/>
              <a:ext cx="914400" cy="629412"/>
            </a:xfrm>
            <a:prstGeom prst="flowChartDecision">
              <a:avLst/>
            </a:prstGeom>
            <a:solidFill>
              <a:srgbClr val="FF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C</a:t>
              </a:r>
            </a:p>
          </p:txBody>
        </p: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F923DFCB-0ED8-4A09-4397-CFFCA75FD2D9}"/>
                </a:ext>
              </a:extLst>
            </p:cNvPr>
            <p:cNvCxnSpPr>
              <a:cxnSpLocks/>
              <a:stCxn id="8" idx="4"/>
              <a:endCxn id="68" idx="0"/>
            </p:cNvCxnSpPr>
            <p:nvPr/>
          </p:nvCxnSpPr>
          <p:spPr>
            <a:xfrm flipH="1">
              <a:off x="775962" y="1874520"/>
              <a:ext cx="3751" cy="435102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5A53D919-6107-E021-4568-EAC57BB5D0A2}"/>
                </a:ext>
              </a:extLst>
            </p:cNvPr>
            <p:cNvSpPr/>
            <p:nvPr/>
          </p:nvSpPr>
          <p:spPr>
            <a:xfrm>
              <a:off x="171820" y="3245587"/>
              <a:ext cx="1208285" cy="47548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Do this</a:t>
              </a:r>
            </a:p>
          </p:txBody>
        </p: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E66DF061-21E9-636F-CC07-F7D687DE8A10}"/>
                </a:ext>
              </a:extLst>
            </p:cNvPr>
            <p:cNvCxnSpPr>
              <a:stCxn id="68" idx="2"/>
              <a:endCxn id="70" idx="0"/>
            </p:cNvCxnSpPr>
            <p:nvPr/>
          </p:nvCxnSpPr>
          <p:spPr>
            <a:xfrm>
              <a:off x="775962" y="2939034"/>
              <a:ext cx="1" cy="306553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10557154-9827-C049-F779-1C66A43CE574}"/>
                </a:ext>
              </a:extLst>
            </p:cNvPr>
            <p:cNvCxnSpPr>
              <a:cxnSpLocks/>
              <a:stCxn id="70" idx="2"/>
              <a:endCxn id="10" idx="0"/>
            </p:cNvCxnSpPr>
            <p:nvPr/>
          </p:nvCxnSpPr>
          <p:spPr>
            <a:xfrm>
              <a:off x="775963" y="3721075"/>
              <a:ext cx="0" cy="420091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E52FF6EA-5C79-6F69-4BED-6C69142CECAE}"/>
              </a:ext>
            </a:extLst>
          </p:cNvPr>
          <p:cNvSpPr txBox="1"/>
          <p:nvPr/>
        </p:nvSpPr>
        <p:spPr>
          <a:xfrm>
            <a:off x="560989" y="5199294"/>
            <a:ext cx="6030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5400" b="1" dirty="0"/>
              <a:t>if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EBC20EC-011E-AFA3-6DD4-B17EECB6623A}"/>
              </a:ext>
            </a:extLst>
          </p:cNvPr>
          <p:cNvSpPr txBox="1"/>
          <p:nvPr/>
        </p:nvSpPr>
        <p:spPr>
          <a:xfrm>
            <a:off x="3331978" y="5199294"/>
            <a:ext cx="202972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5400" b="1" dirty="0"/>
              <a:t>if</a:t>
            </a:r>
            <a:r>
              <a:rPr lang="en-ZA" sz="3600" b="1" dirty="0"/>
              <a:t> </a:t>
            </a:r>
            <a:r>
              <a:rPr lang="en-ZA" sz="5400" b="1" dirty="0"/>
              <a:t>else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45A7703F-792C-E955-D0E7-5A4FC1F1DA34}"/>
              </a:ext>
            </a:extLst>
          </p:cNvPr>
          <p:cNvGrpSpPr/>
          <p:nvPr/>
        </p:nvGrpSpPr>
        <p:grpSpPr>
          <a:xfrm>
            <a:off x="2200050" y="1652217"/>
            <a:ext cx="2527130" cy="3217622"/>
            <a:chOff x="2393679" y="1751380"/>
            <a:chExt cx="2527130" cy="3217622"/>
          </a:xfrm>
        </p:grpSpPr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39F8E145-0B77-0C77-8913-4649A23982B5}"/>
                </a:ext>
              </a:extLst>
            </p:cNvPr>
            <p:cNvCxnSpPr>
              <a:stCxn id="85" idx="2"/>
              <a:endCxn id="81" idx="0"/>
            </p:cNvCxnSpPr>
            <p:nvPr/>
          </p:nvCxnSpPr>
          <p:spPr>
            <a:xfrm>
              <a:off x="4459858" y="3291382"/>
              <a:ext cx="1" cy="1202132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84F3F292-EF0C-0E06-6DF6-469409C01E8E}"/>
                </a:ext>
              </a:extLst>
            </p:cNvPr>
            <p:cNvGrpSpPr/>
            <p:nvPr/>
          </p:nvGrpSpPr>
          <p:grpSpPr>
            <a:xfrm>
              <a:off x="2393679" y="1751380"/>
              <a:ext cx="2527130" cy="3217622"/>
              <a:chOff x="2393679" y="1751380"/>
              <a:chExt cx="2527130" cy="3217622"/>
            </a:xfrm>
          </p:grpSpPr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0B48BF31-889B-8573-6921-1DD2B90A73EE}"/>
                  </a:ext>
                </a:extLst>
              </p:cNvPr>
              <p:cNvSpPr/>
              <p:nvPr/>
            </p:nvSpPr>
            <p:spPr>
              <a:xfrm>
                <a:off x="4002659" y="4493514"/>
                <a:ext cx="914400" cy="47548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/>
                  <a:t>end</a:t>
                </a:r>
              </a:p>
            </p:txBody>
          </p:sp>
          <p:grpSp>
            <p:nvGrpSpPr>
              <p:cNvPr id="82" name="Group 81">
                <a:extLst>
                  <a:ext uri="{FF2B5EF4-FFF2-40B4-BE49-F238E27FC236}">
                    <a16:creationId xmlns:a16="http://schemas.microsoft.com/office/drawing/2014/main" id="{A5AC5D15-B73E-7124-4016-CF80B678DE10}"/>
                  </a:ext>
                </a:extLst>
              </p:cNvPr>
              <p:cNvGrpSpPr/>
              <p:nvPr/>
            </p:nvGrpSpPr>
            <p:grpSpPr>
              <a:xfrm>
                <a:off x="2393679" y="1751380"/>
                <a:ext cx="2527130" cy="2824771"/>
                <a:chOff x="2393679" y="1751380"/>
                <a:chExt cx="2527130" cy="2824771"/>
              </a:xfrm>
            </p:grpSpPr>
            <p:cxnSp>
              <p:nvCxnSpPr>
                <p:cNvPr id="83" name="Straight Arrow Connector 82">
                  <a:extLst>
                    <a:ext uri="{FF2B5EF4-FFF2-40B4-BE49-F238E27FC236}">
                      <a16:creationId xmlns:a16="http://schemas.microsoft.com/office/drawing/2014/main" id="{34D4705A-16EF-9416-364F-FEAF2DD5418F}"/>
                    </a:ext>
                  </a:extLst>
                </p:cNvPr>
                <p:cNvCxnSpPr>
                  <a:stCxn id="85" idx="1"/>
                  <a:endCxn id="87" idx="3"/>
                </p:cNvCxnSpPr>
                <p:nvPr/>
              </p:nvCxnSpPr>
              <p:spPr>
                <a:xfrm flipH="1" flipV="1">
                  <a:off x="3601964" y="2968523"/>
                  <a:ext cx="400694" cy="8153"/>
                </a:xfrm>
                <a:prstGeom prst="straightConnector1">
                  <a:avLst/>
                </a:prstGeom>
                <a:ln>
                  <a:solidFill>
                    <a:srgbClr val="00B05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4" name="Oval 83">
                  <a:extLst>
                    <a:ext uri="{FF2B5EF4-FFF2-40B4-BE49-F238E27FC236}">
                      <a16:creationId xmlns:a16="http://schemas.microsoft.com/office/drawing/2014/main" id="{C8777B0D-C559-DA2B-A489-B8D905DEBA0B}"/>
                    </a:ext>
                  </a:extLst>
                </p:cNvPr>
                <p:cNvSpPr/>
                <p:nvPr/>
              </p:nvSpPr>
              <p:spPr>
                <a:xfrm>
                  <a:off x="4006409" y="1751380"/>
                  <a:ext cx="914400" cy="47548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dirty="0"/>
                    <a:t>start</a:t>
                  </a:r>
                </a:p>
              </p:txBody>
            </p:sp>
            <p:sp>
              <p:nvSpPr>
                <p:cNvPr id="85" name="Flowchart: Decision 84">
                  <a:extLst>
                    <a:ext uri="{FF2B5EF4-FFF2-40B4-BE49-F238E27FC236}">
                      <a16:creationId xmlns:a16="http://schemas.microsoft.com/office/drawing/2014/main" id="{AC6FF3DA-E4A3-B11D-A81B-48C4D673F424}"/>
                    </a:ext>
                  </a:extLst>
                </p:cNvPr>
                <p:cNvSpPr/>
                <p:nvPr/>
              </p:nvSpPr>
              <p:spPr>
                <a:xfrm>
                  <a:off x="4002658" y="2661970"/>
                  <a:ext cx="914400" cy="629412"/>
                </a:xfrm>
                <a:prstGeom prst="flowChartDecision">
                  <a:avLst/>
                </a:prstGeom>
                <a:solidFill>
                  <a:srgbClr val="FF000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dirty="0"/>
                    <a:t>C</a:t>
                  </a:r>
                </a:p>
              </p:txBody>
            </p:sp>
            <p:cxnSp>
              <p:nvCxnSpPr>
                <p:cNvPr id="86" name="Straight Arrow Connector 85">
                  <a:extLst>
                    <a:ext uri="{FF2B5EF4-FFF2-40B4-BE49-F238E27FC236}">
                      <a16:creationId xmlns:a16="http://schemas.microsoft.com/office/drawing/2014/main" id="{567B354A-2F54-C22F-7CA3-99590554CAAC}"/>
                    </a:ext>
                  </a:extLst>
                </p:cNvPr>
                <p:cNvCxnSpPr>
                  <a:cxnSpLocks/>
                  <a:stCxn id="84" idx="4"/>
                  <a:endCxn id="85" idx="0"/>
                </p:cNvCxnSpPr>
                <p:nvPr/>
              </p:nvCxnSpPr>
              <p:spPr>
                <a:xfrm flipH="1">
                  <a:off x="4459858" y="2226868"/>
                  <a:ext cx="3751" cy="435102"/>
                </a:xfrm>
                <a:prstGeom prst="straightConnector1">
                  <a:avLst/>
                </a:prstGeom>
                <a:ln>
                  <a:solidFill>
                    <a:srgbClr val="FFFF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7" name="Rectangle 86">
                  <a:extLst>
                    <a:ext uri="{FF2B5EF4-FFF2-40B4-BE49-F238E27FC236}">
                      <a16:creationId xmlns:a16="http://schemas.microsoft.com/office/drawing/2014/main" id="{76A66701-88E5-52F6-B992-36420D918228}"/>
                    </a:ext>
                  </a:extLst>
                </p:cNvPr>
                <p:cNvSpPr/>
                <p:nvPr/>
              </p:nvSpPr>
              <p:spPr>
                <a:xfrm>
                  <a:off x="2393679" y="2730779"/>
                  <a:ext cx="1208285" cy="475488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dirty="0"/>
                    <a:t>Do this</a:t>
                  </a:r>
                </a:p>
              </p:txBody>
            </p:sp>
            <p:cxnSp>
              <p:nvCxnSpPr>
                <p:cNvPr id="88" name="Connector: Elbow 87">
                  <a:extLst>
                    <a:ext uri="{FF2B5EF4-FFF2-40B4-BE49-F238E27FC236}">
                      <a16:creationId xmlns:a16="http://schemas.microsoft.com/office/drawing/2014/main" id="{CD6C1C63-85C1-8B53-346F-938288FD61D6}"/>
                    </a:ext>
                  </a:extLst>
                </p:cNvPr>
                <p:cNvCxnSpPr>
                  <a:stCxn id="87" idx="2"/>
                </p:cNvCxnSpPr>
                <p:nvPr/>
              </p:nvCxnSpPr>
              <p:spPr>
                <a:xfrm rot="16200000" flipH="1">
                  <a:off x="3346630" y="2857458"/>
                  <a:ext cx="768171" cy="1465787"/>
                </a:xfrm>
                <a:prstGeom prst="bentConnector2">
                  <a:avLst/>
                </a:prstGeom>
                <a:ln>
                  <a:solidFill>
                    <a:srgbClr val="00B05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Straight Arrow Connector 88">
                  <a:extLst>
                    <a:ext uri="{FF2B5EF4-FFF2-40B4-BE49-F238E27FC236}">
                      <a16:creationId xmlns:a16="http://schemas.microsoft.com/office/drawing/2014/main" id="{0A538CDC-ADD5-46EB-E01B-1498603CF5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459858" y="3974436"/>
                  <a:ext cx="0" cy="601715"/>
                </a:xfrm>
                <a:prstGeom prst="straightConnector1">
                  <a:avLst/>
                </a:prstGeom>
                <a:ln>
                  <a:solidFill>
                    <a:srgbClr val="00B05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F3C3BFFC-6249-4D28-C965-FD82BA9F81C5}"/>
              </a:ext>
            </a:extLst>
          </p:cNvPr>
          <p:cNvGrpSpPr/>
          <p:nvPr/>
        </p:nvGrpSpPr>
        <p:grpSpPr>
          <a:xfrm>
            <a:off x="4266229" y="2631616"/>
            <a:ext cx="2081524" cy="1818813"/>
            <a:chOff x="4459858" y="2730779"/>
            <a:chExt cx="2081524" cy="1818813"/>
          </a:xfrm>
        </p:grpSpPr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9960BDB0-A5EF-16CD-6F7A-B08D91BB9507}"/>
                </a:ext>
              </a:extLst>
            </p:cNvPr>
            <p:cNvCxnSpPr>
              <a:cxnSpLocks/>
              <a:stCxn id="85" idx="3"/>
              <a:endCxn id="92" idx="1"/>
            </p:cNvCxnSpPr>
            <p:nvPr/>
          </p:nvCxnSpPr>
          <p:spPr>
            <a:xfrm flipV="1">
              <a:off x="4629066" y="2968523"/>
              <a:ext cx="704031" cy="1515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A4325B8C-942B-6DAB-8B02-BB8DF82514AE}"/>
                </a:ext>
              </a:extLst>
            </p:cNvPr>
            <p:cNvSpPr/>
            <p:nvPr/>
          </p:nvSpPr>
          <p:spPr>
            <a:xfrm>
              <a:off x="5333097" y="2730779"/>
              <a:ext cx="1208285" cy="47548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Do that</a:t>
              </a:r>
            </a:p>
          </p:txBody>
        </p:sp>
        <p:cxnSp>
          <p:nvCxnSpPr>
            <p:cNvPr id="93" name="Connector: Elbow 92">
              <a:extLst>
                <a:ext uri="{FF2B5EF4-FFF2-40B4-BE49-F238E27FC236}">
                  <a16:creationId xmlns:a16="http://schemas.microsoft.com/office/drawing/2014/main" id="{02F273C3-8C6E-C28C-8476-E0C4C183CEED}"/>
                </a:ext>
              </a:extLst>
            </p:cNvPr>
            <p:cNvCxnSpPr>
              <a:stCxn id="92" idx="2"/>
            </p:cNvCxnSpPr>
            <p:nvPr/>
          </p:nvCxnSpPr>
          <p:spPr>
            <a:xfrm rot="5400000">
              <a:off x="4816340" y="2853537"/>
              <a:ext cx="768170" cy="1473631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E4AB54A3-36B0-D299-435D-B839999E5359}"/>
                </a:ext>
              </a:extLst>
            </p:cNvPr>
            <p:cNvCxnSpPr>
              <a:cxnSpLocks/>
            </p:cNvCxnSpPr>
            <p:nvPr/>
          </p:nvCxnSpPr>
          <p:spPr>
            <a:xfrm>
              <a:off x="4459858" y="3985989"/>
              <a:ext cx="9997" cy="56360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TextBox 148">
            <a:extLst>
              <a:ext uri="{FF2B5EF4-FFF2-40B4-BE49-F238E27FC236}">
                <a16:creationId xmlns:a16="http://schemas.microsoft.com/office/drawing/2014/main" id="{BC840DD5-688D-C3AD-7B3A-230C641F7AE7}"/>
              </a:ext>
            </a:extLst>
          </p:cNvPr>
          <p:cNvSpPr txBox="1"/>
          <p:nvPr/>
        </p:nvSpPr>
        <p:spPr>
          <a:xfrm>
            <a:off x="8330540" y="5435732"/>
            <a:ext cx="226773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5400" b="1" dirty="0"/>
              <a:t>switch</a:t>
            </a:r>
          </a:p>
        </p:txBody>
      </p: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15CF0CA8-9E56-9EA4-9993-7E4E430F996A}"/>
              </a:ext>
            </a:extLst>
          </p:cNvPr>
          <p:cNvGrpSpPr/>
          <p:nvPr/>
        </p:nvGrpSpPr>
        <p:grpSpPr>
          <a:xfrm>
            <a:off x="6526995" y="1040556"/>
            <a:ext cx="914400" cy="685855"/>
            <a:chOff x="2814243" y="1126935"/>
            <a:chExt cx="914400" cy="685855"/>
          </a:xfrm>
        </p:grpSpPr>
        <p:sp>
          <p:nvSpPr>
            <p:cNvPr id="194" name="Oval 193">
              <a:extLst>
                <a:ext uri="{FF2B5EF4-FFF2-40B4-BE49-F238E27FC236}">
                  <a16:creationId xmlns:a16="http://schemas.microsoft.com/office/drawing/2014/main" id="{8CCFE9F7-BE77-A635-71F2-2EE25B36E883}"/>
                </a:ext>
              </a:extLst>
            </p:cNvPr>
            <p:cNvSpPr/>
            <p:nvPr/>
          </p:nvSpPr>
          <p:spPr>
            <a:xfrm>
              <a:off x="2814243" y="1126935"/>
              <a:ext cx="914400" cy="47548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start</a:t>
              </a:r>
            </a:p>
          </p:txBody>
        </p:sp>
        <p:cxnSp>
          <p:nvCxnSpPr>
            <p:cNvPr id="195" name="Straight Arrow Connector 194">
              <a:extLst>
                <a:ext uri="{FF2B5EF4-FFF2-40B4-BE49-F238E27FC236}">
                  <a16:creationId xmlns:a16="http://schemas.microsoft.com/office/drawing/2014/main" id="{3C804D40-B377-91CB-71B7-7D4E76A82B0B}"/>
                </a:ext>
              </a:extLst>
            </p:cNvPr>
            <p:cNvCxnSpPr>
              <a:cxnSpLocks/>
              <a:stCxn id="194" idx="4"/>
              <a:endCxn id="221" idx="0"/>
            </p:cNvCxnSpPr>
            <p:nvPr/>
          </p:nvCxnSpPr>
          <p:spPr>
            <a:xfrm flipH="1">
              <a:off x="3265031" y="1602423"/>
              <a:ext cx="6412" cy="210367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BFB80C88-33E9-3E55-838A-B04FB735A0C5}"/>
              </a:ext>
            </a:extLst>
          </p:cNvPr>
          <p:cNvGrpSpPr/>
          <p:nvPr/>
        </p:nvGrpSpPr>
        <p:grpSpPr>
          <a:xfrm>
            <a:off x="6526995" y="5296781"/>
            <a:ext cx="914400" cy="910220"/>
            <a:chOff x="2814243" y="5383160"/>
            <a:chExt cx="914400" cy="910220"/>
          </a:xfrm>
        </p:grpSpPr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12F876E5-19CD-F390-32DA-A5C2FC59C3F0}"/>
                </a:ext>
              </a:extLst>
            </p:cNvPr>
            <p:cNvSpPr/>
            <p:nvPr/>
          </p:nvSpPr>
          <p:spPr>
            <a:xfrm>
              <a:off x="2814243" y="5817892"/>
              <a:ext cx="914400" cy="47548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end</a:t>
              </a:r>
            </a:p>
          </p:txBody>
        </p:sp>
        <p:cxnSp>
          <p:nvCxnSpPr>
            <p:cNvPr id="198" name="Straight Arrow Connector 197">
              <a:extLst>
                <a:ext uri="{FF2B5EF4-FFF2-40B4-BE49-F238E27FC236}">
                  <a16:creationId xmlns:a16="http://schemas.microsoft.com/office/drawing/2014/main" id="{521B47A1-9132-CFEF-C034-5A867D9957D4}"/>
                </a:ext>
              </a:extLst>
            </p:cNvPr>
            <p:cNvCxnSpPr>
              <a:cxnSpLocks/>
              <a:stCxn id="253" idx="2"/>
              <a:endCxn id="197" idx="0"/>
            </p:cNvCxnSpPr>
            <p:nvPr/>
          </p:nvCxnSpPr>
          <p:spPr>
            <a:xfrm>
              <a:off x="3271443" y="5383160"/>
              <a:ext cx="0" cy="434732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51D5DEA5-1AD3-5785-78F0-C84F5C1E5490}"/>
              </a:ext>
            </a:extLst>
          </p:cNvPr>
          <p:cNvGrpSpPr/>
          <p:nvPr/>
        </p:nvGrpSpPr>
        <p:grpSpPr>
          <a:xfrm>
            <a:off x="6520583" y="2041117"/>
            <a:ext cx="4729274" cy="1757604"/>
            <a:chOff x="2807831" y="2127496"/>
            <a:chExt cx="4729274" cy="1757604"/>
          </a:xfrm>
        </p:grpSpPr>
        <p:grpSp>
          <p:nvGrpSpPr>
            <p:cNvPr id="200" name="Group 199">
              <a:extLst>
                <a:ext uri="{FF2B5EF4-FFF2-40B4-BE49-F238E27FC236}">
                  <a16:creationId xmlns:a16="http://schemas.microsoft.com/office/drawing/2014/main" id="{A9014EC4-E780-BCC1-B469-4DC5B45ED669}"/>
                </a:ext>
              </a:extLst>
            </p:cNvPr>
            <p:cNvGrpSpPr/>
            <p:nvPr/>
          </p:nvGrpSpPr>
          <p:grpSpPr>
            <a:xfrm>
              <a:off x="2807831" y="2755405"/>
              <a:ext cx="4351014" cy="629412"/>
              <a:chOff x="1488646" y="2612399"/>
              <a:chExt cx="4351014" cy="629412"/>
            </a:xfrm>
          </p:grpSpPr>
          <p:sp>
            <p:nvSpPr>
              <p:cNvPr id="205" name="Rectangle 204">
                <a:extLst>
                  <a:ext uri="{FF2B5EF4-FFF2-40B4-BE49-F238E27FC236}">
                    <a16:creationId xmlns:a16="http://schemas.microsoft.com/office/drawing/2014/main" id="{20A022A4-6FD1-8C2F-B314-15A7DFC746EA}"/>
                  </a:ext>
                </a:extLst>
              </p:cNvPr>
              <p:cNvSpPr/>
              <p:nvPr/>
            </p:nvSpPr>
            <p:spPr>
              <a:xfrm>
                <a:off x="2993760" y="2689361"/>
                <a:ext cx="1208285" cy="47548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Do that action</a:t>
                </a:r>
              </a:p>
            </p:txBody>
          </p:sp>
          <p:sp>
            <p:nvSpPr>
              <p:cNvPr id="206" name="Rectangle 205">
                <a:extLst>
                  <a:ext uri="{FF2B5EF4-FFF2-40B4-BE49-F238E27FC236}">
                    <a16:creationId xmlns:a16="http://schemas.microsoft.com/office/drawing/2014/main" id="{54FCAFA2-7EC5-CD90-B3E9-05B4A68110DF}"/>
                  </a:ext>
                </a:extLst>
              </p:cNvPr>
              <p:cNvSpPr/>
              <p:nvPr/>
            </p:nvSpPr>
            <p:spPr>
              <a:xfrm>
                <a:off x="4631375" y="2673212"/>
                <a:ext cx="1208285" cy="47548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Break</a:t>
                </a:r>
              </a:p>
            </p:txBody>
          </p:sp>
          <p:cxnSp>
            <p:nvCxnSpPr>
              <p:cNvPr id="207" name="Straight Arrow Connector 206">
                <a:extLst>
                  <a:ext uri="{FF2B5EF4-FFF2-40B4-BE49-F238E27FC236}">
                    <a16:creationId xmlns:a16="http://schemas.microsoft.com/office/drawing/2014/main" id="{14FC3C2A-8744-1256-81D7-88DA72B76E33}"/>
                  </a:ext>
                </a:extLst>
              </p:cNvPr>
              <p:cNvCxnSpPr>
                <a:stCxn id="210" idx="3"/>
                <a:endCxn id="205" idx="1"/>
              </p:cNvCxnSpPr>
              <p:nvPr/>
            </p:nvCxnSpPr>
            <p:spPr>
              <a:xfrm>
                <a:off x="2403046" y="2927105"/>
                <a:ext cx="590714" cy="0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Straight Arrow Connector 207">
                <a:extLst>
                  <a:ext uri="{FF2B5EF4-FFF2-40B4-BE49-F238E27FC236}">
                    <a16:creationId xmlns:a16="http://schemas.microsoft.com/office/drawing/2014/main" id="{61BE386D-B5E6-ED96-20A3-0FBA144B058A}"/>
                  </a:ext>
                </a:extLst>
              </p:cNvPr>
              <p:cNvCxnSpPr>
                <a:stCxn id="205" idx="3"/>
                <a:endCxn id="206" idx="1"/>
              </p:cNvCxnSpPr>
              <p:nvPr/>
            </p:nvCxnSpPr>
            <p:spPr>
              <a:xfrm flipV="1">
                <a:off x="4202045" y="2910956"/>
                <a:ext cx="429330" cy="16149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9" name="Group 208">
                <a:extLst>
                  <a:ext uri="{FF2B5EF4-FFF2-40B4-BE49-F238E27FC236}">
                    <a16:creationId xmlns:a16="http://schemas.microsoft.com/office/drawing/2014/main" id="{3BA689FF-CB06-469C-C771-F8C09FEAC951}"/>
                  </a:ext>
                </a:extLst>
              </p:cNvPr>
              <p:cNvGrpSpPr/>
              <p:nvPr/>
            </p:nvGrpSpPr>
            <p:grpSpPr>
              <a:xfrm>
                <a:off x="1488646" y="2612399"/>
                <a:ext cx="914400" cy="629412"/>
                <a:chOff x="1488646" y="2612399"/>
                <a:chExt cx="914400" cy="629412"/>
              </a:xfrm>
            </p:grpSpPr>
            <p:sp>
              <p:nvSpPr>
                <p:cNvPr id="210" name="Flowchart: Decision 209">
                  <a:extLst>
                    <a:ext uri="{FF2B5EF4-FFF2-40B4-BE49-F238E27FC236}">
                      <a16:creationId xmlns:a16="http://schemas.microsoft.com/office/drawing/2014/main" id="{BD971BB2-141C-B448-562C-A17504D0B522}"/>
                    </a:ext>
                  </a:extLst>
                </p:cNvPr>
                <p:cNvSpPr/>
                <p:nvPr/>
              </p:nvSpPr>
              <p:spPr>
                <a:xfrm>
                  <a:off x="1488646" y="2612399"/>
                  <a:ext cx="914400" cy="629412"/>
                </a:xfrm>
                <a:prstGeom prst="flowChartDecision">
                  <a:avLst/>
                </a:prstGeom>
                <a:solidFill>
                  <a:srgbClr val="FF000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 sz="1000" dirty="0"/>
                </a:p>
              </p:txBody>
            </p:sp>
            <p:sp>
              <p:nvSpPr>
                <p:cNvPr id="211" name="TextBox 210">
                  <a:extLst>
                    <a:ext uri="{FF2B5EF4-FFF2-40B4-BE49-F238E27FC236}">
                      <a16:creationId xmlns:a16="http://schemas.microsoft.com/office/drawing/2014/main" id="{1821C7FE-8438-A7D0-F611-8D78E6F6EF94}"/>
                    </a:ext>
                  </a:extLst>
                </p:cNvPr>
                <p:cNvSpPr txBox="1"/>
                <p:nvPr/>
              </p:nvSpPr>
              <p:spPr>
                <a:xfrm>
                  <a:off x="1495058" y="2719813"/>
                  <a:ext cx="88838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ZA" dirty="0">
                      <a:solidFill>
                        <a:schemeClr val="bg1"/>
                      </a:solidFill>
                      <a:latin typeface="LM Roman 12" panose="00000500000000000000" pitchFamily="50" charset="0"/>
                    </a:rPr>
                    <a:t>Case B</a:t>
                  </a:r>
                </a:p>
              </p:txBody>
            </p:sp>
          </p:grpSp>
        </p:grpSp>
        <p:cxnSp>
          <p:nvCxnSpPr>
            <p:cNvPr id="201" name="Straight Arrow Connector 200">
              <a:extLst>
                <a:ext uri="{FF2B5EF4-FFF2-40B4-BE49-F238E27FC236}">
                  <a16:creationId xmlns:a16="http://schemas.microsoft.com/office/drawing/2014/main" id="{CD204A21-D01C-B633-994B-EF1526A7DBAD}"/>
                </a:ext>
              </a:extLst>
            </p:cNvPr>
            <p:cNvCxnSpPr>
              <a:cxnSpLocks/>
              <a:stCxn id="221" idx="2"/>
              <a:endCxn id="210" idx="0"/>
            </p:cNvCxnSpPr>
            <p:nvPr/>
          </p:nvCxnSpPr>
          <p:spPr>
            <a:xfrm>
              <a:off x="3265031" y="2442202"/>
              <a:ext cx="0" cy="313203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Arrow Connector 201">
              <a:extLst>
                <a:ext uri="{FF2B5EF4-FFF2-40B4-BE49-F238E27FC236}">
                  <a16:creationId xmlns:a16="http://schemas.microsoft.com/office/drawing/2014/main" id="{8A20EDE7-610B-1CFC-BAF8-2C8C7B958A71}"/>
                </a:ext>
              </a:extLst>
            </p:cNvPr>
            <p:cNvCxnSpPr>
              <a:cxnSpLocks/>
              <a:stCxn id="210" idx="2"/>
              <a:endCxn id="240" idx="0"/>
            </p:cNvCxnSpPr>
            <p:nvPr/>
          </p:nvCxnSpPr>
          <p:spPr>
            <a:xfrm>
              <a:off x="3265031" y="3384817"/>
              <a:ext cx="0" cy="185577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14E5B19D-F05E-6636-DC0A-52437B4D27F7}"/>
                </a:ext>
              </a:extLst>
            </p:cNvPr>
            <p:cNvCxnSpPr>
              <a:cxnSpLocks/>
            </p:cNvCxnSpPr>
            <p:nvPr/>
          </p:nvCxnSpPr>
          <p:spPr>
            <a:xfrm>
              <a:off x="7158844" y="3065566"/>
              <a:ext cx="378261" cy="0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AF7C9C4F-7786-A6D1-E44C-052EDF68BEF3}"/>
                </a:ext>
              </a:extLst>
            </p:cNvPr>
            <p:cNvCxnSpPr>
              <a:cxnSpLocks/>
            </p:cNvCxnSpPr>
            <p:nvPr/>
          </p:nvCxnSpPr>
          <p:spPr>
            <a:xfrm>
              <a:off x="7537105" y="2127496"/>
              <a:ext cx="0" cy="1757604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D5955A31-3A02-EDE7-AECB-A296E1B422CC}"/>
              </a:ext>
            </a:extLst>
          </p:cNvPr>
          <p:cNvGrpSpPr/>
          <p:nvPr/>
        </p:nvGrpSpPr>
        <p:grpSpPr>
          <a:xfrm>
            <a:off x="6520583" y="1395943"/>
            <a:ext cx="5110428" cy="959880"/>
            <a:chOff x="2807831" y="1482322"/>
            <a:chExt cx="5110428" cy="959880"/>
          </a:xfrm>
        </p:grpSpPr>
        <p:grpSp>
          <p:nvGrpSpPr>
            <p:cNvPr id="213" name="Group 212">
              <a:extLst>
                <a:ext uri="{FF2B5EF4-FFF2-40B4-BE49-F238E27FC236}">
                  <a16:creationId xmlns:a16="http://schemas.microsoft.com/office/drawing/2014/main" id="{7F528314-7F45-0A8D-DF07-252743D3E4BB}"/>
                </a:ext>
              </a:extLst>
            </p:cNvPr>
            <p:cNvGrpSpPr/>
            <p:nvPr/>
          </p:nvGrpSpPr>
          <p:grpSpPr>
            <a:xfrm>
              <a:off x="2807831" y="1812790"/>
              <a:ext cx="4351014" cy="629412"/>
              <a:chOff x="1488646" y="1669784"/>
              <a:chExt cx="4351014" cy="629412"/>
            </a:xfrm>
          </p:grpSpPr>
          <p:sp>
            <p:nvSpPr>
              <p:cNvPr id="216" name="Rectangle 215">
                <a:extLst>
                  <a:ext uri="{FF2B5EF4-FFF2-40B4-BE49-F238E27FC236}">
                    <a16:creationId xmlns:a16="http://schemas.microsoft.com/office/drawing/2014/main" id="{2D28900E-827B-48A8-6E4F-241776D04880}"/>
                  </a:ext>
                </a:extLst>
              </p:cNvPr>
              <p:cNvSpPr/>
              <p:nvPr/>
            </p:nvSpPr>
            <p:spPr>
              <a:xfrm>
                <a:off x="2993760" y="1735055"/>
                <a:ext cx="1208285" cy="47548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Do this action</a:t>
                </a:r>
              </a:p>
            </p:txBody>
          </p:sp>
          <p:sp>
            <p:nvSpPr>
              <p:cNvPr id="217" name="Rectangle 216">
                <a:extLst>
                  <a:ext uri="{FF2B5EF4-FFF2-40B4-BE49-F238E27FC236}">
                    <a16:creationId xmlns:a16="http://schemas.microsoft.com/office/drawing/2014/main" id="{9B2A2899-D553-792F-E69C-97EBC9FE05D1}"/>
                  </a:ext>
                </a:extLst>
              </p:cNvPr>
              <p:cNvSpPr/>
              <p:nvPr/>
            </p:nvSpPr>
            <p:spPr>
              <a:xfrm>
                <a:off x="4631375" y="1746746"/>
                <a:ext cx="1208285" cy="47548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Break</a:t>
                </a:r>
                <a:endParaRPr lang="en-ZA" dirty="0"/>
              </a:p>
            </p:txBody>
          </p:sp>
          <p:cxnSp>
            <p:nvCxnSpPr>
              <p:cNvPr id="218" name="Straight Arrow Connector 217">
                <a:extLst>
                  <a:ext uri="{FF2B5EF4-FFF2-40B4-BE49-F238E27FC236}">
                    <a16:creationId xmlns:a16="http://schemas.microsoft.com/office/drawing/2014/main" id="{1526C7E2-E202-D943-B34F-8946378D1E98}"/>
                  </a:ext>
                </a:extLst>
              </p:cNvPr>
              <p:cNvCxnSpPr>
                <a:stCxn id="221" idx="3"/>
                <a:endCxn id="216" idx="1"/>
              </p:cNvCxnSpPr>
              <p:nvPr/>
            </p:nvCxnSpPr>
            <p:spPr>
              <a:xfrm flipV="1">
                <a:off x="2403046" y="1972799"/>
                <a:ext cx="590714" cy="11691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Straight Arrow Connector 218">
                <a:extLst>
                  <a:ext uri="{FF2B5EF4-FFF2-40B4-BE49-F238E27FC236}">
                    <a16:creationId xmlns:a16="http://schemas.microsoft.com/office/drawing/2014/main" id="{D1B722CB-3A9A-8E8A-3227-91F1404E9110}"/>
                  </a:ext>
                </a:extLst>
              </p:cNvPr>
              <p:cNvCxnSpPr>
                <a:stCxn id="216" idx="3"/>
                <a:endCxn id="217" idx="1"/>
              </p:cNvCxnSpPr>
              <p:nvPr/>
            </p:nvCxnSpPr>
            <p:spPr>
              <a:xfrm>
                <a:off x="4202045" y="1972799"/>
                <a:ext cx="429330" cy="11691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20" name="Group 219">
                <a:extLst>
                  <a:ext uri="{FF2B5EF4-FFF2-40B4-BE49-F238E27FC236}">
                    <a16:creationId xmlns:a16="http://schemas.microsoft.com/office/drawing/2014/main" id="{D898B319-DD30-CACE-4590-08D7911D04BD}"/>
                  </a:ext>
                </a:extLst>
              </p:cNvPr>
              <p:cNvGrpSpPr/>
              <p:nvPr/>
            </p:nvGrpSpPr>
            <p:grpSpPr>
              <a:xfrm>
                <a:off x="1488646" y="1669784"/>
                <a:ext cx="914400" cy="629412"/>
                <a:chOff x="1465837" y="1712996"/>
                <a:chExt cx="914400" cy="629412"/>
              </a:xfrm>
            </p:grpSpPr>
            <p:sp>
              <p:nvSpPr>
                <p:cNvPr id="221" name="Flowchart: Decision 220">
                  <a:extLst>
                    <a:ext uri="{FF2B5EF4-FFF2-40B4-BE49-F238E27FC236}">
                      <a16:creationId xmlns:a16="http://schemas.microsoft.com/office/drawing/2014/main" id="{C6EAD481-0579-FDE2-D6D0-C66E4A7936FD}"/>
                    </a:ext>
                  </a:extLst>
                </p:cNvPr>
                <p:cNvSpPr/>
                <p:nvPr/>
              </p:nvSpPr>
              <p:spPr>
                <a:xfrm>
                  <a:off x="1465837" y="1712996"/>
                  <a:ext cx="914400" cy="629412"/>
                </a:xfrm>
                <a:prstGeom prst="flowChartDecision">
                  <a:avLst/>
                </a:prstGeom>
                <a:solidFill>
                  <a:srgbClr val="FF000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 sz="1000" dirty="0"/>
                </a:p>
              </p:txBody>
            </p:sp>
            <p:sp>
              <p:nvSpPr>
                <p:cNvPr id="222" name="TextBox 221">
                  <a:extLst>
                    <a:ext uri="{FF2B5EF4-FFF2-40B4-BE49-F238E27FC236}">
                      <a16:creationId xmlns:a16="http://schemas.microsoft.com/office/drawing/2014/main" id="{2196A61A-27C3-7BF2-2A5A-FCAF5B4CCF9E}"/>
                    </a:ext>
                  </a:extLst>
                </p:cNvPr>
                <p:cNvSpPr txBox="1"/>
                <p:nvPr/>
              </p:nvSpPr>
              <p:spPr>
                <a:xfrm>
                  <a:off x="1472249" y="1813169"/>
                  <a:ext cx="89800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ZA" dirty="0">
                      <a:solidFill>
                        <a:schemeClr val="bg1"/>
                      </a:solidFill>
                      <a:latin typeface="LM Roman 12" panose="00000500000000000000" pitchFamily="50" charset="0"/>
                    </a:rPr>
                    <a:t>Case A</a:t>
                  </a:r>
                </a:p>
              </p:txBody>
            </p:sp>
          </p:grpSp>
        </p:grp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89F94C63-99B4-AD51-8C42-91DC456C135D}"/>
                </a:ext>
              </a:extLst>
            </p:cNvPr>
            <p:cNvCxnSpPr>
              <a:cxnSpLocks/>
            </p:cNvCxnSpPr>
            <p:nvPr/>
          </p:nvCxnSpPr>
          <p:spPr>
            <a:xfrm>
              <a:off x="7158844" y="2146266"/>
              <a:ext cx="378261" cy="0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FCD1B25E-9C66-C949-1DFE-5718D56321CB}"/>
                </a:ext>
              </a:extLst>
            </p:cNvPr>
            <p:cNvSpPr txBox="1"/>
            <p:nvPr/>
          </p:nvSpPr>
          <p:spPr>
            <a:xfrm>
              <a:off x="3437545" y="1482322"/>
              <a:ext cx="44807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2000" b="1" dirty="0">
                  <a:latin typeface="LM Roman 12" panose="00000500000000000000" pitchFamily="50" charset="0"/>
                </a:rPr>
                <a:t>when this case is true…do this action</a:t>
              </a:r>
            </a:p>
          </p:txBody>
        </p:sp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06084BAC-590C-C632-EA6A-2EDBEEB93191}"/>
              </a:ext>
            </a:extLst>
          </p:cNvPr>
          <p:cNvGrpSpPr/>
          <p:nvPr/>
        </p:nvGrpSpPr>
        <p:grpSpPr>
          <a:xfrm>
            <a:off x="6520583" y="3484015"/>
            <a:ext cx="4886765" cy="1030446"/>
            <a:chOff x="2807831" y="3570394"/>
            <a:chExt cx="4886765" cy="1030446"/>
          </a:xfrm>
        </p:grpSpPr>
        <p:cxnSp>
          <p:nvCxnSpPr>
            <p:cNvPr id="224" name="Straight Arrow Connector 223">
              <a:extLst>
                <a:ext uri="{FF2B5EF4-FFF2-40B4-BE49-F238E27FC236}">
                  <a16:creationId xmlns:a16="http://schemas.microsoft.com/office/drawing/2014/main" id="{377D0408-8D0B-9CE8-A141-3B726046CFE7}"/>
                </a:ext>
              </a:extLst>
            </p:cNvPr>
            <p:cNvCxnSpPr>
              <a:cxnSpLocks/>
            </p:cNvCxnSpPr>
            <p:nvPr/>
          </p:nvCxnSpPr>
          <p:spPr>
            <a:xfrm>
              <a:off x="3269884" y="4231945"/>
              <a:ext cx="6595" cy="272090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5" name="Group 224">
              <a:extLst>
                <a:ext uri="{FF2B5EF4-FFF2-40B4-BE49-F238E27FC236}">
                  <a16:creationId xmlns:a16="http://schemas.microsoft.com/office/drawing/2014/main" id="{490C46EC-9AFF-3112-406A-87ADA5ABB8B8}"/>
                </a:ext>
              </a:extLst>
            </p:cNvPr>
            <p:cNvGrpSpPr/>
            <p:nvPr/>
          </p:nvGrpSpPr>
          <p:grpSpPr>
            <a:xfrm>
              <a:off x="2807831" y="3570394"/>
              <a:ext cx="4886765" cy="1030446"/>
              <a:chOff x="2807831" y="3570394"/>
              <a:chExt cx="4886765" cy="1030446"/>
            </a:xfrm>
          </p:grpSpPr>
          <p:grpSp>
            <p:nvGrpSpPr>
              <p:cNvPr id="226" name="Group 225">
                <a:extLst>
                  <a:ext uri="{FF2B5EF4-FFF2-40B4-BE49-F238E27FC236}">
                    <a16:creationId xmlns:a16="http://schemas.microsoft.com/office/drawing/2014/main" id="{2BDB7374-10BE-9ABB-C754-7B1DFE33F2FA}"/>
                  </a:ext>
                </a:extLst>
              </p:cNvPr>
              <p:cNvGrpSpPr/>
              <p:nvPr/>
            </p:nvGrpSpPr>
            <p:grpSpPr>
              <a:xfrm>
                <a:off x="2807831" y="3570394"/>
                <a:ext cx="4351014" cy="629412"/>
                <a:chOff x="1488646" y="3427388"/>
                <a:chExt cx="4351014" cy="629412"/>
              </a:xfrm>
            </p:grpSpPr>
            <p:sp>
              <p:nvSpPr>
                <p:cNvPr id="235" name="Rectangle 234">
                  <a:extLst>
                    <a:ext uri="{FF2B5EF4-FFF2-40B4-BE49-F238E27FC236}">
                      <a16:creationId xmlns:a16="http://schemas.microsoft.com/office/drawing/2014/main" id="{B62A179D-AE08-B9E3-712D-0FC3EB9D6E85}"/>
                    </a:ext>
                  </a:extLst>
                </p:cNvPr>
                <p:cNvSpPr/>
                <p:nvPr/>
              </p:nvSpPr>
              <p:spPr>
                <a:xfrm>
                  <a:off x="2993760" y="3505207"/>
                  <a:ext cx="1208285" cy="475488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dirty="0">
                      <a:latin typeface="LM Roman 12" panose="00000500000000000000" pitchFamily="50" charset="0"/>
                    </a:rPr>
                    <a:t>Do that action</a:t>
                  </a:r>
                </a:p>
              </p:txBody>
            </p:sp>
            <p:sp>
              <p:nvSpPr>
                <p:cNvPr id="236" name="Rectangle 235">
                  <a:extLst>
                    <a:ext uri="{FF2B5EF4-FFF2-40B4-BE49-F238E27FC236}">
                      <a16:creationId xmlns:a16="http://schemas.microsoft.com/office/drawing/2014/main" id="{CFED2265-63CE-7509-90E9-6A8F68657757}"/>
                    </a:ext>
                  </a:extLst>
                </p:cNvPr>
                <p:cNvSpPr/>
                <p:nvPr/>
              </p:nvSpPr>
              <p:spPr>
                <a:xfrm>
                  <a:off x="4631375" y="3488746"/>
                  <a:ext cx="1208285" cy="475488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dirty="0">
                      <a:latin typeface="LM Roman 12" panose="00000500000000000000" pitchFamily="50" charset="0"/>
                    </a:rPr>
                    <a:t>Break</a:t>
                  </a:r>
                </a:p>
              </p:txBody>
            </p:sp>
            <p:cxnSp>
              <p:nvCxnSpPr>
                <p:cNvPr id="237" name="Straight Arrow Connector 236">
                  <a:extLst>
                    <a:ext uri="{FF2B5EF4-FFF2-40B4-BE49-F238E27FC236}">
                      <a16:creationId xmlns:a16="http://schemas.microsoft.com/office/drawing/2014/main" id="{A6A4FCEA-D49B-AF86-1432-BF71762E0AB5}"/>
                    </a:ext>
                  </a:extLst>
                </p:cNvPr>
                <p:cNvCxnSpPr>
                  <a:stCxn id="240" idx="3"/>
                  <a:endCxn id="235" idx="1"/>
                </p:cNvCxnSpPr>
                <p:nvPr/>
              </p:nvCxnSpPr>
              <p:spPr>
                <a:xfrm>
                  <a:off x="2403046" y="3742094"/>
                  <a:ext cx="590714" cy="857"/>
                </a:xfrm>
                <a:prstGeom prst="straightConnector1">
                  <a:avLst/>
                </a:prstGeom>
                <a:ln>
                  <a:solidFill>
                    <a:srgbClr val="FFFF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8" name="Straight Arrow Connector 237">
                  <a:extLst>
                    <a:ext uri="{FF2B5EF4-FFF2-40B4-BE49-F238E27FC236}">
                      <a16:creationId xmlns:a16="http://schemas.microsoft.com/office/drawing/2014/main" id="{ECEE86AB-635C-304E-7D5E-F44016B2EFB5}"/>
                    </a:ext>
                  </a:extLst>
                </p:cNvPr>
                <p:cNvCxnSpPr>
                  <a:stCxn id="235" idx="3"/>
                  <a:endCxn id="236" idx="1"/>
                </p:cNvCxnSpPr>
                <p:nvPr/>
              </p:nvCxnSpPr>
              <p:spPr>
                <a:xfrm flipV="1">
                  <a:off x="4202045" y="3726490"/>
                  <a:ext cx="429330" cy="16461"/>
                </a:xfrm>
                <a:prstGeom prst="straightConnector1">
                  <a:avLst/>
                </a:prstGeom>
                <a:ln>
                  <a:solidFill>
                    <a:srgbClr val="FFFF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39" name="Group 238">
                  <a:extLst>
                    <a:ext uri="{FF2B5EF4-FFF2-40B4-BE49-F238E27FC236}">
                      <a16:creationId xmlns:a16="http://schemas.microsoft.com/office/drawing/2014/main" id="{D781130A-2A11-E866-360E-79D8B75F8B1A}"/>
                    </a:ext>
                  </a:extLst>
                </p:cNvPr>
                <p:cNvGrpSpPr/>
                <p:nvPr/>
              </p:nvGrpSpPr>
              <p:grpSpPr>
                <a:xfrm>
                  <a:off x="1488646" y="3427388"/>
                  <a:ext cx="914400" cy="629412"/>
                  <a:chOff x="1488646" y="3427388"/>
                  <a:chExt cx="914400" cy="629412"/>
                </a:xfrm>
              </p:grpSpPr>
              <p:sp>
                <p:nvSpPr>
                  <p:cNvPr id="240" name="Flowchart: Decision 239">
                    <a:extLst>
                      <a:ext uri="{FF2B5EF4-FFF2-40B4-BE49-F238E27FC236}">
                        <a16:creationId xmlns:a16="http://schemas.microsoft.com/office/drawing/2014/main" id="{5CABB081-D53C-EFB7-9C4A-6B027330F6D2}"/>
                      </a:ext>
                    </a:extLst>
                  </p:cNvPr>
                  <p:cNvSpPr/>
                  <p:nvPr/>
                </p:nvSpPr>
                <p:spPr>
                  <a:xfrm>
                    <a:off x="1488646" y="3427388"/>
                    <a:ext cx="914400" cy="629412"/>
                  </a:xfrm>
                  <a:prstGeom prst="flowChartDecision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>
                    <a:outerShdw blurRad="44450" dist="27940" dir="5400000" algn="ctr">
                      <a:srgbClr val="000000">
                        <a:alpha val="32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balanced" dir="t">
                      <a:rot lat="0" lon="0" rev="8700000"/>
                    </a:lightRig>
                  </a:scene3d>
                  <a:sp3d>
                    <a:bevelT w="190500" h="38100"/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ZA" sz="1000" dirty="0"/>
                  </a:p>
                </p:txBody>
              </p:sp>
              <p:sp>
                <p:nvSpPr>
                  <p:cNvPr id="241" name="TextBox 240">
                    <a:extLst>
                      <a:ext uri="{FF2B5EF4-FFF2-40B4-BE49-F238E27FC236}">
                        <a16:creationId xmlns:a16="http://schemas.microsoft.com/office/drawing/2014/main" id="{3714B55A-5B1A-3A79-4FF0-1C223B21C045}"/>
                      </a:ext>
                    </a:extLst>
                  </p:cNvPr>
                  <p:cNvSpPr txBox="1"/>
                  <p:nvPr/>
                </p:nvSpPr>
                <p:spPr>
                  <a:xfrm>
                    <a:off x="1495058" y="3541824"/>
                    <a:ext cx="89159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ZA" dirty="0">
                        <a:solidFill>
                          <a:schemeClr val="bg1"/>
                        </a:solidFill>
                        <a:latin typeface="LM Roman 12" panose="00000500000000000000" pitchFamily="50" charset="0"/>
                      </a:rPr>
                      <a:t>Case C</a:t>
                    </a:r>
                  </a:p>
                </p:txBody>
              </p:sp>
            </p:grpSp>
          </p:grpSp>
          <p:grpSp>
            <p:nvGrpSpPr>
              <p:cNvPr id="227" name="Group 226">
                <a:extLst>
                  <a:ext uri="{FF2B5EF4-FFF2-40B4-BE49-F238E27FC236}">
                    <a16:creationId xmlns:a16="http://schemas.microsoft.com/office/drawing/2014/main" id="{BBA20F24-1CF1-F735-2594-497EC5AFC597}"/>
                  </a:ext>
                </a:extLst>
              </p:cNvPr>
              <p:cNvGrpSpPr/>
              <p:nvPr/>
            </p:nvGrpSpPr>
            <p:grpSpPr>
              <a:xfrm>
                <a:off x="3079405" y="4402688"/>
                <a:ext cx="358140" cy="198152"/>
                <a:chOff x="1760220" y="4259682"/>
                <a:chExt cx="358140" cy="198152"/>
              </a:xfrm>
            </p:grpSpPr>
            <p:cxnSp>
              <p:nvCxnSpPr>
                <p:cNvPr id="233" name="Straight Connector 232">
                  <a:extLst>
                    <a:ext uri="{FF2B5EF4-FFF2-40B4-BE49-F238E27FC236}">
                      <a16:creationId xmlns:a16="http://schemas.microsoft.com/office/drawing/2014/main" id="{B5E8A0C2-4C52-C0CA-85A7-F9CF1F881B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60220" y="4319884"/>
                  <a:ext cx="358140" cy="13795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4" name="Straight Connector 233">
                  <a:extLst>
                    <a:ext uri="{FF2B5EF4-FFF2-40B4-BE49-F238E27FC236}">
                      <a16:creationId xmlns:a16="http://schemas.microsoft.com/office/drawing/2014/main" id="{CF9C19C9-DC98-69C2-FD76-71923E1DDA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60220" y="4259682"/>
                  <a:ext cx="358140" cy="144678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28" name="Straight Connector 227">
                <a:extLst>
                  <a:ext uri="{FF2B5EF4-FFF2-40B4-BE49-F238E27FC236}">
                    <a16:creationId xmlns:a16="http://schemas.microsoft.com/office/drawing/2014/main" id="{364060DF-1B5E-31EC-11DC-C149F9CEF0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58844" y="3865406"/>
                <a:ext cx="378261" cy="0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29" name="Group 228">
                <a:extLst>
                  <a:ext uri="{FF2B5EF4-FFF2-40B4-BE49-F238E27FC236}">
                    <a16:creationId xmlns:a16="http://schemas.microsoft.com/office/drawing/2014/main" id="{8D9ABAD9-3FF5-EA8C-67D7-5D57DE0B703C}"/>
                  </a:ext>
                </a:extLst>
              </p:cNvPr>
              <p:cNvGrpSpPr/>
              <p:nvPr/>
            </p:nvGrpSpPr>
            <p:grpSpPr>
              <a:xfrm>
                <a:off x="7336456" y="3885100"/>
                <a:ext cx="358140" cy="409384"/>
                <a:chOff x="1760220" y="4048450"/>
                <a:chExt cx="358140" cy="409384"/>
              </a:xfrm>
            </p:grpSpPr>
            <p:cxnSp>
              <p:nvCxnSpPr>
                <p:cNvPr id="230" name="Straight Connector 229">
                  <a:extLst>
                    <a:ext uri="{FF2B5EF4-FFF2-40B4-BE49-F238E27FC236}">
                      <a16:creationId xmlns:a16="http://schemas.microsoft.com/office/drawing/2014/main" id="{A9F97C0C-A64D-9CF5-F544-9D079E1CFF0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60220" y="4319884"/>
                  <a:ext cx="358140" cy="13795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1" name="Straight Arrow Connector 230">
                  <a:extLst>
                    <a:ext uri="{FF2B5EF4-FFF2-40B4-BE49-F238E27FC236}">
                      <a16:creationId xmlns:a16="http://schemas.microsoft.com/office/drawing/2014/main" id="{7F0BED0C-662D-3BA3-B589-AAD2EA00C48F}"/>
                    </a:ext>
                  </a:extLst>
                </p:cNvPr>
                <p:cNvCxnSpPr/>
                <p:nvPr/>
              </p:nvCxnSpPr>
              <p:spPr>
                <a:xfrm>
                  <a:off x="1961876" y="4048450"/>
                  <a:ext cx="6595" cy="272090"/>
                </a:xfrm>
                <a:prstGeom prst="straightConnector1">
                  <a:avLst/>
                </a:prstGeom>
                <a:ln>
                  <a:solidFill>
                    <a:srgbClr val="FFFF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" name="Straight Connector 231">
                  <a:extLst>
                    <a:ext uri="{FF2B5EF4-FFF2-40B4-BE49-F238E27FC236}">
                      <a16:creationId xmlns:a16="http://schemas.microsoft.com/office/drawing/2014/main" id="{791395F9-1BED-CD83-BD7B-96E855BA20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60220" y="4259682"/>
                  <a:ext cx="358140" cy="144678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C0B929CD-3ACC-55AD-4198-082AC2DF6271}"/>
              </a:ext>
            </a:extLst>
          </p:cNvPr>
          <p:cNvGrpSpPr/>
          <p:nvPr/>
        </p:nvGrpSpPr>
        <p:grpSpPr>
          <a:xfrm>
            <a:off x="6526995" y="4147206"/>
            <a:ext cx="4730464" cy="1149575"/>
            <a:chOff x="2814243" y="4233585"/>
            <a:chExt cx="4730464" cy="1149575"/>
          </a:xfrm>
        </p:grpSpPr>
        <p:grpSp>
          <p:nvGrpSpPr>
            <p:cNvPr id="243" name="Group 242">
              <a:extLst>
                <a:ext uri="{FF2B5EF4-FFF2-40B4-BE49-F238E27FC236}">
                  <a16:creationId xmlns:a16="http://schemas.microsoft.com/office/drawing/2014/main" id="{6AF26B0C-E811-2DA1-F5DD-9A7E7072DFB6}"/>
                </a:ext>
              </a:extLst>
            </p:cNvPr>
            <p:cNvGrpSpPr/>
            <p:nvPr/>
          </p:nvGrpSpPr>
          <p:grpSpPr>
            <a:xfrm>
              <a:off x="2814243" y="4753748"/>
              <a:ext cx="4344601" cy="629412"/>
              <a:chOff x="1495058" y="4610742"/>
              <a:chExt cx="4344601" cy="629412"/>
            </a:xfrm>
          </p:grpSpPr>
          <p:sp>
            <p:nvSpPr>
              <p:cNvPr id="248" name="Rectangle 247">
                <a:extLst>
                  <a:ext uri="{FF2B5EF4-FFF2-40B4-BE49-F238E27FC236}">
                    <a16:creationId xmlns:a16="http://schemas.microsoft.com/office/drawing/2014/main" id="{CC8CA21E-E7EA-FEC3-7AB7-756A6ADFA3F7}"/>
                  </a:ext>
                </a:extLst>
              </p:cNvPr>
              <p:cNvSpPr/>
              <p:nvPr/>
            </p:nvSpPr>
            <p:spPr>
              <a:xfrm>
                <a:off x="2993759" y="4687704"/>
                <a:ext cx="1208285" cy="47548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default action</a:t>
                </a:r>
              </a:p>
            </p:txBody>
          </p:sp>
          <p:sp>
            <p:nvSpPr>
              <p:cNvPr id="249" name="Rectangle 248">
                <a:extLst>
                  <a:ext uri="{FF2B5EF4-FFF2-40B4-BE49-F238E27FC236}">
                    <a16:creationId xmlns:a16="http://schemas.microsoft.com/office/drawing/2014/main" id="{5711F396-F30D-EFF7-F338-AF6B2CBE3C1E}"/>
                  </a:ext>
                </a:extLst>
              </p:cNvPr>
              <p:cNvSpPr/>
              <p:nvPr/>
            </p:nvSpPr>
            <p:spPr>
              <a:xfrm>
                <a:off x="4631374" y="4673066"/>
                <a:ext cx="1208285" cy="47548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Break</a:t>
                </a:r>
              </a:p>
            </p:txBody>
          </p:sp>
          <p:cxnSp>
            <p:nvCxnSpPr>
              <p:cNvPr id="250" name="Straight Arrow Connector 249">
                <a:extLst>
                  <a:ext uri="{FF2B5EF4-FFF2-40B4-BE49-F238E27FC236}">
                    <a16:creationId xmlns:a16="http://schemas.microsoft.com/office/drawing/2014/main" id="{EC4FA323-17B7-DA46-0D5D-1561372AF0D9}"/>
                  </a:ext>
                </a:extLst>
              </p:cNvPr>
              <p:cNvCxnSpPr>
                <a:cxnSpLocks/>
                <a:stCxn id="248" idx="3"/>
                <a:endCxn id="249" idx="1"/>
              </p:cNvCxnSpPr>
              <p:nvPr/>
            </p:nvCxnSpPr>
            <p:spPr>
              <a:xfrm flipV="1">
                <a:off x="4202044" y="4910810"/>
                <a:ext cx="429330" cy="14638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1" name="Group 250">
                <a:extLst>
                  <a:ext uri="{FF2B5EF4-FFF2-40B4-BE49-F238E27FC236}">
                    <a16:creationId xmlns:a16="http://schemas.microsoft.com/office/drawing/2014/main" id="{8496A4D1-9073-940B-CEE6-453CB9567C39}"/>
                  </a:ext>
                </a:extLst>
              </p:cNvPr>
              <p:cNvGrpSpPr/>
              <p:nvPr/>
            </p:nvGrpSpPr>
            <p:grpSpPr>
              <a:xfrm>
                <a:off x="1495058" y="4610742"/>
                <a:ext cx="914400" cy="629412"/>
                <a:chOff x="1455313" y="4599509"/>
                <a:chExt cx="914400" cy="629412"/>
              </a:xfrm>
            </p:grpSpPr>
            <p:sp>
              <p:nvSpPr>
                <p:cNvPr id="253" name="Flowchart: Decision 252">
                  <a:extLst>
                    <a:ext uri="{FF2B5EF4-FFF2-40B4-BE49-F238E27FC236}">
                      <a16:creationId xmlns:a16="http://schemas.microsoft.com/office/drawing/2014/main" id="{7FF41BB8-7A98-29F7-31A6-A84A9FEB48F8}"/>
                    </a:ext>
                  </a:extLst>
                </p:cNvPr>
                <p:cNvSpPr/>
                <p:nvPr/>
              </p:nvSpPr>
              <p:spPr>
                <a:xfrm>
                  <a:off x="1455313" y="4599509"/>
                  <a:ext cx="914400" cy="629412"/>
                </a:xfrm>
                <a:prstGeom prst="flowChartDecision">
                  <a:avLst/>
                </a:prstGeom>
                <a:solidFill>
                  <a:srgbClr val="FF000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 sz="1000" dirty="0"/>
                </a:p>
              </p:txBody>
            </p:sp>
            <p:sp>
              <p:nvSpPr>
                <p:cNvPr id="254" name="TextBox 253">
                  <a:extLst>
                    <a:ext uri="{FF2B5EF4-FFF2-40B4-BE49-F238E27FC236}">
                      <a16:creationId xmlns:a16="http://schemas.microsoft.com/office/drawing/2014/main" id="{AD42AF6E-922D-D992-8E1A-0AA6B683B454}"/>
                    </a:ext>
                  </a:extLst>
                </p:cNvPr>
                <p:cNvSpPr txBox="1"/>
                <p:nvPr/>
              </p:nvSpPr>
              <p:spPr>
                <a:xfrm>
                  <a:off x="1494152" y="4714911"/>
                  <a:ext cx="86914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ZA" dirty="0">
                      <a:solidFill>
                        <a:schemeClr val="bg1"/>
                      </a:solidFill>
                      <a:latin typeface="LM Roman 12" panose="00000500000000000000" pitchFamily="50" charset="0"/>
                    </a:rPr>
                    <a:t>default</a:t>
                  </a:r>
                </a:p>
              </p:txBody>
            </p:sp>
          </p:grpSp>
          <p:cxnSp>
            <p:nvCxnSpPr>
              <p:cNvPr id="252" name="Straight Arrow Connector 251">
                <a:extLst>
                  <a:ext uri="{FF2B5EF4-FFF2-40B4-BE49-F238E27FC236}">
                    <a16:creationId xmlns:a16="http://schemas.microsoft.com/office/drawing/2014/main" id="{3493784B-F657-47E9-8F7E-91C16979D487}"/>
                  </a:ext>
                </a:extLst>
              </p:cNvPr>
              <p:cNvCxnSpPr>
                <a:cxnSpLocks/>
                <a:stCxn id="254" idx="3"/>
                <a:endCxn id="248" idx="1"/>
              </p:cNvCxnSpPr>
              <p:nvPr/>
            </p:nvCxnSpPr>
            <p:spPr>
              <a:xfrm>
                <a:off x="2403046" y="4910810"/>
                <a:ext cx="590713" cy="14638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44" name="Straight Arrow Connector 243">
              <a:extLst>
                <a:ext uri="{FF2B5EF4-FFF2-40B4-BE49-F238E27FC236}">
                  <a16:creationId xmlns:a16="http://schemas.microsoft.com/office/drawing/2014/main" id="{E4A12465-D3B5-89B7-F330-017069B4D8A8}"/>
                </a:ext>
              </a:extLst>
            </p:cNvPr>
            <p:cNvCxnSpPr>
              <a:cxnSpLocks/>
              <a:endCxn id="253" idx="0"/>
            </p:cNvCxnSpPr>
            <p:nvPr/>
          </p:nvCxnSpPr>
          <p:spPr>
            <a:xfrm>
              <a:off x="3271443" y="4547366"/>
              <a:ext cx="0" cy="206382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1923D9F2-4978-DBE1-E149-1B56014F1210}"/>
                </a:ext>
              </a:extLst>
            </p:cNvPr>
            <p:cNvCxnSpPr>
              <a:cxnSpLocks/>
            </p:cNvCxnSpPr>
            <p:nvPr/>
          </p:nvCxnSpPr>
          <p:spPr>
            <a:xfrm>
              <a:off x="7158844" y="5068454"/>
              <a:ext cx="378261" cy="0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6" name="TextBox 245">
              <a:extLst>
                <a:ext uri="{FF2B5EF4-FFF2-40B4-BE49-F238E27FC236}">
                  <a16:creationId xmlns:a16="http://schemas.microsoft.com/office/drawing/2014/main" id="{149AB4C4-86E4-55F5-1956-E11167C5276F}"/>
                </a:ext>
              </a:extLst>
            </p:cNvPr>
            <p:cNvSpPr txBox="1"/>
            <p:nvPr/>
          </p:nvSpPr>
          <p:spPr>
            <a:xfrm>
              <a:off x="3361987" y="4447286"/>
              <a:ext cx="393889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2000" b="1" dirty="0">
                  <a:latin typeface="LM Roman 12" panose="00000500000000000000" pitchFamily="50" charset="0"/>
                </a:rPr>
                <a:t>Otherwise do this default action</a:t>
              </a:r>
            </a:p>
          </p:txBody>
        </p:sp>
        <p:cxnSp>
          <p:nvCxnSpPr>
            <p:cNvPr id="247" name="Straight Arrow Connector 246">
              <a:extLst>
                <a:ext uri="{FF2B5EF4-FFF2-40B4-BE49-F238E27FC236}">
                  <a16:creationId xmlns:a16="http://schemas.microsoft.com/office/drawing/2014/main" id="{82A04286-AEB4-FF7B-ABC5-D4382EBCF3E9}"/>
                </a:ext>
              </a:extLst>
            </p:cNvPr>
            <p:cNvCxnSpPr>
              <a:cxnSpLocks/>
            </p:cNvCxnSpPr>
            <p:nvPr/>
          </p:nvCxnSpPr>
          <p:spPr>
            <a:xfrm>
              <a:off x="7544707" y="4233585"/>
              <a:ext cx="0" cy="834869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0845255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repeatCount="indefinite" fill="hold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2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repeatCount="indefinite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  <p:bldP spid="77" grpId="0"/>
      <p:bldP spid="14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D482C-10BD-8F2B-B525-F864C6260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3F1A7C24-24D7-B969-4830-15D7D4FC539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3F1A7C24-24D7-B969-4830-15D7D4FC53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3E9397E8-603A-A83B-E03C-18EFECB96E2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F548C8C-3780-A851-C4D0-3B48B5F24CB1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4	pg. 55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C517C1B-178E-3E37-BDDA-CCE1C2BB1A50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52A3578-ACE7-28EE-5751-9C15055CC969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3241984-D65F-20C3-A00C-424DD656B236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7E6F5CE6-FB97-540A-F057-CBD3EA154A3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B81B01E-BD59-A02A-1EA4-A19564131C0C}"/>
                </a:ext>
              </a:extLst>
            </p:cNvPr>
            <p:cNvSpPr txBox="1"/>
            <p:nvPr/>
          </p:nvSpPr>
          <p:spPr>
            <a:xfrm>
              <a:off x="2488042" y="184666"/>
              <a:ext cx="72825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05 August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8285D42C-B2E2-E6EA-A997-6BF016BDD51D}"/>
              </a:ext>
            </a:extLst>
          </p:cNvPr>
          <p:cNvSpPr/>
          <p:nvPr/>
        </p:nvSpPr>
        <p:spPr>
          <a:xfrm>
            <a:off x="3329940" y="584240"/>
            <a:ext cx="6027420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00B0F0"/>
                </a:solidFill>
                <a:latin typeface="LM Roman 12" panose="00000500000000000000" pitchFamily="50" charset="0"/>
              </a:rPr>
              <a:t>Structured programming 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SUMMARY: sequence, selection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912984C-D8C8-D63E-ABE3-AA6EEBAE809E}"/>
              </a:ext>
            </a:extLst>
          </p:cNvPr>
          <p:cNvGrpSpPr/>
          <p:nvPr/>
        </p:nvGrpSpPr>
        <p:grpSpPr>
          <a:xfrm>
            <a:off x="264945" y="1721026"/>
            <a:ext cx="1208285" cy="4401598"/>
            <a:chOff x="264945" y="1721026"/>
            <a:chExt cx="1208285" cy="440159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733AB33-2FFE-B417-30A3-DD03C9C8D80B}"/>
                </a:ext>
              </a:extLst>
            </p:cNvPr>
            <p:cNvGrpSpPr/>
            <p:nvPr/>
          </p:nvGrpSpPr>
          <p:grpSpPr>
            <a:xfrm>
              <a:off x="264945" y="1721026"/>
              <a:ext cx="1208285" cy="3217622"/>
              <a:chOff x="171820" y="1399032"/>
              <a:chExt cx="1208285" cy="3217622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E54845C-18B6-6301-3BD2-A644ADA1150D}"/>
                  </a:ext>
                </a:extLst>
              </p:cNvPr>
              <p:cNvSpPr/>
              <p:nvPr/>
            </p:nvSpPr>
            <p:spPr>
              <a:xfrm>
                <a:off x="322513" y="1399032"/>
                <a:ext cx="914400" cy="47548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/>
                  <a:t>start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6A2F934B-B2C9-EE39-8086-FE5B1CBE0A3B}"/>
                  </a:ext>
                </a:extLst>
              </p:cNvPr>
              <p:cNvSpPr/>
              <p:nvPr/>
            </p:nvSpPr>
            <p:spPr>
              <a:xfrm>
                <a:off x="318763" y="4141166"/>
                <a:ext cx="914400" cy="47548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/>
                  <a:t>end</a:t>
                </a:r>
              </a:p>
            </p:txBody>
          </p:sp>
          <p:sp>
            <p:nvSpPr>
              <p:cNvPr id="68" name="Flowchart: Decision 67">
                <a:extLst>
                  <a:ext uri="{FF2B5EF4-FFF2-40B4-BE49-F238E27FC236}">
                    <a16:creationId xmlns:a16="http://schemas.microsoft.com/office/drawing/2014/main" id="{C2574C05-10FA-120E-2CF9-8BF08A9FE952}"/>
                  </a:ext>
                </a:extLst>
              </p:cNvPr>
              <p:cNvSpPr/>
              <p:nvPr/>
            </p:nvSpPr>
            <p:spPr>
              <a:xfrm>
                <a:off x="318762" y="2309622"/>
                <a:ext cx="914400" cy="629412"/>
              </a:xfrm>
              <a:prstGeom prst="flowChartDecision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/>
                  <a:t>C</a:t>
                </a:r>
              </a:p>
            </p:txBody>
          </p:sp>
          <p:cxnSp>
            <p:nvCxnSpPr>
              <p:cNvPr id="69" name="Straight Arrow Connector 68">
                <a:extLst>
                  <a:ext uri="{FF2B5EF4-FFF2-40B4-BE49-F238E27FC236}">
                    <a16:creationId xmlns:a16="http://schemas.microsoft.com/office/drawing/2014/main" id="{08B14A23-B403-C135-DC25-A8D9CAF3B8EF}"/>
                  </a:ext>
                </a:extLst>
              </p:cNvPr>
              <p:cNvCxnSpPr>
                <a:cxnSpLocks/>
                <a:stCxn id="8" idx="4"/>
                <a:endCxn id="68" idx="0"/>
              </p:cNvCxnSpPr>
              <p:nvPr/>
            </p:nvCxnSpPr>
            <p:spPr>
              <a:xfrm flipH="1">
                <a:off x="775962" y="1874520"/>
                <a:ext cx="3751" cy="435102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9B1FCED3-1A01-B201-7C05-6441D46C1D47}"/>
                  </a:ext>
                </a:extLst>
              </p:cNvPr>
              <p:cNvSpPr/>
              <p:nvPr/>
            </p:nvSpPr>
            <p:spPr>
              <a:xfrm>
                <a:off x="171820" y="3245587"/>
                <a:ext cx="1208285" cy="47548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/>
                  <a:t>Do this</a:t>
                </a:r>
              </a:p>
            </p:txBody>
          </p: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46413457-F0C9-DC77-5A9E-98EFB806EFE2}"/>
                  </a:ext>
                </a:extLst>
              </p:cNvPr>
              <p:cNvCxnSpPr>
                <a:stCxn id="68" idx="2"/>
                <a:endCxn id="70" idx="0"/>
              </p:cNvCxnSpPr>
              <p:nvPr/>
            </p:nvCxnSpPr>
            <p:spPr>
              <a:xfrm>
                <a:off x="775962" y="2939034"/>
                <a:ext cx="1" cy="306553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4D8B4433-D275-0523-2419-1F0F8D1A24E4}"/>
                  </a:ext>
                </a:extLst>
              </p:cNvPr>
              <p:cNvCxnSpPr>
                <a:cxnSpLocks/>
                <a:stCxn id="70" idx="2"/>
                <a:endCxn id="10" idx="0"/>
              </p:cNvCxnSpPr>
              <p:nvPr/>
            </p:nvCxnSpPr>
            <p:spPr>
              <a:xfrm>
                <a:off x="775963" y="3721075"/>
                <a:ext cx="0" cy="420091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EEE49916-C620-4095-4663-60F9888204C3}"/>
                </a:ext>
              </a:extLst>
            </p:cNvPr>
            <p:cNvSpPr txBox="1"/>
            <p:nvPr/>
          </p:nvSpPr>
          <p:spPr>
            <a:xfrm>
              <a:off x="560989" y="5199294"/>
              <a:ext cx="60305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5400" b="1" dirty="0"/>
                <a:t>if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380E486-68D9-B2DB-AE8E-100869C9C934}"/>
              </a:ext>
            </a:extLst>
          </p:cNvPr>
          <p:cNvGrpSpPr/>
          <p:nvPr/>
        </p:nvGrpSpPr>
        <p:grpSpPr>
          <a:xfrm>
            <a:off x="2200050" y="1652217"/>
            <a:ext cx="4147703" cy="4470407"/>
            <a:chOff x="2200050" y="1652217"/>
            <a:chExt cx="4147703" cy="4470407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D494A8C4-FEDB-8679-F3F4-3082DEBA35CF}"/>
                </a:ext>
              </a:extLst>
            </p:cNvPr>
            <p:cNvSpPr txBox="1"/>
            <p:nvPr/>
          </p:nvSpPr>
          <p:spPr>
            <a:xfrm>
              <a:off x="3331978" y="5199294"/>
              <a:ext cx="202972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5400" b="1" dirty="0"/>
                <a:t>if</a:t>
              </a:r>
              <a:r>
                <a:rPr lang="en-ZA" sz="3600" b="1" dirty="0"/>
                <a:t> </a:t>
              </a:r>
              <a:r>
                <a:rPr lang="en-ZA" sz="5400" b="1" dirty="0"/>
                <a:t>else</a:t>
              </a:r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9B279117-5C65-8400-0F86-AD03102181F6}"/>
                </a:ext>
              </a:extLst>
            </p:cNvPr>
            <p:cNvGrpSpPr/>
            <p:nvPr/>
          </p:nvGrpSpPr>
          <p:grpSpPr>
            <a:xfrm>
              <a:off x="2200050" y="1652217"/>
              <a:ext cx="2527130" cy="3217622"/>
              <a:chOff x="2393679" y="1751380"/>
              <a:chExt cx="2527130" cy="3217622"/>
            </a:xfrm>
          </p:grpSpPr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C7071EA6-7584-5482-715C-F4B2A9A3B17F}"/>
                  </a:ext>
                </a:extLst>
              </p:cNvPr>
              <p:cNvCxnSpPr>
                <a:stCxn id="85" idx="2"/>
                <a:endCxn id="81" idx="0"/>
              </p:cNvCxnSpPr>
              <p:nvPr/>
            </p:nvCxnSpPr>
            <p:spPr>
              <a:xfrm>
                <a:off x="4459858" y="3291382"/>
                <a:ext cx="1" cy="1202132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0" name="Group 79">
                <a:extLst>
                  <a:ext uri="{FF2B5EF4-FFF2-40B4-BE49-F238E27FC236}">
                    <a16:creationId xmlns:a16="http://schemas.microsoft.com/office/drawing/2014/main" id="{F75CDB43-BE6E-E942-09CF-49F9CA213418}"/>
                  </a:ext>
                </a:extLst>
              </p:cNvPr>
              <p:cNvGrpSpPr/>
              <p:nvPr/>
            </p:nvGrpSpPr>
            <p:grpSpPr>
              <a:xfrm>
                <a:off x="2393679" y="1751380"/>
                <a:ext cx="2527130" cy="3217622"/>
                <a:chOff x="2393679" y="1751380"/>
                <a:chExt cx="2527130" cy="3217622"/>
              </a:xfrm>
            </p:grpSpPr>
            <p:sp>
              <p:nvSpPr>
                <p:cNvPr id="81" name="Oval 80">
                  <a:extLst>
                    <a:ext uri="{FF2B5EF4-FFF2-40B4-BE49-F238E27FC236}">
                      <a16:creationId xmlns:a16="http://schemas.microsoft.com/office/drawing/2014/main" id="{AF154FA3-A7C5-C66E-21A4-0D04F2A1382D}"/>
                    </a:ext>
                  </a:extLst>
                </p:cNvPr>
                <p:cNvSpPr/>
                <p:nvPr/>
              </p:nvSpPr>
              <p:spPr>
                <a:xfrm>
                  <a:off x="4002659" y="4493514"/>
                  <a:ext cx="914400" cy="47548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dirty="0"/>
                    <a:t>end</a:t>
                  </a:r>
                </a:p>
              </p:txBody>
            </p:sp>
            <p:grpSp>
              <p:nvGrpSpPr>
                <p:cNvPr id="82" name="Group 81">
                  <a:extLst>
                    <a:ext uri="{FF2B5EF4-FFF2-40B4-BE49-F238E27FC236}">
                      <a16:creationId xmlns:a16="http://schemas.microsoft.com/office/drawing/2014/main" id="{30EED920-59AD-218A-3EFE-5C5EA39EAE48}"/>
                    </a:ext>
                  </a:extLst>
                </p:cNvPr>
                <p:cNvGrpSpPr/>
                <p:nvPr/>
              </p:nvGrpSpPr>
              <p:grpSpPr>
                <a:xfrm>
                  <a:off x="2393679" y="1751380"/>
                  <a:ext cx="2527130" cy="2824771"/>
                  <a:chOff x="2393679" y="1751380"/>
                  <a:chExt cx="2527130" cy="2824771"/>
                </a:xfrm>
              </p:grpSpPr>
              <p:cxnSp>
                <p:nvCxnSpPr>
                  <p:cNvPr id="83" name="Straight Arrow Connector 82">
                    <a:extLst>
                      <a:ext uri="{FF2B5EF4-FFF2-40B4-BE49-F238E27FC236}">
                        <a16:creationId xmlns:a16="http://schemas.microsoft.com/office/drawing/2014/main" id="{085EE82F-90D3-D8C7-317C-EA6FAF99734E}"/>
                      </a:ext>
                    </a:extLst>
                  </p:cNvPr>
                  <p:cNvCxnSpPr>
                    <a:stCxn id="85" idx="1"/>
                    <a:endCxn id="87" idx="3"/>
                  </p:cNvCxnSpPr>
                  <p:nvPr/>
                </p:nvCxnSpPr>
                <p:spPr>
                  <a:xfrm flipH="1" flipV="1">
                    <a:off x="3601964" y="2968523"/>
                    <a:ext cx="400694" cy="8153"/>
                  </a:xfrm>
                  <a:prstGeom prst="straightConnector1">
                    <a:avLst/>
                  </a:prstGeom>
                  <a:ln>
                    <a:solidFill>
                      <a:srgbClr val="00B05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4" name="Oval 83">
                    <a:extLst>
                      <a:ext uri="{FF2B5EF4-FFF2-40B4-BE49-F238E27FC236}">
                        <a16:creationId xmlns:a16="http://schemas.microsoft.com/office/drawing/2014/main" id="{1C0AC9BB-D80C-EA1A-53B3-1035CC41C6CC}"/>
                      </a:ext>
                    </a:extLst>
                  </p:cNvPr>
                  <p:cNvSpPr/>
                  <p:nvPr/>
                </p:nvSpPr>
                <p:spPr>
                  <a:xfrm>
                    <a:off x="4006409" y="1751380"/>
                    <a:ext cx="914400" cy="475488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>
                    <a:outerShdw blurRad="44450" dist="27940" dir="5400000" algn="ctr">
                      <a:srgbClr val="000000">
                        <a:alpha val="32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balanced" dir="t">
                      <a:rot lat="0" lon="0" rev="8700000"/>
                    </a:lightRig>
                  </a:scene3d>
                  <a:sp3d>
                    <a:bevelT w="190500" h="38100"/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ZA" dirty="0"/>
                      <a:t>start</a:t>
                    </a:r>
                  </a:p>
                </p:txBody>
              </p:sp>
              <p:sp>
                <p:nvSpPr>
                  <p:cNvPr id="85" name="Flowchart: Decision 84">
                    <a:extLst>
                      <a:ext uri="{FF2B5EF4-FFF2-40B4-BE49-F238E27FC236}">
                        <a16:creationId xmlns:a16="http://schemas.microsoft.com/office/drawing/2014/main" id="{15057390-9CA8-E5C3-441B-B93E8C51CBFA}"/>
                      </a:ext>
                    </a:extLst>
                  </p:cNvPr>
                  <p:cNvSpPr/>
                  <p:nvPr/>
                </p:nvSpPr>
                <p:spPr>
                  <a:xfrm>
                    <a:off x="4002658" y="2661970"/>
                    <a:ext cx="914400" cy="629412"/>
                  </a:xfrm>
                  <a:prstGeom prst="flowChartDecision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>
                    <a:outerShdw blurRad="44450" dist="27940" dir="5400000" algn="ctr">
                      <a:srgbClr val="000000">
                        <a:alpha val="32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balanced" dir="t">
                      <a:rot lat="0" lon="0" rev="8700000"/>
                    </a:lightRig>
                  </a:scene3d>
                  <a:sp3d>
                    <a:bevelT w="190500" h="38100"/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ZA" dirty="0"/>
                      <a:t>C</a:t>
                    </a:r>
                  </a:p>
                </p:txBody>
              </p:sp>
              <p:cxnSp>
                <p:nvCxnSpPr>
                  <p:cNvPr id="86" name="Straight Arrow Connector 85">
                    <a:extLst>
                      <a:ext uri="{FF2B5EF4-FFF2-40B4-BE49-F238E27FC236}">
                        <a16:creationId xmlns:a16="http://schemas.microsoft.com/office/drawing/2014/main" id="{1ABDF5AB-5EBD-F981-E58E-E6870AA02201}"/>
                      </a:ext>
                    </a:extLst>
                  </p:cNvPr>
                  <p:cNvCxnSpPr>
                    <a:cxnSpLocks/>
                    <a:stCxn id="84" idx="4"/>
                    <a:endCxn id="85" idx="0"/>
                  </p:cNvCxnSpPr>
                  <p:nvPr/>
                </p:nvCxnSpPr>
                <p:spPr>
                  <a:xfrm flipH="1">
                    <a:off x="4459858" y="2226868"/>
                    <a:ext cx="3751" cy="435102"/>
                  </a:xfrm>
                  <a:prstGeom prst="straightConnector1">
                    <a:avLst/>
                  </a:prstGeom>
                  <a:ln>
                    <a:solidFill>
                      <a:srgbClr val="FFFF0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7" name="Rectangle 86">
                    <a:extLst>
                      <a:ext uri="{FF2B5EF4-FFF2-40B4-BE49-F238E27FC236}">
                        <a16:creationId xmlns:a16="http://schemas.microsoft.com/office/drawing/2014/main" id="{BEFC1772-8CE4-F6DB-EA20-DE76C36F12CC}"/>
                      </a:ext>
                    </a:extLst>
                  </p:cNvPr>
                  <p:cNvSpPr/>
                  <p:nvPr/>
                </p:nvSpPr>
                <p:spPr>
                  <a:xfrm>
                    <a:off x="2393679" y="2730779"/>
                    <a:ext cx="1208285" cy="475488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>
                    <a:outerShdw blurRad="44450" dist="27940" dir="5400000" algn="ctr">
                      <a:srgbClr val="000000">
                        <a:alpha val="32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balanced" dir="t">
                      <a:rot lat="0" lon="0" rev="8700000"/>
                    </a:lightRig>
                  </a:scene3d>
                  <a:sp3d>
                    <a:bevelT w="190500" h="38100"/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ZA" dirty="0"/>
                      <a:t>Do this</a:t>
                    </a:r>
                  </a:p>
                </p:txBody>
              </p:sp>
              <p:cxnSp>
                <p:nvCxnSpPr>
                  <p:cNvPr id="88" name="Connector: Elbow 87">
                    <a:extLst>
                      <a:ext uri="{FF2B5EF4-FFF2-40B4-BE49-F238E27FC236}">
                        <a16:creationId xmlns:a16="http://schemas.microsoft.com/office/drawing/2014/main" id="{573DEDB2-312D-88DA-E51C-03C70D2708B3}"/>
                      </a:ext>
                    </a:extLst>
                  </p:cNvPr>
                  <p:cNvCxnSpPr>
                    <a:stCxn id="87" idx="2"/>
                  </p:cNvCxnSpPr>
                  <p:nvPr/>
                </p:nvCxnSpPr>
                <p:spPr>
                  <a:xfrm rot="16200000" flipH="1">
                    <a:off x="3346630" y="2857458"/>
                    <a:ext cx="768171" cy="1465787"/>
                  </a:xfrm>
                  <a:prstGeom prst="bentConnector2">
                    <a:avLst/>
                  </a:prstGeom>
                  <a:ln>
                    <a:solidFill>
                      <a:srgbClr val="00B05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" name="Straight Arrow Connector 88">
                    <a:extLst>
                      <a:ext uri="{FF2B5EF4-FFF2-40B4-BE49-F238E27FC236}">
                        <a16:creationId xmlns:a16="http://schemas.microsoft.com/office/drawing/2014/main" id="{F6C3F47D-7C92-84CD-66DE-767F7560576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459858" y="3974436"/>
                    <a:ext cx="0" cy="601715"/>
                  </a:xfrm>
                  <a:prstGeom prst="straightConnector1">
                    <a:avLst/>
                  </a:prstGeom>
                  <a:ln>
                    <a:solidFill>
                      <a:srgbClr val="00B05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476299D4-27DA-B16C-6B36-9B472C680D29}"/>
                </a:ext>
              </a:extLst>
            </p:cNvPr>
            <p:cNvGrpSpPr/>
            <p:nvPr/>
          </p:nvGrpSpPr>
          <p:grpSpPr>
            <a:xfrm>
              <a:off x="4266229" y="2631616"/>
              <a:ext cx="2081524" cy="1818813"/>
              <a:chOff x="4459858" y="2730779"/>
              <a:chExt cx="2081524" cy="1818813"/>
            </a:xfrm>
          </p:grpSpPr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F069CEF3-CE8D-0268-43FB-5E49D5E7C626}"/>
                  </a:ext>
                </a:extLst>
              </p:cNvPr>
              <p:cNvCxnSpPr>
                <a:cxnSpLocks/>
                <a:stCxn id="85" idx="3"/>
                <a:endCxn id="92" idx="1"/>
              </p:cNvCxnSpPr>
              <p:nvPr/>
            </p:nvCxnSpPr>
            <p:spPr>
              <a:xfrm flipV="1">
                <a:off x="4629066" y="2968523"/>
                <a:ext cx="704031" cy="1515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FE2E9D7E-C8FF-98E7-B344-08BC47A2186A}"/>
                  </a:ext>
                </a:extLst>
              </p:cNvPr>
              <p:cNvSpPr/>
              <p:nvPr/>
            </p:nvSpPr>
            <p:spPr>
              <a:xfrm>
                <a:off x="5333097" y="2730779"/>
                <a:ext cx="1208285" cy="47548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/>
                  <a:t>Do that</a:t>
                </a:r>
              </a:p>
            </p:txBody>
          </p:sp>
          <p:cxnSp>
            <p:nvCxnSpPr>
              <p:cNvPr id="93" name="Connector: Elbow 92">
                <a:extLst>
                  <a:ext uri="{FF2B5EF4-FFF2-40B4-BE49-F238E27FC236}">
                    <a16:creationId xmlns:a16="http://schemas.microsoft.com/office/drawing/2014/main" id="{8275920E-A510-D5B1-35C0-14DF9666286C}"/>
                  </a:ext>
                </a:extLst>
              </p:cNvPr>
              <p:cNvCxnSpPr>
                <a:stCxn id="92" idx="2"/>
              </p:cNvCxnSpPr>
              <p:nvPr/>
            </p:nvCxnSpPr>
            <p:spPr>
              <a:xfrm rot="5400000">
                <a:off x="4816340" y="2853537"/>
                <a:ext cx="768170" cy="1473631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AA71EC85-2655-AEF0-7C49-0C84F498B8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59858" y="3985989"/>
                <a:ext cx="9997" cy="56360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66B8E0C-69ED-8A56-7143-8E5079413C67}"/>
              </a:ext>
            </a:extLst>
          </p:cNvPr>
          <p:cNvGrpSpPr/>
          <p:nvPr/>
        </p:nvGrpSpPr>
        <p:grpSpPr>
          <a:xfrm>
            <a:off x="6520583" y="1040556"/>
            <a:ext cx="5110428" cy="5318506"/>
            <a:chOff x="6520583" y="1040556"/>
            <a:chExt cx="5110428" cy="5318506"/>
          </a:xfrm>
        </p:grpSpPr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B9C2E220-8CC8-BB04-5C49-8C28AE76D0E7}"/>
                </a:ext>
              </a:extLst>
            </p:cNvPr>
            <p:cNvSpPr txBox="1"/>
            <p:nvPr/>
          </p:nvSpPr>
          <p:spPr>
            <a:xfrm>
              <a:off x="8330540" y="5435732"/>
              <a:ext cx="2267737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5400" b="1" dirty="0"/>
                <a:t>switch</a:t>
              </a:r>
            </a:p>
          </p:txBody>
        </p: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026BCAAB-2F2A-03B5-73FB-F7C51A5C74DD}"/>
                </a:ext>
              </a:extLst>
            </p:cNvPr>
            <p:cNvGrpSpPr/>
            <p:nvPr/>
          </p:nvGrpSpPr>
          <p:grpSpPr>
            <a:xfrm>
              <a:off x="6526995" y="1040556"/>
              <a:ext cx="914400" cy="685855"/>
              <a:chOff x="2814243" y="1126935"/>
              <a:chExt cx="914400" cy="685855"/>
            </a:xfrm>
          </p:grpSpPr>
          <p:sp>
            <p:nvSpPr>
              <p:cNvPr id="194" name="Oval 193">
                <a:extLst>
                  <a:ext uri="{FF2B5EF4-FFF2-40B4-BE49-F238E27FC236}">
                    <a16:creationId xmlns:a16="http://schemas.microsoft.com/office/drawing/2014/main" id="{98E2B768-1497-94C7-59B0-CD76ADD21B74}"/>
                  </a:ext>
                </a:extLst>
              </p:cNvPr>
              <p:cNvSpPr/>
              <p:nvPr/>
            </p:nvSpPr>
            <p:spPr>
              <a:xfrm>
                <a:off x="2814243" y="1126935"/>
                <a:ext cx="914400" cy="47548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/>
                  <a:t>start</a:t>
                </a:r>
              </a:p>
            </p:txBody>
          </p:sp>
          <p:cxnSp>
            <p:nvCxnSpPr>
              <p:cNvPr id="195" name="Straight Arrow Connector 194">
                <a:extLst>
                  <a:ext uri="{FF2B5EF4-FFF2-40B4-BE49-F238E27FC236}">
                    <a16:creationId xmlns:a16="http://schemas.microsoft.com/office/drawing/2014/main" id="{11797A73-6F04-1646-2BAD-A7FB1591280A}"/>
                  </a:ext>
                </a:extLst>
              </p:cNvPr>
              <p:cNvCxnSpPr>
                <a:cxnSpLocks/>
                <a:stCxn id="194" idx="4"/>
                <a:endCxn id="221" idx="0"/>
              </p:cNvCxnSpPr>
              <p:nvPr/>
            </p:nvCxnSpPr>
            <p:spPr>
              <a:xfrm flipH="1">
                <a:off x="3265031" y="1602423"/>
                <a:ext cx="6412" cy="210367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C8352A68-C47F-4FE3-7353-384963483024}"/>
                </a:ext>
              </a:extLst>
            </p:cNvPr>
            <p:cNvGrpSpPr/>
            <p:nvPr/>
          </p:nvGrpSpPr>
          <p:grpSpPr>
            <a:xfrm>
              <a:off x="6526995" y="5296781"/>
              <a:ext cx="914400" cy="910220"/>
              <a:chOff x="2814243" y="5383160"/>
              <a:chExt cx="914400" cy="910220"/>
            </a:xfrm>
          </p:grpSpPr>
          <p:sp>
            <p:nvSpPr>
              <p:cNvPr id="197" name="Oval 196">
                <a:extLst>
                  <a:ext uri="{FF2B5EF4-FFF2-40B4-BE49-F238E27FC236}">
                    <a16:creationId xmlns:a16="http://schemas.microsoft.com/office/drawing/2014/main" id="{510BE87E-AED6-6F4B-B2EB-E6768C4AE71A}"/>
                  </a:ext>
                </a:extLst>
              </p:cNvPr>
              <p:cNvSpPr/>
              <p:nvPr/>
            </p:nvSpPr>
            <p:spPr>
              <a:xfrm>
                <a:off x="2814243" y="5817892"/>
                <a:ext cx="914400" cy="47548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/>
                  <a:t>end</a:t>
                </a:r>
              </a:p>
            </p:txBody>
          </p:sp>
          <p:cxnSp>
            <p:nvCxnSpPr>
              <p:cNvPr id="198" name="Straight Arrow Connector 197">
                <a:extLst>
                  <a:ext uri="{FF2B5EF4-FFF2-40B4-BE49-F238E27FC236}">
                    <a16:creationId xmlns:a16="http://schemas.microsoft.com/office/drawing/2014/main" id="{A867AC30-58CB-11C0-FB9F-DBEB1A9F97AB}"/>
                  </a:ext>
                </a:extLst>
              </p:cNvPr>
              <p:cNvCxnSpPr>
                <a:cxnSpLocks/>
                <a:stCxn id="253" idx="2"/>
                <a:endCxn id="197" idx="0"/>
              </p:cNvCxnSpPr>
              <p:nvPr/>
            </p:nvCxnSpPr>
            <p:spPr>
              <a:xfrm>
                <a:off x="3271443" y="5383160"/>
                <a:ext cx="0" cy="434732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9" name="Group 198">
              <a:extLst>
                <a:ext uri="{FF2B5EF4-FFF2-40B4-BE49-F238E27FC236}">
                  <a16:creationId xmlns:a16="http://schemas.microsoft.com/office/drawing/2014/main" id="{BFC8D520-D665-A471-2DE1-2441894D29FA}"/>
                </a:ext>
              </a:extLst>
            </p:cNvPr>
            <p:cNvGrpSpPr/>
            <p:nvPr/>
          </p:nvGrpSpPr>
          <p:grpSpPr>
            <a:xfrm>
              <a:off x="6520583" y="2041117"/>
              <a:ext cx="4729274" cy="1757604"/>
              <a:chOff x="2807831" y="2127496"/>
              <a:chExt cx="4729274" cy="1757604"/>
            </a:xfrm>
          </p:grpSpPr>
          <p:grpSp>
            <p:nvGrpSpPr>
              <p:cNvPr id="200" name="Group 199">
                <a:extLst>
                  <a:ext uri="{FF2B5EF4-FFF2-40B4-BE49-F238E27FC236}">
                    <a16:creationId xmlns:a16="http://schemas.microsoft.com/office/drawing/2014/main" id="{BB85D5B4-78C3-1176-2C91-23DF2C182852}"/>
                  </a:ext>
                </a:extLst>
              </p:cNvPr>
              <p:cNvGrpSpPr/>
              <p:nvPr/>
            </p:nvGrpSpPr>
            <p:grpSpPr>
              <a:xfrm>
                <a:off x="2807831" y="2755405"/>
                <a:ext cx="4351014" cy="629412"/>
                <a:chOff x="1488646" y="2612399"/>
                <a:chExt cx="4351014" cy="629412"/>
              </a:xfrm>
            </p:grpSpPr>
            <p:sp>
              <p:nvSpPr>
                <p:cNvPr id="205" name="Rectangle 204">
                  <a:extLst>
                    <a:ext uri="{FF2B5EF4-FFF2-40B4-BE49-F238E27FC236}">
                      <a16:creationId xmlns:a16="http://schemas.microsoft.com/office/drawing/2014/main" id="{455A6D90-32D0-0EC8-C045-3D14BB2142AE}"/>
                    </a:ext>
                  </a:extLst>
                </p:cNvPr>
                <p:cNvSpPr/>
                <p:nvPr/>
              </p:nvSpPr>
              <p:spPr>
                <a:xfrm>
                  <a:off x="2993760" y="2689361"/>
                  <a:ext cx="1208285" cy="475488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dirty="0">
                      <a:latin typeface="LM Roman 12" panose="00000500000000000000" pitchFamily="50" charset="0"/>
                    </a:rPr>
                    <a:t>Do that action</a:t>
                  </a:r>
                </a:p>
              </p:txBody>
            </p:sp>
            <p:sp>
              <p:nvSpPr>
                <p:cNvPr id="206" name="Rectangle 205">
                  <a:extLst>
                    <a:ext uri="{FF2B5EF4-FFF2-40B4-BE49-F238E27FC236}">
                      <a16:creationId xmlns:a16="http://schemas.microsoft.com/office/drawing/2014/main" id="{DB4ADE1C-008F-E62B-789B-B58967A18811}"/>
                    </a:ext>
                  </a:extLst>
                </p:cNvPr>
                <p:cNvSpPr/>
                <p:nvPr/>
              </p:nvSpPr>
              <p:spPr>
                <a:xfrm>
                  <a:off x="4631375" y="2673212"/>
                  <a:ext cx="1208285" cy="475488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dirty="0">
                      <a:latin typeface="LM Roman 12" panose="00000500000000000000" pitchFamily="50" charset="0"/>
                    </a:rPr>
                    <a:t>Break</a:t>
                  </a:r>
                </a:p>
              </p:txBody>
            </p:sp>
            <p:cxnSp>
              <p:nvCxnSpPr>
                <p:cNvPr id="207" name="Straight Arrow Connector 206">
                  <a:extLst>
                    <a:ext uri="{FF2B5EF4-FFF2-40B4-BE49-F238E27FC236}">
                      <a16:creationId xmlns:a16="http://schemas.microsoft.com/office/drawing/2014/main" id="{44559143-A1CB-C837-E13C-0CA5068D5C9F}"/>
                    </a:ext>
                  </a:extLst>
                </p:cNvPr>
                <p:cNvCxnSpPr>
                  <a:stCxn id="210" idx="3"/>
                  <a:endCxn id="205" idx="1"/>
                </p:cNvCxnSpPr>
                <p:nvPr/>
              </p:nvCxnSpPr>
              <p:spPr>
                <a:xfrm>
                  <a:off x="2403046" y="2927105"/>
                  <a:ext cx="590714" cy="0"/>
                </a:xfrm>
                <a:prstGeom prst="straightConnector1">
                  <a:avLst/>
                </a:prstGeom>
                <a:ln>
                  <a:solidFill>
                    <a:srgbClr val="FFFF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Arrow Connector 207">
                  <a:extLst>
                    <a:ext uri="{FF2B5EF4-FFF2-40B4-BE49-F238E27FC236}">
                      <a16:creationId xmlns:a16="http://schemas.microsoft.com/office/drawing/2014/main" id="{0E175C21-4177-AE11-42FF-6F17A36BAAAB}"/>
                    </a:ext>
                  </a:extLst>
                </p:cNvPr>
                <p:cNvCxnSpPr>
                  <a:stCxn id="205" idx="3"/>
                  <a:endCxn id="206" idx="1"/>
                </p:cNvCxnSpPr>
                <p:nvPr/>
              </p:nvCxnSpPr>
              <p:spPr>
                <a:xfrm flipV="1">
                  <a:off x="4202045" y="2910956"/>
                  <a:ext cx="429330" cy="16149"/>
                </a:xfrm>
                <a:prstGeom prst="straightConnector1">
                  <a:avLst/>
                </a:prstGeom>
                <a:ln>
                  <a:solidFill>
                    <a:srgbClr val="FFFF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09" name="Group 208">
                  <a:extLst>
                    <a:ext uri="{FF2B5EF4-FFF2-40B4-BE49-F238E27FC236}">
                      <a16:creationId xmlns:a16="http://schemas.microsoft.com/office/drawing/2014/main" id="{86F8613B-C47B-2791-B8E3-914CD43CC1AF}"/>
                    </a:ext>
                  </a:extLst>
                </p:cNvPr>
                <p:cNvGrpSpPr/>
                <p:nvPr/>
              </p:nvGrpSpPr>
              <p:grpSpPr>
                <a:xfrm>
                  <a:off x="1488646" y="2612399"/>
                  <a:ext cx="914400" cy="629412"/>
                  <a:chOff x="1488646" y="2612399"/>
                  <a:chExt cx="914400" cy="629412"/>
                </a:xfrm>
              </p:grpSpPr>
              <p:sp>
                <p:nvSpPr>
                  <p:cNvPr id="210" name="Flowchart: Decision 209">
                    <a:extLst>
                      <a:ext uri="{FF2B5EF4-FFF2-40B4-BE49-F238E27FC236}">
                        <a16:creationId xmlns:a16="http://schemas.microsoft.com/office/drawing/2014/main" id="{1848963C-AEDA-B0EB-737C-46E9D5908489}"/>
                      </a:ext>
                    </a:extLst>
                  </p:cNvPr>
                  <p:cNvSpPr/>
                  <p:nvPr/>
                </p:nvSpPr>
                <p:spPr>
                  <a:xfrm>
                    <a:off x="1488646" y="2612399"/>
                    <a:ext cx="914400" cy="629412"/>
                  </a:xfrm>
                  <a:prstGeom prst="flowChartDecision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>
                    <a:outerShdw blurRad="44450" dist="27940" dir="5400000" algn="ctr">
                      <a:srgbClr val="000000">
                        <a:alpha val="32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balanced" dir="t">
                      <a:rot lat="0" lon="0" rev="8700000"/>
                    </a:lightRig>
                  </a:scene3d>
                  <a:sp3d>
                    <a:bevelT w="190500" h="38100"/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ZA" sz="1000" dirty="0"/>
                  </a:p>
                </p:txBody>
              </p:sp>
              <p:sp>
                <p:nvSpPr>
                  <p:cNvPr id="211" name="TextBox 210">
                    <a:extLst>
                      <a:ext uri="{FF2B5EF4-FFF2-40B4-BE49-F238E27FC236}">
                        <a16:creationId xmlns:a16="http://schemas.microsoft.com/office/drawing/2014/main" id="{81534D15-FE1D-21E1-C3D1-C53511A46F0C}"/>
                      </a:ext>
                    </a:extLst>
                  </p:cNvPr>
                  <p:cNvSpPr txBox="1"/>
                  <p:nvPr/>
                </p:nvSpPr>
                <p:spPr>
                  <a:xfrm>
                    <a:off x="1495058" y="2719813"/>
                    <a:ext cx="88838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ZA" dirty="0">
                        <a:solidFill>
                          <a:schemeClr val="bg1"/>
                        </a:solidFill>
                        <a:latin typeface="LM Roman 12" panose="00000500000000000000" pitchFamily="50" charset="0"/>
                      </a:rPr>
                      <a:t>Case B</a:t>
                    </a:r>
                  </a:p>
                </p:txBody>
              </p:sp>
            </p:grpSp>
          </p:grpSp>
          <p:cxnSp>
            <p:nvCxnSpPr>
              <p:cNvPr id="201" name="Straight Arrow Connector 200">
                <a:extLst>
                  <a:ext uri="{FF2B5EF4-FFF2-40B4-BE49-F238E27FC236}">
                    <a16:creationId xmlns:a16="http://schemas.microsoft.com/office/drawing/2014/main" id="{426BDDDC-EA7C-C4D7-4FFB-9B34360F17D3}"/>
                  </a:ext>
                </a:extLst>
              </p:cNvPr>
              <p:cNvCxnSpPr>
                <a:cxnSpLocks/>
                <a:stCxn id="221" idx="2"/>
                <a:endCxn id="210" idx="0"/>
              </p:cNvCxnSpPr>
              <p:nvPr/>
            </p:nvCxnSpPr>
            <p:spPr>
              <a:xfrm>
                <a:off x="3265031" y="2442202"/>
                <a:ext cx="0" cy="313203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Straight Arrow Connector 201">
                <a:extLst>
                  <a:ext uri="{FF2B5EF4-FFF2-40B4-BE49-F238E27FC236}">
                    <a16:creationId xmlns:a16="http://schemas.microsoft.com/office/drawing/2014/main" id="{24F39F2A-3A2C-BDA7-922E-9776028CC426}"/>
                  </a:ext>
                </a:extLst>
              </p:cNvPr>
              <p:cNvCxnSpPr>
                <a:cxnSpLocks/>
                <a:stCxn id="210" idx="2"/>
                <a:endCxn id="240" idx="0"/>
              </p:cNvCxnSpPr>
              <p:nvPr/>
            </p:nvCxnSpPr>
            <p:spPr>
              <a:xfrm>
                <a:off x="3265031" y="3384817"/>
                <a:ext cx="0" cy="185577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>
                <a:extLst>
                  <a:ext uri="{FF2B5EF4-FFF2-40B4-BE49-F238E27FC236}">
                    <a16:creationId xmlns:a16="http://schemas.microsoft.com/office/drawing/2014/main" id="{08DF3376-B5A7-4260-61C5-ECC41ED625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58844" y="3065566"/>
                <a:ext cx="378261" cy="0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>
                <a:extLst>
                  <a:ext uri="{FF2B5EF4-FFF2-40B4-BE49-F238E27FC236}">
                    <a16:creationId xmlns:a16="http://schemas.microsoft.com/office/drawing/2014/main" id="{EB62FFB5-FD58-3DD2-1FE5-6DC4A51459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37105" y="2127496"/>
                <a:ext cx="0" cy="1757604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2" name="Group 211">
              <a:extLst>
                <a:ext uri="{FF2B5EF4-FFF2-40B4-BE49-F238E27FC236}">
                  <a16:creationId xmlns:a16="http://schemas.microsoft.com/office/drawing/2014/main" id="{CDF4CDB4-3194-5174-DAF3-86572F945E14}"/>
                </a:ext>
              </a:extLst>
            </p:cNvPr>
            <p:cNvGrpSpPr/>
            <p:nvPr/>
          </p:nvGrpSpPr>
          <p:grpSpPr>
            <a:xfrm>
              <a:off x="6520583" y="1395943"/>
              <a:ext cx="5110428" cy="959880"/>
              <a:chOff x="2807831" y="1482322"/>
              <a:chExt cx="5110428" cy="959880"/>
            </a:xfrm>
          </p:grpSpPr>
          <p:grpSp>
            <p:nvGrpSpPr>
              <p:cNvPr id="213" name="Group 212">
                <a:extLst>
                  <a:ext uri="{FF2B5EF4-FFF2-40B4-BE49-F238E27FC236}">
                    <a16:creationId xmlns:a16="http://schemas.microsoft.com/office/drawing/2014/main" id="{588D03E8-DE4C-6D88-E41C-5178149B0BFE}"/>
                  </a:ext>
                </a:extLst>
              </p:cNvPr>
              <p:cNvGrpSpPr/>
              <p:nvPr/>
            </p:nvGrpSpPr>
            <p:grpSpPr>
              <a:xfrm>
                <a:off x="2807831" y="1812790"/>
                <a:ext cx="4351014" cy="629412"/>
                <a:chOff x="1488646" y="1669784"/>
                <a:chExt cx="4351014" cy="629412"/>
              </a:xfrm>
            </p:grpSpPr>
            <p:sp>
              <p:nvSpPr>
                <p:cNvPr id="216" name="Rectangle 215">
                  <a:extLst>
                    <a:ext uri="{FF2B5EF4-FFF2-40B4-BE49-F238E27FC236}">
                      <a16:creationId xmlns:a16="http://schemas.microsoft.com/office/drawing/2014/main" id="{F92CF1E7-F25D-210D-8335-DCD59680184E}"/>
                    </a:ext>
                  </a:extLst>
                </p:cNvPr>
                <p:cNvSpPr/>
                <p:nvPr/>
              </p:nvSpPr>
              <p:spPr>
                <a:xfrm>
                  <a:off x="2993760" y="1735055"/>
                  <a:ext cx="1208285" cy="475488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dirty="0">
                      <a:latin typeface="LM Roman 12" panose="00000500000000000000" pitchFamily="50" charset="0"/>
                    </a:rPr>
                    <a:t>Do this action</a:t>
                  </a:r>
                </a:p>
              </p:txBody>
            </p:sp>
            <p:sp>
              <p:nvSpPr>
                <p:cNvPr id="217" name="Rectangle 216">
                  <a:extLst>
                    <a:ext uri="{FF2B5EF4-FFF2-40B4-BE49-F238E27FC236}">
                      <a16:creationId xmlns:a16="http://schemas.microsoft.com/office/drawing/2014/main" id="{4A1A32B1-0E32-ED20-E9C7-484F6AD3F0D3}"/>
                    </a:ext>
                  </a:extLst>
                </p:cNvPr>
                <p:cNvSpPr/>
                <p:nvPr/>
              </p:nvSpPr>
              <p:spPr>
                <a:xfrm>
                  <a:off x="4631375" y="1746746"/>
                  <a:ext cx="1208285" cy="475488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dirty="0">
                      <a:latin typeface="LM Roman 12" panose="00000500000000000000" pitchFamily="50" charset="0"/>
                    </a:rPr>
                    <a:t>Break</a:t>
                  </a:r>
                  <a:endParaRPr lang="en-ZA" dirty="0"/>
                </a:p>
              </p:txBody>
            </p:sp>
            <p:cxnSp>
              <p:nvCxnSpPr>
                <p:cNvPr id="218" name="Straight Arrow Connector 217">
                  <a:extLst>
                    <a:ext uri="{FF2B5EF4-FFF2-40B4-BE49-F238E27FC236}">
                      <a16:creationId xmlns:a16="http://schemas.microsoft.com/office/drawing/2014/main" id="{D0CEB07F-C5AD-4DE8-78F5-762A33502E37}"/>
                    </a:ext>
                  </a:extLst>
                </p:cNvPr>
                <p:cNvCxnSpPr>
                  <a:stCxn id="221" idx="3"/>
                  <a:endCxn id="216" idx="1"/>
                </p:cNvCxnSpPr>
                <p:nvPr/>
              </p:nvCxnSpPr>
              <p:spPr>
                <a:xfrm flipV="1">
                  <a:off x="2403046" y="1972799"/>
                  <a:ext cx="590714" cy="11691"/>
                </a:xfrm>
                <a:prstGeom prst="straightConnector1">
                  <a:avLst/>
                </a:prstGeom>
                <a:ln>
                  <a:solidFill>
                    <a:srgbClr val="FFFF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9" name="Straight Arrow Connector 218">
                  <a:extLst>
                    <a:ext uri="{FF2B5EF4-FFF2-40B4-BE49-F238E27FC236}">
                      <a16:creationId xmlns:a16="http://schemas.microsoft.com/office/drawing/2014/main" id="{02033C84-AF63-E666-050B-2B0360174A28}"/>
                    </a:ext>
                  </a:extLst>
                </p:cNvPr>
                <p:cNvCxnSpPr>
                  <a:stCxn id="216" idx="3"/>
                  <a:endCxn id="217" idx="1"/>
                </p:cNvCxnSpPr>
                <p:nvPr/>
              </p:nvCxnSpPr>
              <p:spPr>
                <a:xfrm>
                  <a:off x="4202045" y="1972799"/>
                  <a:ext cx="429330" cy="11691"/>
                </a:xfrm>
                <a:prstGeom prst="straightConnector1">
                  <a:avLst/>
                </a:prstGeom>
                <a:ln>
                  <a:solidFill>
                    <a:srgbClr val="FFFF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20" name="Group 219">
                  <a:extLst>
                    <a:ext uri="{FF2B5EF4-FFF2-40B4-BE49-F238E27FC236}">
                      <a16:creationId xmlns:a16="http://schemas.microsoft.com/office/drawing/2014/main" id="{D1593B6C-D6D6-E4B5-897F-86717ED957F1}"/>
                    </a:ext>
                  </a:extLst>
                </p:cNvPr>
                <p:cNvGrpSpPr/>
                <p:nvPr/>
              </p:nvGrpSpPr>
              <p:grpSpPr>
                <a:xfrm>
                  <a:off x="1488646" y="1669784"/>
                  <a:ext cx="914400" cy="629412"/>
                  <a:chOff x="1465837" y="1712996"/>
                  <a:chExt cx="914400" cy="629412"/>
                </a:xfrm>
              </p:grpSpPr>
              <p:sp>
                <p:nvSpPr>
                  <p:cNvPr id="221" name="Flowchart: Decision 220">
                    <a:extLst>
                      <a:ext uri="{FF2B5EF4-FFF2-40B4-BE49-F238E27FC236}">
                        <a16:creationId xmlns:a16="http://schemas.microsoft.com/office/drawing/2014/main" id="{BC8AA213-E7AF-1C65-C065-790A99DB6698}"/>
                      </a:ext>
                    </a:extLst>
                  </p:cNvPr>
                  <p:cNvSpPr/>
                  <p:nvPr/>
                </p:nvSpPr>
                <p:spPr>
                  <a:xfrm>
                    <a:off x="1465837" y="1712996"/>
                    <a:ext cx="914400" cy="629412"/>
                  </a:xfrm>
                  <a:prstGeom prst="flowChartDecision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>
                    <a:outerShdw blurRad="44450" dist="27940" dir="5400000" algn="ctr">
                      <a:srgbClr val="000000">
                        <a:alpha val="32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balanced" dir="t">
                      <a:rot lat="0" lon="0" rev="8700000"/>
                    </a:lightRig>
                  </a:scene3d>
                  <a:sp3d>
                    <a:bevelT w="190500" h="38100"/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ZA" sz="1000" dirty="0"/>
                  </a:p>
                </p:txBody>
              </p:sp>
              <p:sp>
                <p:nvSpPr>
                  <p:cNvPr id="222" name="TextBox 221">
                    <a:extLst>
                      <a:ext uri="{FF2B5EF4-FFF2-40B4-BE49-F238E27FC236}">
                        <a16:creationId xmlns:a16="http://schemas.microsoft.com/office/drawing/2014/main" id="{FD764B29-90F2-DE8E-FDEE-7586A90CD4A8}"/>
                      </a:ext>
                    </a:extLst>
                  </p:cNvPr>
                  <p:cNvSpPr txBox="1"/>
                  <p:nvPr/>
                </p:nvSpPr>
                <p:spPr>
                  <a:xfrm>
                    <a:off x="1472249" y="1813169"/>
                    <a:ext cx="89800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ZA" dirty="0">
                        <a:solidFill>
                          <a:schemeClr val="bg1"/>
                        </a:solidFill>
                        <a:latin typeface="LM Roman 12" panose="00000500000000000000" pitchFamily="50" charset="0"/>
                      </a:rPr>
                      <a:t>Case A</a:t>
                    </a:r>
                  </a:p>
                </p:txBody>
              </p:sp>
            </p:grpSp>
          </p:grpSp>
          <p:cxnSp>
            <p:nvCxnSpPr>
              <p:cNvPr id="214" name="Straight Connector 213">
                <a:extLst>
                  <a:ext uri="{FF2B5EF4-FFF2-40B4-BE49-F238E27FC236}">
                    <a16:creationId xmlns:a16="http://schemas.microsoft.com/office/drawing/2014/main" id="{693047A0-DF31-2363-8238-44C6C0AF6D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58844" y="2146266"/>
                <a:ext cx="378261" cy="0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24B0F710-7339-C847-F642-1B69ADB478B8}"/>
                  </a:ext>
                </a:extLst>
              </p:cNvPr>
              <p:cNvSpPr txBox="1"/>
              <p:nvPr/>
            </p:nvSpPr>
            <p:spPr>
              <a:xfrm>
                <a:off x="3437545" y="1482322"/>
                <a:ext cx="448071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000" b="1" dirty="0">
                    <a:latin typeface="LM Roman 12" panose="00000500000000000000" pitchFamily="50" charset="0"/>
                  </a:rPr>
                  <a:t>when this case is true…do this action</a:t>
                </a:r>
              </a:p>
            </p:txBody>
          </p:sp>
        </p:grpSp>
        <p:grpSp>
          <p:nvGrpSpPr>
            <p:cNvPr id="223" name="Group 222">
              <a:extLst>
                <a:ext uri="{FF2B5EF4-FFF2-40B4-BE49-F238E27FC236}">
                  <a16:creationId xmlns:a16="http://schemas.microsoft.com/office/drawing/2014/main" id="{AC5278C5-C426-8E2B-64E1-F7BB379371B0}"/>
                </a:ext>
              </a:extLst>
            </p:cNvPr>
            <p:cNvGrpSpPr/>
            <p:nvPr/>
          </p:nvGrpSpPr>
          <p:grpSpPr>
            <a:xfrm>
              <a:off x="6520583" y="3484015"/>
              <a:ext cx="4886765" cy="1030446"/>
              <a:chOff x="2807831" y="3570394"/>
              <a:chExt cx="4886765" cy="1030446"/>
            </a:xfrm>
          </p:grpSpPr>
          <p:cxnSp>
            <p:nvCxnSpPr>
              <p:cNvPr id="224" name="Straight Arrow Connector 223">
                <a:extLst>
                  <a:ext uri="{FF2B5EF4-FFF2-40B4-BE49-F238E27FC236}">
                    <a16:creationId xmlns:a16="http://schemas.microsoft.com/office/drawing/2014/main" id="{9C65B05B-A056-1282-0BA5-BC881C6FA6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69884" y="4231945"/>
                <a:ext cx="6595" cy="272090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25" name="Group 224">
                <a:extLst>
                  <a:ext uri="{FF2B5EF4-FFF2-40B4-BE49-F238E27FC236}">
                    <a16:creationId xmlns:a16="http://schemas.microsoft.com/office/drawing/2014/main" id="{33332476-D872-A9B2-77D8-250B20EFCCBA}"/>
                  </a:ext>
                </a:extLst>
              </p:cNvPr>
              <p:cNvGrpSpPr/>
              <p:nvPr/>
            </p:nvGrpSpPr>
            <p:grpSpPr>
              <a:xfrm>
                <a:off x="2807831" y="3570394"/>
                <a:ext cx="4886765" cy="1030446"/>
                <a:chOff x="2807831" y="3570394"/>
                <a:chExt cx="4886765" cy="1030446"/>
              </a:xfrm>
            </p:grpSpPr>
            <p:grpSp>
              <p:nvGrpSpPr>
                <p:cNvPr id="226" name="Group 225">
                  <a:extLst>
                    <a:ext uri="{FF2B5EF4-FFF2-40B4-BE49-F238E27FC236}">
                      <a16:creationId xmlns:a16="http://schemas.microsoft.com/office/drawing/2014/main" id="{1C60A085-B87D-3C76-FF01-B682FA9D9640}"/>
                    </a:ext>
                  </a:extLst>
                </p:cNvPr>
                <p:cNvGrpSpPr/>
                <p:nvPr/>
              </p:nvGrpSpPr>
              <p:grpSpPr>
                <a:xfrm>
                  <a:off x="2807831" y="3570394"/>
                  <a:ext cx="4351014" cy="629412"/>
                  <a:chOff x="1488646" y="3427388"/>
                  <a:chExt cx="4351014" cy="629412"/>
                </a:xfrm>
              </p:grpSpPr>
              <p:sp>
                <p:nvSpPr>
                  <p:cNvPr id="235" name="Rectangle 234">
                    <a:extLst>
                      <a:ext uri="{FF2B5EF4-FFF2-40B4-BE49-F238E27FC236}">
                        <a16:creationId xmlns:a16="http://schemas.microsoft.com/office/drawing/2014/main" id="{F410638A-CB9A-C1A4-E948-B30320A41433}"/>
                      </a:ext>
                    </a:extLst>
                  </p:cNvPr>
                  <p:cNvSpPr/>
                  <p:nvPr/>
                </p:nvSpPr>
                <p:spPr>
                  <a:xfrm>
                    <a:off x="2993760" y="3505207"/>
                    <a:ext cx="1208285" cy="475488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>
                    <a:outerShdw blurRad="44450" dist="27940" dir="5400000" algn="ctr">
                      <a:srgbClr val="000000">
                        <a:alpha val="32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balanced" dir="t">
                      <a:rot lat="0" lon="0" rev="8700000"/>
                    </a:lightRig>
                  </a:scene3d>
                  <a:sp3d>
                    <a:bevelT w="190500" h="38100"/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ZA" dirty="0">
                        <a:latin typeface="LM Roman 12" panose="00000500000000000000" pitchFamily="50" charset="0"/>
                      </a:rPr>
                      <a:t>Do that action</a:t>
                    </a:r>
                  </a:p>
                </p:txBody>
              </p:sp>
              <p:sp>
                <p:nvSpPr>
                  <p:cNvPr id="236" name="Rectangle 235">
                    <a:extLst>
                      <a:ext uri="{FF2B5EF4-FFF2-40B4-BE49-F238E27FC236}">
                        <a16:creationId xmlns:a16="http://schemas.microsoft.com/office/drawing/2014/main" id="{845CF9B2-591E-5F50-BE26-570C024D23DC}"/>
                      </a:ext>
                    </a:extLst>
                  </p:cNvPr>
                  <p:cNvSpPr/>
                  <p:nvPr/>
                </p:nvSpPr>
                <p:spPr>
                  <a:xfrm>
                    <a:off x="4631375" y="3488746"/>
                    <a:ext cx="1208285" cy="475488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>
                    <a:outerShdw blurRad="44450" dist="27940" dir="5400000" algn="ctr">
                      <a:srgbClr val="000000">
                        <a:alpha val="32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balanced" dir="t">
                      <a:rot lat="0" lon="0" rev="8700000"/>
                    </a:lightRig>
                  </a:scene3d>
                  <a:sp3d>
                    <a:bevelT w="190500" h="38100"/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ZA" dirty="0">
                        <a:latin typeface="LM Roman 12" panose="00000500000000000000" pitchFamily="50" charset="0"/>
                      </a:rPr>
                      <a:t>Break</a:t>
                    </a:r>
                  </a:p>
                </p:txBody>
              </p:sp>
              <p:cxnSp>
                <p:nvCxnSpPr>
                  <p:cNvPr id="237" name="Straight Arrow Connector 236">
                    <a:extLst>
                      <a:ext uri="{FF2B5EF4-FFF2-40B4-BE49-F238E27FC236}">
                        <a16:creationId xmlns:a16="http://schemas.microsoft.com/office/drawing/2014/main" id="{8D2F7B7F-BD74-5493-7035-AA435FAA96D2}"/>
                      </a:ext>
                    </a:extLst>
                  </p:cNvPr>
                  <p:cNvCxnSpPr>
                    <a:stCxn id="240" idx="3"/>
                    <a:endCxn id="235" idx="1"/>
                  </p:cNvCxnSpPr>
                  <p:nvPr/>
                </p:nvCxnSpPr>
                <p:spPr>
                  <a:xfrm>
                    <a:off x="2403046" y="3742094"/>
                    <a:ext cx="590714" cy="857"/>
                  </a:xfrm>
                  <a:prstGeom prst="straightConnector1">
                    <a:avLst/>
                  </a:prstGeom>
                  <a:ln>
                    <a:solidFill>
                      <a:srgbClr val="FFFF0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8" name="Straight Arrow Connector 237">
                    <a:extLst>
                      <a:ext uri="{FF2B5EF4-FFF2-40B4-BE49-F238E27FC236}">
                        <a16:creationId xmlns:a16="http://schemas.microsoft.com/office/drawing/2014/main" id="{F5CB7189-5748-49A1-948F-CA4515AF4429}"/>
                      </a:ext>
                    </a:extLst>
                  </p:cNvPr>
                  <p:cNvCxnSpPr>
                    <a:stCxn id="235" idx="3"/>
                    <a:endCxn id="236" idx="1"/>
                  </p:cNvCxnSpPr>
                  <p:nvPr/>
                </p:nvCxnSpPr>
                <p:spPr>
                  <a:xfrm flipV="1">
                    <a:off x="4202045" y="3726490"/>
                    <a:ext cx="429330" cy="16461"/>
                  </a:xfrm>
                  <a:prstGeom prst="straightConnector1">
                    <a:avLst/>
                  </a:prstGeom>
                  <a:ln>
                    <a:solidFill>
                      <a:srgbClr val="FFFF0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39" name="Group 238">
                    <a:extLst>
                      <a:ext uri="{FF2B5EF4-FFF2-40B4-BE49-F238E27FC236}">
                        <a16:creationId xmlns:a16="http://schemas.microsoft.com/office/drawing/2014/main" id="{F73D0189-FD58-0375-6DA2-2CFAA52C71CD}"/>
                      </a:ext>
                    </a:extLst>
                  </p:cNvPr>
                  <p:cNvGrpSpPr/>
                  <p:nvPr/>
                </p:nvGrpSpPr>
                <p:grpSpPr>
                  <a:xfrm>
                    <a:off x="1488646" y="3427388"/>
                    <a:ext cx="914400" cy="629412"/>
                    <a:chOff x="1488646" y="3427388"/>
                    <a:chExt cx="914400" cy="629412"/>
                  </a:xfrm>
                </p:grpSpPr>
                <p:sp>
                  <p:nvSpPr>
                    <p:cNvPr id="240" name="Flowchart: Decision 239">
                      <a:extLst>
                        <a:ext uri="{FF2B5EF4-FFF2-40B4-BE49-F238E27FC236}">
                          <a16:creationId xmlns:a16="http://schemas.microsoft.com/office/drawing/2014/main" id="{6A83005A-C147-E189-68D7-5B3EDF585E1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88646" y="3427388"/>
                      <a:ext cx="914400" cy="629412"/>
                    </a:xfrm>
                    <a:prstGeom prst="flowChartDecision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ffectLst>
                      <a:outerShdw blurRad="44450" dist="27940" dir="5400000" algn="ctr">
                        <a:srgbClr val="000000">
                          <a:alpha val="32000"/>
                        </a:srgbClr>
                      </a:outerShdw>
                    </a:effectLst>
                    <a:scene3d>
                      <a:camera prst="orthographicFront">
                        <a:rot lat="0" lon="0" rev="0"/>
                      </a:camera>
                      <a:lightRig rig="balanced" dir="t">
                        <a:rot lat="0" lon="0" rev="8700000"/>
                      </a:lightRig>
                    </a:scene3d>
                    <a:sp3d>
                      <a:bevelT w="190500" h="38100"/>
                    </a:sp3d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ZA" sz="1000" dirty="0"/>
                    </a:p>
                  </p:txBody>
                </p:sp>
                <p:sp>
                  <p:nvSpPr>
                    <p:cNvPr id="241" name="TextBox 240">
                      <a:extLst>
                        <a:ext uri="{FF2B5EF4-FFF2-40B4-BE49-F238E27FC236}">
                          <a16:creationId xmlns:a16="http://schemas.microsoft.com/office/drawing/2014/main" id="{9F891028-FDE2-B631-272E-B674CD9758B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495058" y="3541824"/>
                      <a:ext cx="891591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ZA" dirty="0">
                          <a:solidFill>
                            <a:schemeClr val="bg1"/>
                          </a:solidFill>
                          <a:latin typeface="LM Roman 12" panose="00000500000000000000" pitchFamily="50" charset="0"/>
                        </a:rPr>
                        <a:t>Case C</a:t>
                      </a:r>
                    </a:p>
                  </p:txBody>
                </p:sp>
              </p:grpSp>
            </p:grpSp>
            <p:grpSp>
              <p:nvGrpSpPr>
                <p:cNvPr id="227" name="Group 226">
                  <a:extLst>
                    <a:ext uri="{FF2B5EF4-FFF2-40B4-BE49-F238E27FC236}">
                      <a16:creationId xmlns:a16="http://schemas.microsoft.com/office/drawing/2014/main" id="{0E07F22F-9A9A-A1B9-9B1D-CC856C3D0BF9}"/>
                    </a:ext>
                  </a:extLst>
                </p:cNvPr>
                <p:cNvGrpSpPr/>
                <p:nvPr/>
              </p:nvGrpSpPr>
              <p:grpSpPr>
                <a:xfrm>
                  <a:off x="3079405" y="4402688"/>
                  <a:ext cx="358140" cy="198152"/>
                  <a:chOff x="1760220" y="4259682"/>
                  <a:chExt cx="358140" cy="198152"/>
                </a:xfrm>
              </p:grpSpPr>
              <p:cxnSp>
                <p:nvCxnSpPr>
                  <p:cNvPr id="233" name="Straight Connector 232">
                    <a:extLst>
                      <a:ext uri="{FF2B5EF4-FFF2-40B4-BE49-F238E27FC236}">
                        <a16:creationId xmlns:a16="http://schemas.microsoft.com/office/drawing/2014/main" id="{81EAB029-5F52-002B-887B-A38FDC59209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760220" y="4319884"/>
                    <a:ext cx="358140" cy="137950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4" name="Straight Connector 233">
                    <a:extLst>
                      <a:ext uri="{FF2B5EF4-FFF2-40B4-BE49-F238E27FC236}">
                        <a16:creationId xmlns:a16="http://schemas.microsoft.com/office/drawing/2014/main" id="{68ED4EA9-5BE0-D15E-4C58-B046317C7BB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760220" y="4259682"/>
                    <a:ext cx="358140" cy="144678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28" name="Straight Connector 227">
                  <a:extLst>
                    <a:ext uri="{FF2B5EF4-FFF2-40B4-BE49-F238E27FC236}">
                      <a16:creationId xmlns:a16="http://schemas.microsoft.com/office/drawing/2014/main" id="{09D6E3BC-E21D-6A70-DAB2-52A54B21FA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158844" y="3865406"/>
                  <a:ext cx="378261" cy="0"/>
                </a:xfrm>
                <a:prstGeom prst="line">
                  <a:avLst/>
                </a:prstGeom>
                <a:ln>
                  <a:solidFill>
                    <a:srgbClr val="FFFF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29" name="Group 228">
                  <a:extLst>
                    <a:ext uri="{FF2B5EF4-FFF2-40B4-BE49-F238E27FC236}">
                      <a16:creationId xmlns:a16="http://schemas.microsoft.com/office/drawing/2014/main" id="{97F3DC09-72CA-FCC2-E3DD-EEAE8FCDBAF1}"/>
                    </a:ext>
                  </a:extLst>
                </p:cNvPr>
                <p:cNvGrpSpPr/>
                <p:nvPr/>
              </p:nvGrpSpPr>
              <p:grpSpPr>
                <a:xfrm>
                  <a:off x="7336456" y="3885100"/>
                  <a:ext cx="358140" cy="409384"/>
                  <a:chOff x="1760220" y="4048450"/>
                  <a:chExt cx="358140" cy="409384"/>
                </a:xfrm>
              </p:grpSpPr>
              <p:cxnSp>
                <p:nvCxnSpPr>
                  <p:cNvPr id="230" name="Straight Connector 229">
                    <a:extLst>
                      <a:ext uri="{FF2B5EF4-FFF2-40B4-BE49-F238E27FC236}">
                        <a16:creationId xmlns:a16="http://schemas.microsoft.com/office/drawing/2014/main" id="{9C2B62FF-1F96-7CAF-F790-1720ED9CD6F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760220" y="4319884"/>
                    <a:ext cx="358140" cy="137950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1" name="Straight Arrow Connector 230">
                    <a:extLst>
                      <a:ext uri="{FF2B5EF4-FFF2-40B4-BE49-F238E27FC236}">
                        <a16:creationId xmlns:a16="http://schemas.microsoft.com/office/drawing/2014/main" id="{225F809F-70F8-85A4-9545-59D02C5A0A03}"/>
                      </a:ext>
                    </a:extLst>
                  </p:cNvPr>
                  <p:cNvCxnSpPr/>
                  <p:nvPr/>
                </p:nvCxnSpPr>
                <p:spPr>
                  <a:xfrm>
                    <a:off x="1961876" y="4048450"/>
                    <a:ext cx="6595" cy="272090"/>
                  </a:xfrm>
                  <a:prstGeom prst="straightConnector1">
                    <a:avLst/>
                  </a:prstGeom>
                  <a:ln>
                    <a:solidFill>
                      <a:srgbClr val="FFFF0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2" name="Straight Connector 231">
                    <a:extLst>
                      <a:ext uri="{FF2B5EF4-FFF2-40B4-BE49-F238E27FC236}">
                        <a16:creationId xmlns:a16="http://schemas.microsoft.com/office/drawing/2014/main" id="{DB3CC398-D96F-FA29-A8E4-AB0B389DD49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760220" y="4259682"/>
                    <a:ext cx="358140" cy="144678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242" name="Group 241">
              <a:extLst>
                <a:ext uri="{FF2B5EF4-FFF2-40B4-BE49-F238E27FC236}">
                  <a16:creationId xmlns:a16="http://schemas.microsoft.com/office/drawing/2014/main" id="{9C766D43-0472-AF83-007B-0459A0BA5594}"/>
                </a:ext>
              </a:extLst>
            </p:cNvPr>
            <p:cNvGrpSpPr/>
            <p:nvPr/>
          </p:nvGrpSpPr>
          <p:grpSpPr>
            <a:xfrm>
              <a:off x="6526995" y="4147206"/>
              <a:ext cx="4730464" cy="1149575"/>
              <a:chOff x="2814243" y="4233585"/>
              <a:chExt cx="4730464" cy="1149575"/>
            </a:xfrm>
          </p:grpSpPr>
          <p:grpSp>
            <p:nvGrpSpPr>
              <p:cNvPr id="243" name="Group 242">
                <a:extLst>
                  <a:ext uri="{FF2B5EF4-FFF2-40B4-BE49-F238E27FC236}">
                    <a16:creationId xmlns:a16="http://schemas.microsoft.com/office/drawing/2014/main" id="{4C29FEBD-40EB-B7C8-CC83-9B2BA9A76BB2}"/>
                  </a:ext>
                </a:extLst>
              </p:cNvPr>
              <p:cNvGrpSpPr/>
              <p:nvPr/>
            </p:nvGrpSpPr>
            <p:grpSpPr>
              <a:xfrm>
                <a:off x="2814243" y="4753748"/>
                <a:ext cx="4344601" cy="629412"/>
                <a:chOff x="1495058" y="4610742"/>
                <a:chExt cx="4344601" cy="629412"/>
              </a:xfrm>
            </p:grpSpPr>
            <p:sp>
              <p:nvSpPr>
                <p:cNvPr id="248" name="Rectangle 247">
                  <a:extLst>
                    <a:ext uri="{FF2B5EF4-FFF2-40B4-BE49-F238E27FC236}">
                      <a16:creationId xmlns:a16="http://schemas.microsoft.com/office/drawing/2014/main" id="{D0C36DFF-D3A0-56F3-B072-405C11108C97}"/>
                    </a:ext>
                  </a:extLst>
                </p:cNvPr>
                <p:cNvSpPr/>
                <p:nvPr/>
              </p:nvSpPr>
              <p:spPr>
                <a:xfrm>
                  <a:off x="2993759" y="4687704"/>
                  <a:ext cx="1208285" cy="475488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dirty="0">
                      <a:latin typeface="LM Roman 12" panose="00000500000000000000" pitchFamily="50" charset="0"/>
                    </a:rPr>
                    <a:t>default action</a:t>
                  </a:r>
                </a:p>
              </p:txBody>
            </p:sp>
            <p:sp>
              <p:nvSpPr>
                <p:cNvPr id="249" name="Rectangle 248">
                  <a:extLst>
                    <a:ext uri="{FF2B5EF4-FFF2-40B4-BE49-F238E27FC236}">
                      <a16:creationId xmlns:a16="http://schemas.microsoft.com/office/drawing/2014/main" id="{36D78930-FC2F-2425-CF35-B3C955DBA792}"/>
                    </a:ext>
                  </a:extLst>
                </p:cNvPr>
                <p:cNvSpPr/>
                <p:nvPr/>
              </p:nvSpPr>
              <p:spPr>
                <a:xfrm>
                  <a:off x="4631374" y="4673066"/>
                  <a:ext cx="1208285" cy="475488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dirty="0">
                      <a:latin typeface="LM Roman 12" panose="00000500000000000000" pitchFamily="50" charset="0"/>
                    </a:rPr>
                    <a:t>Break</a:t>
                  </a:r>
                </a:p>
              </p:txBody>
            </p:sp>
            <p:cxnSp>
              <p:nvCxnSpPr>
                <p:cNvPr id="250" name="Straight Arrow Connector 249">
                  <a:extLst>
                    <a:ext uri="{FF2B5EF4-FFF2-40B4-BE49-F238E27FC236}">
                      <a16:creationId xmlns:a16="http://schemas.microsoft.com/office/drawing/2014/main" id="{30D3ADD5-154B-7B11-AD28-CC4D6FADCCBC}"/>
                    </a:ext>
                  </a:extLst>
                </p:cNvPr>
                <p:cNvCxnSpPr>
                  <a:cxnSpLocks/>
                  <a:stCxn id="248" idx="3"/>
                  <a:endCxn id="249" idx="1"/>
                </p:cNvCxnSpPr>
                <p:nvPr/>
              </p:nvCxnSpPr>
              <p:spPr>
                <a:xfrm flipV="1">
                  <a:off x="4202044" y="4910810"/>
                  <a:ext cx="429330" cy="14638"/>
                </a:xfrm>
                <a:prstGeom prst="straightConnector1">
                  <a:avLst/>
                </a:prstGeom>
                <a:ln>
                  <a:solidFill>
                    <a:srgbClr val="FFFF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51" name="Group 250">
                  <a:extLst>
                    <a:ext uri="{FF2B5EF4-FFF2-40B4-BE49-F238E27FC236}">
                      <a16:creationId xmlns:a16="http://schemas.microsoft.com/office/drawing/2014/main" id="{2731FF37-F888-B2AC-6473-D2F525D2AAC8}"/>
                    </a:ext>
                  </a:extLst>
                </p:cNvPr>
                <p:cNvGrpSpPr/>
                <p:nvPr/>
              </p:nvGrpSpPr>
              <p:grpSpPr>
                <a:xfrm>
                  <a:off x="1495058" y="4610742"/>
                  <a:ext cx="914400" cy="629412"/>
                  <a:chOff x="1455313" y="4599509"/>
                  <a:chExt cx="914400" cy="629412"/>
                </a:xfrm>
              </p:grpSpPr>
              <p:sp>
                <p:nvSpPr>
                  <p:cNvPr id="253" name="Flowchart: Decision 252">
                    <a:extLst>
                      <a:ext uri="{FF2B5EF4-FFF2-40B4-BE49-F238E27FC236}">
                        <a16:creationId xmlns:a16="http://schemas.microsoft.com/office/drawing/2014/main" id="{E5E357DF-47C0-971E-FD19-C88CF097E7A9}"/>
                      </a:ext>
                    </a:extLst>
                  </p:cNvPr>
                  <p:cNvSpPr/>
                  <p:nvPr/>
                </p:nvSpPr>
                <p:spPr>
                  <a:xfrm>
                    <a:off x="1455313" y="4599509"/>
                    <a:ext cx="914400" cy="629412"/>
                  </a:xfrm>
                  <a:prstGeom prst="flowChartDecision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>
                    <a:outerShdw blurRad="44450" dist="27940" dir="5400000" algn="ctr">
                      <a:srgbClr val="000000">
                        <a:alpha val="32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balanced" dir="t">
                      <a:rot lat="0" lon="0" rev="8700000"/>
                    </a:lightRig>
                  </a:scene3d>
                  <a:sp3d>
                    <a:bevelT w="190500" h="38100"/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ZA" sz="1000" dirty="0"/>
                  </a:p>
                </p:txBody>
              </p:sp>
              <p:sp>
                <p:nvSpPr>
                  <p:cNvPr id="254" name="TextBox 253">
                    <a:extLst>
                      <a:ext uri="{FF2B5EF4-FFF2-40B4-BE49-F238E27FC236}">
                        <a16:creationId xmlns:a16="http://schemas.microsoft.com/office/drawing/2014/main" id="{3E2742D8-E567-104B-9176-71EEEA5FD801}"/>
                      </a:ext>
                    </a:extLst>
                  </p:cNvPr>
                  <p:cNvSpPr txBox="1"/>
                  <p:nvPr/>
                </p:nvSpPr>
                <p:spPr>
                  <a:xfrm>
                    <a:off x="1494152" y="4714911"/>
                    <a:ext cx="86914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ZA" dirty="0">
                        <a:solidFill>
                          <a:schemeClr val="bg1"/>
                        </a:solidFill>
                        <a:latin typeface="LM Roman 12" panose="00000500000000000000" pitchFamily="50" charset="0"/>
                      </a:rPr>
                      <a:t>default</a:t>
                    </a:r>
                  </a:p>
                </p:txBody>
              </p:sp>
            </p:grpSp>
            <p:cxnSp>
              <p:nvCxnSpPr>
                <p:cNvPr id="252" name="Straight Arrow Connector 251">
                  <a:extLst>
                    <a:ext uri="{FF2B5EF4-FFF2-40B4-BE49-F238E27FC236}">
                      <a16:creationId xmlns:a16="http://schemas.microsoft.com/office/drawing/2014/main" id="{2131FE9B-8D4A-3139-B616-F8D4C60CC0E7}"/>
                    </a:ext>
                  </a:extLst>
                </p:cNvPr>
                <p:cNvCxnSpPr>
                  <a:cxnSpLocks/>
                  <a:stCxn id="254" idx="3"/>
                  <a:endCxn id="248" idx="1"/>
                </p:cNvCxnSpPr>
                <p:nvPr/>
              </p:nvCxnSpPr>
              <p:spPr>
                <a:xfrm>
                  <a:off x="2403046" y="4910810"/>
                  <a:ext cx="590713" cy="14638"/>
                </a:xfrm>
                <a:prstGeom prst="straightConnector1">
                  <a:avLst/>
                </a:prstGeom>
                <a:ln>
                  <a:solidFill>
                    <a:srgbClr val="FFFF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44" name="Straight Arrow Connector 243">
                <a:extLst>
                  <a:ext uri="{FF2B5EF4-FFF2-40B4-BE49-F238E27FC236}">
                    <a16:creationId xmlns:a16="http://schemas.microsoft.com/office/drawing/2014/main" id="{97C0A0C1-BCAB-5E40-1420-FF7A8C813654}"/>
                  </a:ext>
                </a:extLst>
              </p:cNvPr>
              <p:cNvCxnSpPr>
                <a:cxnSpLocks/>
                <a:endCxn id="253" idx="0"/>
              </p:cNvCxnSpPr>
              <p:nvPr/>
            </p:nvCxnSpPr>
            <p:spPr>
              <a:xfrm>
                <a:off x="3271443" y="4547366"/>
                <a:ext cx="0" cy="206382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" name="Straight Connector 244">
                <a:extLst>
                  <a:ext uri="{FF2B5EF4-FFF2-40B4-BE49-F238E27FC236}">
                    <a16:creationId xmlns:a16="http://schemas.microsoft.com/office/drawing/2014/main" id="{44734F34-5BFD-F7F7-7DEA-833C96874C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58844" y="5068454"/>
                <a:ext cx="378261" cy="0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6" name="TextBox 245">
                <a:extLst>
                  <a:ext uri="{FF2B5EF4-FFF2-40B4-BE49-F238E27FC236}">
                    <a16:creationId xmlns:a16="http://schemas.microsoft.com/office/drawing/2014/main" id="{969F48BC-31F9-98F1-C07F-9197A2B72320}"/>
                  </a:ext>
                </a:extLst>
              </p:cNvPr>
              <p:cNvSpPr txBox="1"/>
              <p:nvPr/>
            </p:nvSpPr>
            <p:spPr>
              <a:xfrm>
                <a:off x="3361987" y="4447286"/>
                <a:ext cx="393889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000" b="1" dirty="0">
                    <a:latin typeface="LM Roman 12" panose="00000500000000000000" pitchFamily="50" charset="0"/>
                  </a:rPr>
                  <a:t>Otherwise do this default action</a:t>
                </a:r>
              </a:p>
            </p:txBody>
          </p:sp>
          <p:cxnSp>
            <p:nvCxnSpPr>
              <p:cNvPr id="247" name="Straight Arrow Connector 246">
                <a:extLst>
                  <a:ext uri="{FF2B5EF4-FFF2-40B4-BE49-F238E27FC236}">
                    <a16:creationId xmlns:a16="http://schemas.microsoft.com/office/drawing/2014/main" id="{8782319F-5C57-9365-66A1-E5FB924C4D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44707" y="4233585"/>
                <a:ext cx="0" cy="834869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338438340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5D242-D9E0-5CAB-5226-E7CFBDB90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CDAD02D1-99AE-41A9-E4A0-972C437B4BB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CDAD02D1-99AE-41A9-E4A0-972C437B4B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F333A739-1564-94C6-C863-03F0A83482C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3B1D99-E5A9-17A9-AE09-95677C7C7DB5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4	pg. 55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BD8BF57-5A99-E406-CFF4-66FC186E1479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A5F8009-2F9D-C8EC-42C4-637730F3BA41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48921A6-2B12-8D68-3684-CA1B3CCD8766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FF6A57BA-C7DA-8B0A-BDD3-996C1E8CBAB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09CE73A-71BC-DE26-A789-3028B2E871F6}"/>
                </a:ext>
              </a:extLst>
            </p:cNvPr>
            <p:cNvSpPr txBox="1"/>
            <p:nvPr/>
          </p:nvSpPr>
          <p:spPr>
            <a:xfrm>
              <a:off x="2488042" y="184666"/>
              <a:ext cx="72825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05 August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293F27AB-7B2F-64B0-DA0E-550AA15DDB5A}"/>
              </a:ext>
            </a:extLst>
          </p:cNvPr>
          <p:cNvSpPr/>
          <p:nvPr/>
        </p:nvSpPr>
        <p:spPr>
          <a:xfrm>
            <a:off x="3329940" y="584240"/>
            <a:ext cx="6027420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00B0F0"/>
                </a:solidFill>
                <a:latin typeface="LM Roman 12" panose="00000500000000000000" pitchFamily="50" charset="0"/>
              </a:rPr>
              <a:t>Structured programming 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SUMMARY: sequence, selection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1EFB11D-C6A6-2851-3976-4E42AD469397}"/>
              </a:ext>
            </a:extLst>
          </p:cNvPr>
          <p:cNvGrpSpPr/>
          <p:nvPr/>
        </p:nvGrpSpPr>
        <p:grpSpPr>
          <a:xfrm>
            <a:off x="-11219483" y="1926111"/>
            <a:ext cx="1208285" cy="4401598"/>
            <a:chOff x="264945" y="1721026"/>
            <a:chExt cx="1208285" cy="440159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171CDAB-2D31-A741-BEE7-C31D3D5783BB}"/>
                </a:ext>
              </a:extLst>
            </p:cNvPr>
            <p:cNvGrpSpPr/>
            <p:nvPr/>
          </p:nvGrpSpPr>
          <p:grpSpPr>
            <a:xfrm>
              <a:off x="264945" y="1721026"/>
              <a:ext cx="1208285" cy="3217622"/>
              <a:chOff x="171820" y="1399032"/>
              <a:chExt cx="1208285" cy="3217622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B9364857-480A-79C2-3C57-FA44F4DDAEAF}"/>
                  </a:ext>
                </a:extLst>
              </p:cNvPr>
              <p:cNvSpPr/>
              <p:nvPr/>
            </p:nvSpPr>
            <p:spPr>
              <a:xfrm>
                <a:off x="322513" y="1399032"/>
                <a:ext cx="914400" cy="47548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/>
                  <a:t>start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F5BFE010-038E-AD2C-6902-8B9B82926991}"/>
                  </a:ext>
                </a:extLst>
              </p:cNvPr>
              <p:cNvSpPr/>
              <p:nvPr/>
            </p:nvSpPr>
            <p:spPr>
              <a:xfrm>
                <a:off x="318763" y="4141166"/>
                <a:ext cx="914400" cy="47548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/>
                  <a:t>end</a:t>
                </a:r>
              </a:p>
            </p:txBody>
          </p:sp>
          <p:sp>
            <p:nvSpPr>
              <p:cNvPr id="68" name="Flowchart: Decision 67">
                <a:extLst>
                  <a:ext uri="{FF2B5EF4-FFF2-40B4-BE49-F238E27FC236}">
                    <a16:creationId xmlns:a16="http://schemas.microsoft.com/office/drawing/2014/main" id="{F6973B4A-8F65-1E0D-B367-3B829E8701F3}"/>
                  </a:ext>
                </a:extLst>
              </p:cNvPr>
              <p:cNvSpPr/>
              <p:nvPr/>
            </p:nvSpPr>
            <p:spPr>
              <a:xfrm>
                <a:off x="318762" y="2309622"/>
                <a:ext cx="914400" cy="629412"/>
              </a:xfrm>
              <a:prstGeom prst="flowChartDecision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/>
                  <a:t>C</a:t>
                </a:r>
              </a:p>
            </p:txBody>
          </p:sp>
          <p:cxnSp>
            <p:nvCxnSpPr>
              <p:cNvPr id="69" name="Straight Arrow Connector 68">
                <a:extLst>
                  <a:ext uri="{FF2B5EF4-FFF2-40B4-BE49-F238E27FC236}">
                    <a16:creationId xmlns:a16="http://schemas.microsoft.com/office/drawing/2014/main" id="{0BAA3AA5-C1D4-E2F8-DD04-88A83AB53221}"/>
                  </a:ext>
                </a:extLst>
              </p:cNvPr>
              <p:cNvCxnSpPr>
                <a:cxnSpLocks/>
                <a:stCxn id="8" idx="4"/>
                <a:endCxn id="68" idx="0"/>
              </p:cNvCxnSpPr>
              <p:nvPr/>
            </p:nvCxnSpPr>
            <p:spPr>
              <a:xfrm flipH="1">
                <a:off x="775962" y="1874520"/>
                <a:ext cx="3751" cy="435102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8947A0A4-E7AB-97DB-F4A3-AA2597CDB510}"/>
                  </a:ext>
                </a:extLst>
              </p:cNvPr>
              <p:cNvSpPr/>
              <p:nvPr/>
            </p:nvSpPr>
            <p:spPr>
              <a:xfrm>
                <a:off x="171820" y="3245587"/>
                <a:ext cx="1208285" cy="47548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/>
                  <a:t>Do this</a:t>
                </a:r>
              </a:p>
            </p:txBody>
          </p: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F3E7F184-C349-D55B-962A-C61AFBA3B405}"/>
                  </a:ext>
                </a:extLst>
              </p:cNvPr>
              <p:cNvCxnSpPr>
                <a:stCxn id="68" idx="2"/>
                <a:endCxn id="70" idx="0"/>
              </p:cNvCxnSpPr>
              <p:nvPr/>
            </p:nvCxnSpPr>
            <p:spPr>
              <a:xfrm>
                <a:off x="775962" y="2939034"/>
                <a:ext cx="1" cy="306553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D1236F44-3B59-E007-1CD8-1B6C8CCE86A0}"/>
                  </a:ext>
                </a:extLst>
              </p:cNvPr>
              <p:cNvCxnSpPr>
                <a:cxnSpLocks/>
                <a:stCxn id="70" idx="2"/>
                <a:endCxn id="10" idx="0"/>
              </p:cNvCxnSpPr>
              <p:nvPr/>
            </p:nvCxnSpPr>
            <p:spPr>
              <a:xfrm>
                <a:off x="775963" y="3721075"/>
                <a:ext cx="0" cy="420091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DAE06AF4-DE44-4FCD-9475-7F37D22C0A35}"/>
                </a:ext>
              </a:extLst>
            </p:cNvPr>
            <p:cNvSpPr txBox="1"/>
            <p:nvPr/>
          </p:nvSpPr>
          <p:spPr>
            <a:xfrm>
              <a:off x="560989" y="5199294"/>
              <a:ext cx="60305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5400" b="1" dirty="0"/>
                <a:t>if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18477FED-14EB-8CE6-1604-83C8B5592C24}"/>
              </a:ext>
            </a:extLst>
          </p:cNvPr>
          <p:cNvGrpSpPr/>
          <p:nvPr/>
        </p:nvGrpSpPr>
        <p:grpSpPr>
          <a:xfrm>
            <a:off x="-9284378" y="1857302"/>
            <a:ext cx="4147703" cy="4470407"/>
            <a:chOff x="2200050" y="1652217"/>
            <a:chExt cx="4147703" cy="4470407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AE8B6E35-F5A5-F760-380D-FDF64D2DF0AA}"/>
                </a:ext>
              </a:extLst>
            </p:cNvPr>
            <p:cNvSpPr txBox="1"/>
            <p:nvPr/>
          </p:nvSpPr>
          <p:spPr>
            <a:xfrm>
              <a:off x="3331978" y="5199294"/>
              <a:ext cx="202972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5400" b="1" dirty="0"/>
                <a:t>if</a:t>
              </a:r>
              <a:r>
                <a:rPr lang="en-ZA" sz="3600" b="1" dirty="0"/>
                <a:t> </a:t>
              </a:r>
              <a:r>
                <a:rPr lang="en-ZA" sz="5400" b="1" dirty="0"/>
                <a:t>else</a:t>
              </a:r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53D8CB2D-FEEC-461E-7ACA-A3A93C1686F0}"/>
                </a:ext>
              </a:extLst>
            </p:cNvPr>
            <p:cNvGrpSpPr/>
            <p:nvPr/>
          </p:nvGrpSpPr>
          <p:grpSpPr>
            <a:xfrm>
              <a:off x="2200050" y="1652217"/>
              <a:ext cx="2527130" cy="3217622"/>
              <a:chOff x="2393679" y="1751380"/>
              <a:chExt cx="2527130" cy="3217622"/>
            </a:xfrm>
          </p:grpSpPr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8373ED0B-6317-FF2D-8D3A-7EC0D0E6D441}"/>
                  </a:ext>
                </a:extLst>
              </p:cNvPr>
              <p:cNvCxnSpPr>
                <a:stCxn id="85" idx="2"/>
                <a:endCxn id="81" idx="0"/>
              </p:cNvCxnSpPr>
              <p:nvPr/>
            </p:nvCxnSpPr>
            <p:spPr>
              <a:xfrm>
                <a:off x="4459858" y="3291382"/>
                <a:ext cx="1" cy="1202132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0" name="Group 79">
                <a:extLst>
                  <a:ext uri="{FF2B5EF4-FFF2-40B4-BE49-F238E27FC236}">
                    <a16:creationId xmlns:a16="http://schemas.microsoft.com/office/drawing/2014/main" id="{412E334B-9127-880C-3533-0B582B66DB8C}"/>
                  </a:ext>
                </a:extLst>
              </p:cNvPr>
              <p:cNvGrpSpPr/>
              <p:nvPr/>
            </p:nvGrpSpPr>
            <p:grpSpPr>
              <a:xfrm>
                <a:off x="2393679" y="1751380"/>
                <a:ext cx="2527130" cy="3217622"/>
                <a:chOff x="2393679" y="1751380"/>
                <a:chExt cx="2527130" cy="3217622"/>
              </a:xfrm>
            </p:grpSpPr>
            <p:sp>
              <p:nvSpPr>
                <p:cNvPr id="81" name="Oval 80">
                  <a:extLst>
                    <a:ext uri="{FF2B5EF4-FFF2-40B4-BE49-F238E27FC236}">
                      <a16:creationId xmlns:a16="http://schemas.microsoft.com/office/drawing/2014/main" id="{617F6ADF-DE20-16CB-9D5B-045A023FCBE1}"/>
                    </a:ext>
                  </a:extLst>
                </p:cNvPr>
                <p:cNvSpPr/>
                <p:nvPr/>
              </p:nvSpPr>
              <p:spPr>
                <a:xfrm>
                  <a:off x="4002659" y="4493514"/>
                  <a:ext cx="914400" cy="47548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dirty="0"/>
                    <a:t>end</a:t>
                  </a:r>
                </a:p>
              </p:txBody>
            </p:sp>
            <p:grpSp>
              <p:nvGrpSpPr>
                <p:cNvPr id="82" name="Group 81">
                  <a:extLst>
                    <a:ext uri="{FF2B5EF4-FFF2-40B4-BE49-F238E27FC236}">
                      <a16:creationId xmlns:a16="http://schemas.microsoft.com/office/drawing/2014/main" id="{C806D8A7-8286-9C0C-9793-80372ADA72EC}"/>
                    </a:ext>
                  </a:extLst>
                </p:cNvPr>
                <p:cNvGrpSpPr/>
                <p:nvPr/>
              </p:nvGrpSpPr>
              <p:grpSpPr>
                <a:xfrm>
                  <a:off x="2393679" y="1751380"/>
                  <a:ext cx="2527130" cy="2824771"/>
                  <a:chOff x="2393679" y="1751380"/>
                  <a:chExt cx="2527130" cy="2824771"/>
                </a:xfrm>
              </p:grpSpPr>
              <p:cxnSp>
                <p:nvCxnSpPr>
                  <p:cNvPr id="83" name="Straight Arrow Connector 82">
                    <a:extLst>
                      <a:ext uri="{FF2B5EF4-FFF2-40B4-BE49-F238E27FC236}">
                        <a16:creationId xmlns:a16="http://schemas.microsoft.com/office/drawing/2014/main" id="{DD239F6E-B217-6055-288C-EDC1746A39F2}"/>
                      </a:ext>
                    </a:extLst>
                  </p:cNvPr>
                  <p:cNvCxnSpPr>
                    <a:stCxn id="85" idx="1"/>
                    <a:endCxn id="87" idx="3"/>
                  </p:cNvCxnSpPr>
                  <p:nvPr/>
                </p:nvCxnSpPr>
                <p:spPr>
                  <a:xfrm flipH="1" flipV="1">
                    <a:off x="3601964" y="2968523"/>
                    <a:ext cx="400694" cy="8153"/>
                  </a:xfrm>
                  <a:prstGeom prst="straightConnector1">
                    <a:avLst/>
                  </a:prstGeom>
                  <a:ln>
                    <a:solidFill>
                      <a:srgbClr val="00B05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4" name="Oval 83">
                    <a:extLst>
                      <a:ext uri="{FF2B5EF4-FFF2-40B4-BE49-F238E27FC236}">
                        <a16:creationId xmlns:a16="http://schemas.microsoft.com/office/drawing/2014/main" id="{6411BB73-6977-3D9F-79C0-D8F723C0A573}"/>
                      </a:ext>
                    </a:extLst>
                  </p:cNvPr>
                  <p:cNvSpPr/>
                  <p:nvPr/>
                </p:nvSpPr>
                <p:spPr>
                  <a:xfrm>
                    <a:off x="4006409" y="1751380"/>
                    <a:ext cx="914400" cy="475488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>
                    <a:outerShdw blurRad="44450" dist="27940" dir="5400000" algn="ctr">
                      <a:srgbClr val="000000">
                        <a:alpha val="32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balanced" dir="t">
                      <a:rot lat="0" lon="0" rev="8700000"/>
                    </a:lightRig>
                  </a:scene3d>
                  <a:sp3d>
                    <a:bevelT w="190500" h="38100"/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ZA" dirty="0"/>
                      <a:t>start</a:t>
                    </a:r>
                  </a:p>
                </p:txBody>
              </p:sp>
              <p:sp>
                <p:nvSpPr>
                  <p:cNvPr id="85" name="Flowchart: Decision 84">
                    <a:extLst>
                      <a:ext uri="{FF2B5EF4-FFF2-40B4-BE49-F238E27FC236}">
                        <a16:creationId xmlns:a16="http://schemas.microsoft.com/office/drawing/2014/main" id="{2EC3A203-DC69-09BC-4F61-57F712D6D0FC}"/>
                      </a:ext>
                    </a:extLst>
                  </p:cNvPr>
                  <p:cNvSpPr/>
                  <p:nvPr/>
                </p:nvSpPr>
                <p:spPr>
                  <a:xfrm>
                    <a:off x="4002658" y="2661970"/>
                    <a:ext cx="914400" cy="629412"/>
                  </a:xfrm>
                  <a:prstGeom prst="flowChartDecision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>
                    <a:outerShdw blurRad="44450" dist="27940" dir="5400000" algn="ctr">
                      <a:srgbClr val="000000">
                        <a:alpha val="32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balanced" dir="t">
                      <a:rot lat="0" lon="0" rev="8700000"/>
                    </a:lightRig>
                  </a:scene3d>
                  <a:sp3d>
                    <a:bevelT w="190500" h="38100"/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ZA" dirty="0"/>
                      <a:t>C</a:t>
                    </a:r>
                  </a:p>
                </p:txBody>
              </p:sp>
              <p:cxnSp>
                <p:nvCxnSpPr>
                  <p:cNvPr id="86" name="Straight Arrow Connector 85">
                    <a:extLst>
                      <a:ext uri="{FF2B5EF4-FFF2-40B4-BE49-F238E27FC236}">
                        <a16:creationId xmlns:a16="http://schemas.microsoft.com/office/drawing/2014/main" id="{7AACD59C-0B3B-205F-0B0D-4DFDBC842D78}"/>
                      </a:ext>
                    </a:extLst>
                  </p:cNvPr>
                  <p:cNvCxnSpPr>
                    <a:cxnSpLocks/>
                    <a:stCxn id="84" idx="4"/>
                    <a:endCxn id="85" idx="0"/>
                  </p:cNvCxnSpPr>
                  <p:nvPr/>
                </p:nvCxnSpPr>
                <p:spPr>
                  <a:xfrm flipH="1">
                    <a:off x="4459858" y="2226868"/>
                    <a:ext cx="3751" cy="435102"/>
                  </a:xfrm>
                  <a:prstGeom prst="straightConnector1">
                    <a:avLst/>
                  </a:prstGeom>
                  <a:ln>
                    <a:solidFill>
                      <a:srgbClr val="FFFF0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7" name="Rectangle 86">
                    <a:extLst>
                      <a:ext uri="{FF2B5EF4-FFF2-40B4-BE49-F238E27FC236}">
                        <a16:creationId xmlns:a16="http://schemas.microsoft.com/office/drawing/2014/main" id="{9C57EF68-4F25-19F1-5EDE-24F35CCA7452}"/>
                      </a:ext>
                    </a:extLst>
                  </p:cNvPr>
                  <p:cNvSpPr/>
                  <p:nvPr/>
                </p:nvSpPr>
                <p:spPr>
                  <a:xfrm>
                    <a:off x="2393679" y="2730779"/>
                    <a:ext cx="1208285" cy="475488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>
                    <a:outerShdw blurRad="44450" dist="27940" dir="5400000" algn="ctr">
                      <a:srgbClr val="000000">
                        <a:alpha val="32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balanced" dir="t">
                      <a:rot lat="0" lon="0" rev="8700000"/>
                    </a:lightRig>
                  </a:scene3d>
                  <a:sp3d>
                    <a:bevelT w="190500" h="38100"/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ZA" dirty="0"/>
                      <a:t>Do this</a:t>
                    </a:r>
                  </a:p>
                </p:txBody>
              </p:sp>
              <p:cxnSp>
                <p:nvCxnSpPr>
                  <p:cNvPr id="88" name="Connector: Elbow 87">
                    <a:extLst>
                      <a:ext uri="{FF2B5EF4-FFF2-40B4-BE49-F238E27FC236}">
                        <a16:creationId xmlns:a16="http://schemas.microsoft.com/office/drawing/2014/main" id="{F8FD8C94-D506-1269-7B2E-925A5C5EE4AF}"/>
                      </a:ext>
                    </a:extLst>
                  </p:cNvPr>
                  <p:cNvCxnSpPr>
                    <a:stCxn id="87" idx="2"/>
                  </p:cNvCxnSpPr>
                  <p:nvPr/>
                </p:nvCxnSpPr>
                <p:spPr>
                  <a:xfrm rot="16200000" flipH="1">
                    <a:off x="3346630" y="2857458"/>
                    <a:ext cx="768171" cy="1465787"/>
                  </a:xfrm>
                  <a:prstGeom prst="bentConnector2">
                    <a:avLst/>
                  </a:prstGeom>
                  <a:ln>
                    <a:solidFill>
                      <a:srgbClr val="00B05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" name="Straight Arrow Connector 88">
                    <a:extLst>
                      <a:ext uri="{FF2B5EF4-FFF2-40B4-BE49-F238E27FC236}">
                        <a16:creationId xmlns:a16="http://schemas.microsoft.com/office/drawing/2014/main" id="{E13306BE-2E57-505A-BA3A-1D9E9931FCA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459858" y="3974436"/>
                    <a:ext cx="0" cy="601715"/>
                  </a:xfrm>
                  <a:prstGeom prst="straightConnector1">
                    <a:avLst/>
                  </a:prstGeom>
                  <a:ln>
                    <a:solidFill>
                      <a:srgbClr val="00B05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E15FD8AF-A752-4FFB-8B41-49F61F40F15A}"/>
                </a:ext>
              </a:extLst>
            </p:cNvPr>
            <p:cNvGrpSpPr/>
            <p:nvPr/>
          </p:nvGrpSpPr>
          <p:grpSpPr>
            <a:xfrm>
              <a:off x="4266229" y="2631616"/>
              <a:ext cx="2081524" cy="1818813"/>
              <a:chOff x="4459858" y="2730779"/>
              <a:chExt cx="2081524" cy="1818813"/>
            </a:xfrm>
          </p:grpSpPr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5E0BA9B0-4D4D-D2A2-1A58-B552971A4EC8}"/>
                  </a:ext>
                </a:extLst>
              </p:cNvPr>
              <p:cNvCxnSpPr>
                <a:cxnSpLocks/>
                <a:stCxn id="85" idx="3"/>
                <a:endCxn id="92" idx="1"/>
              </p:cNvCxnSpPr>
              <p:nvPr/>
            </p:nvCxnSpPr>
            <p:spPr>
              <a:xfrm flipV="1">
                <a:off x="4629066" y="2968523"/>
                <a:ext cx="704031" cy="1515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3C40E17E-2266-4431-5609-2D10889A6413}"/>
                  </a:ext>
                </a:extLst>
              </p:cNvPr>
              <p:cNvSpPr/>
              <p:nvPr/>
            </p:nvSpPr>
            <p:spPr>
              <a:xfrm>
                <a:off x="5333097" y="2730779"/>
                <a:ext cx="1208285" cy="47548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/>
                  <a:t>Do that</a:t>
                </a:r>
              </a:p>
            </p:txBody>
          </p:sp>
          <p:cxnSp>
            <p:nvCxnSpPr>
              <p:cNvPr id="93" name="Connector: Elbow 92">
                <a:extLst>
                  <a:ext uri="{FF2B5EF4-FFF2-40B4-BE49-F238E27FC236}">
                    <a16:creationId xmlns:a16="http://schemas.microsoft.com/office/drawing/2014/main" id="{F54D8D7E-32E4-F5FE-D09C-3A8528351236}"/>
                  </a:ext>
                </a:extLst>
              </p:cNvPr>
              <p:cNvCxnSpPr>
                <a:stCxn id="92" idx="2"/>
              </p:cNvCxnSpPr>
              <p:nvPr/>
            </p:nvCxnSpPr>
            <p:spPr>
              <a:xfrm rot="5400000">
                <a:off x="4816340" y="2853537"/>
                <a:ext cx="768170" cy="1473631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6CCC1EFF-BA2C-552E-5783-5D53850F90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59858" y="3985989"/>
                <a:ext cx="9997" cy="56360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555DA670-7FED-53E8-57B7-B187F228FA1D}"/>
              </a:ext>
            </a:extLst>
          </p:cNvPr>
          <p:cNvGrpSpPr/>
          <p:nvPr/>
        </p:nvGrpSpPr>
        <p:grpSpPr>
          <a:xfrm>
            <a:off x="-4963845" y="1245641"/>
            <a:ext cx="5110428" cy="5318506"/>
            <a:chOff x="6520583" y="1040556"/>
            <a:chExt cx="5110428" cy="5318506"/>
          </a:xfrm>
        </p:grpSpPr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92E9460E-7989-D078-C7B5-2EC024627253}"/>
                </a:ext>
              </a:extLst>
            </p:cNvPr>
            <p:cNvSpPr txBox="1"/>
            <p:nvPr/>
          </p:nvSpPr>
          <p:spPr>
            <a:xfrm>
              <a:off x="8330540" y="5435732"/>
              <a:ext cx="2267737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5400" b="1" dirty="0"/>
                <a:t>switch</a:t>
              </a:r>
            </a:p>
          </p:txBody>
        </p: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F5733160-3DFD-F4EB-ECFF-52920F7F7618}"/>
                </a:ext>
              </a:extLst>
            </p:cNvPr>
            <p:cNvGrpSpPr/>
            <p:nvPr/>
          </p:nvGrpSpPr>
          <p:grpSpPr>
            <a:xfrm>
              <a:off x="6526995" y="1040556"/>
              <a:ext cx="914400" cy="685855"/>
              <a:chOff x="2814243" y="1126935"/>
              <a:chExt cx="914400" cy="685855"/>
            </a:xfrm>
          </p:grpSpPr>
          <p:sp>
            <p:nvSpPr>
              <p:cNvPr id="194" name="Oval 193">
                <a:extLst>
                  <a:ext uri="{FF2B5EF4-FFF2-40B4-BE49-F238E27FC236}">
                    <a16:creationId xmlns:a16="http://schemas.microsoft.com/office/drawing/2014/main" id="{441A1DFB-6784-957B-938A-623A39EB3F55}"/>
                  </a:ext>
                </a:extLst>
              </p:cNvPr>
              <p:cNvSpPr/>
              <p:nvPr/>
            </p:nvSpPr>
            <p:spPr>
              <a:xfrm>
                <a:off x="2814243" y="1126935"/>
                <a:ext cx="914400" cy="47548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/>
                  <a:t>start</a:t>
                </a:r>
              </a:p>
            </p:txBody>
          </p:sp>
          <p:cxnSp>
            <p:nvCxnSpPr>
              <p:cNvPr id="195" name="Straight Arrow Connector 194">
                <a:extLst>
                  <a:ext uri="{FF2B5EF4-FFF2-40B4-BE49-F238E27FC236}">
                    <a16:creationId xmlns:a16="http://schemas.microsoft.com/office/drawing/2014/main" id="{2249D317-FDDA-95DA-F989-B3560D9F86AE}"/>
                  </a:ext>
                </a:extLst>
              </p:cNvPr>
              <p:cNvCxnSpPr>
                <a:cxnSpLocks/>
                <a:stCxn id="194" idx="4"/>
                <a:endCxn id="221" idx="0"/>
              </p:cNvCxnSpPr>
              <p:nvPr/>
            </p:nvCxnSpPr>
            <p:spPr>
              <a:xfrm flipH="1">
                <a:off x="3265031" y="1602423"/>
                <a:ext cx="6412" cy="210367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74D5A763-A476-DD0C-FC91-6B8A87721DF6}"/>
                </a:ext>
              </a:extLst>
            </p:cNvPr>
            <p:cNvGrpSpPr/>
            <p:nvPr/>
          </p:nvGrpSpPr>
          <p:grpSpPr>
            <a:xfrm>
              <a:off x="6526995" y="5296781"/>
              <a:ext cx="914400" cy="910220"/>
              <a:chOff x="2814243" y="5383160"/>
              <a:chExt cx="914400" cy="910220"/>
            </a:xfrm>
          </p:grpSpPr>
          <p:sp>
            <p:nvSpPr>
              <p:cNvPr id="197" name="Oval 196">
                <a:extLst>
                  <a:ext uri="{FF2B5EF4-FFF2-40B4-BE49-F238E27FC236}">
                    <a16:creationId xmlns:a16="http://schemas.microsoft.com/office/drawing/2014/main" id="{640414C7-036A-A417-B21C-132AE9C0FB98}"/>
                  </a:ext>
                </a:extLst>
              </p:cNvPr>
              <p:cNvSpPr/>
              <p:nvPr/>
            </p:nvSpPr>
            <p:spPr>
              <a:xfrm>
                <a:off x="2814243" y="5817892"/>
                <a:ext cx="914400" cy="47548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/>
                  <a:t>end</a:t>
                </a:r>
              </a:p>
            </p:txBody>
          </p:sp>
          <p:cxnSp>
            <p:nvCxnSpPr>
              <p:cNvPr id="198" name="Straight Arrow Connector 197">
                <a:extLst>
                  <a:ext uri="{FF2B5EF4-FFF2-40B4-BE49-F238E27FC236}">
                    <a16:creationId xmlns:a16="http://schemas.microsoft.com/office/drawing/2014/main" id="{99E316FF-52E6-0420-1672-C603CFB125CA}"/>
                  </a:ext>
                </a:extLst>
              </p:cNvPr>
              <p:cNvCxnSpPr>
                <a:cxnSpLocks/>
                <a:stCxn id="253" idx="2"/>
                <a:endCxn id="197" idx="0"/>
              </p:cNvCxnSpPr>
              <p:nvPr/>
            </p:nvCxnSpPr>
            <p:spPr>
              <a:xfrm>
                <a:off x="3271443" y="5383160"/>
                <a:ext cx="0" cy="434732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9" name="Group 198">
              <a:extLst>
                <a:ext uri="{FF2B5EF4-FFF2-40B4-BE49-F238E27FC236}">
                  <a16:creationId xmlns:a16="http://schemas.microsoft.com/office/drawing/2014/main" id="{0FB36CF8-42FF-0F21-B518-4F73B939560D}"/>
                </a:ext>
              </a:extLst>
            </p:cNvPr>
            <p:cNvGrpSpPr/>
            <p:nvPr/>
          </p:nvGrpSpPr>
          <p:grpSpPr>
            <a:xfrm>
              <a:off x="6520583" y="2041117"/>
              <a:ext cx="4729274" cy="1757604"/>
              <a:chOff x="2807831" y="2127496"/>
              <a:chExt cx="4729274" cy="1757604"/>
            </a:xfrm>
          </p:grpSpPr>
          <p:grpSp>
            <p:nvGrpSpPr>
              <p:cNvPr id="200" name="Group 199">
                <a:extLst>
                  <a:ext uri="{FF2B5EF4-FFF2-40B4-BE49-F238E27FC236}">
                    <a16:creationId xmlns:a16="http://schemas.microsoft.com/office/drawing/2014/main" id="{14DDB6DC-A852-B423-7BDA-F1F9C00DFFDE}"/>
                  </a:ext>
                </a:extLst>
              </p:cNvPr>
              <p:cNvGrpSpPr/>
              <p:nvPr/>
            </p:nvGrpSpPr>
            <p:grpSpPr>
              <a:xfrm>
                <a:off x="2807831" y="2755405"/>
                <a:ext cx="4351014" cy="629412"/>
                <a:chOff x="1488646" y="2612399"/>
                <a:chExt cx="4351014" cy="629412"/>
              </a:xfrm>
            </p:grpSpPr>
            <p:sp>
              <p:nvSpPr>
                <p:cNvPr id="205" name="Rectangle 204">
                  <a:extLst>
                    <a:ext uri="{FF2B5EF4-FFF2-40B4-BE49-F238E27FC236}">
                      <a16:creationId xmlns:a16="http://schemas.microsoft.com/office/drawing/2014/main" id="{B5050B7E-809B-E8CB-49DC-468DDDED7BD8}"/>
                    </a:ext>
                  </a:extLst>
                </p:cNvPr>
                <p:cNvSpPr/>
                <p:nvPr/>
              </p:nvSpPr>
              <p:spPr>
                <a:xfrm>
                  <a:off x="2993760" y="2689361"/>
                  <a:ext cx="1208285" cy="475488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dirty="0">
                      <a:latin typeface="LM Roman 12" panose="00000500000000000000" pitchFamily="50" charset="0"/>
                    </a:rPr>
                    <a:t>Do that action</a:t>
                  </a:r>
                </a:p>
              </p:txBody>
            </p:sp>
            <p:sp>
              <p:nvSpPr>
                <p:cNvPr id="206" name="Rectangle 205">
                  <a:extLst>
                    <a:ext uri="{FF2B5EF4-FFF2-40B4-BE49-F238E27FC236}">
                      <a16:creationId xmlns:a16="http://schemas.microsoft.com/office/drawing/2014/main" id="{B272E258-C26C-B167-E823-26DC19033595}"/>
                    </a:ext>
                  </a:extLst>
                </p:cNvPr>
                <p:cNvSpPr/>
                <p:nvPr/>
              </p:nvSpPr>
              <p:spPr>
                <a:xfrm>
                  <a:off x="4631375" y="2673212"/>
                  <a:ext cx="1208285" cy="475488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dirty="0">
                      <a:latin typeface="LM Roman 12" panose="00000500000000000000" pitchFamily="50" charset="0"/>
                    </a:rPr>
                    <a:t>Break</a:t>
                  </a:r>
                </a:p>
              </p:txBody>
            </p:sp>
            <p:cxnSp>
              <p:nvCxnSpPr>
                <p:cNvPr id="207" name="Straight Arrow Connector 206">
                  <a:extLst>
                    <a:ext uri="{FF2B5EF4-FFF2-40B4-BE49-F238E27FC236}">
                      <a16:creationId xmlns:a16="http://schemas.microsoft.com/office/drawing/2014/main" id="{EBC1A90F-B13D-F36F-3C4D-F4BA3F6DB657}"/>
                    </a:ext>
                  </a:extLst>
                </p:cNvPr>
                <p:cNvCxnSpPr>
                  <a:stCxn id="210" idx="3"/>
                  <a:endCxn id="205" idx="1"/>
                </p:cNvCxnSpPr>
                <p:nvPr/>
              </p:nvCxnSpPr>
              <p:spPr>
                <a:xfrm>
                  <a:off x="2403046" y="2927105"/>
                  <a:ext cx="590714" cy="0"/>
                </a:xfrm>
                <a:prstGeom prst="straightConnector1">
                  <a:avLst/>
                </a:prstGeom>
                <a:ln>
                  <a:solidFill>
                    <a:srgbClr val="FFFF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Arrow Connector 207">
                  <a:extLst>
                    <a:ext uri="{FF2B5EF4-FFF2-40B4-BE49-F238E27FC236}">
                      <a16:creationId xmlns:a16="http://schemas.microsoft.com/office/drawing/2014/main" id="{695B06A1-7A17-C5A0-C9AE-5361AA98361A}"/>
                    </a:ext>
                  </a:extLst>
                </p:cNvPr>
                <p:cNvCxnSpPr>
                  <a:stCxn id="205" idx="3"/>
                  <a:endCxn id="206" idx="1"/>
                </p:cNvCxnSpPr>
                <p:nvPr/>
              </p:nvCxnSpPr>
              <p:spPr>
                <a:xfrm flipV="1">
                  <a:off x="4202045" y="2910956"/>
                  <a:ext cx="429330" cy="16149"/>
                </a:xfrm>
                <a:prstGeom prst="straightConnector1">
                  <a:avLst/>
                </a:prstGeom>
                <a:ln>
                  <a:solidFill>
                    <a:srgbClr val="FFFF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09" name="Group 208">
                  <a:extLst>
                    <a:ext uri="{FF2B5EF4-FFF2-40B4-BE49-F238E27FC236}">
                      <a16:creationId xmlns:a16="http://schemas.microsoft.com/office/drawing/2014/main" id="{913540B9-B0A9-22A1-E65A-2BF93F8D128F}"/>
                    </a:ext>
                  </a:extLst>
                </p:cNvPr>
                <p:cNvGrpSpPr/>
                <p:nvPr/>
              </p:nvGrpSpPr>
              <p:grpSpPr>
                <a:xfrm>
                  <a:off x="1488646" y="2612399"/>
                  <a:ext cx="914400" cy="629412"/>
                  <a:chOff x="1488646" y="2612399"/>
                  <a:chExt cx="914400" cy="629412"/>
                </a:xfrm>
              </p:grpSpPr>
              <p:sp>
                <p:nvSpPr>
                  <p:cNvPr id="210" name="Flowchart: Decision 209">
                    <a:extLst>
                      <a:ext uri="{FF2B5EF4-FFF2-40B4-BE49-F238E27FC236}">
                        <a16:creationId xmlns:a16="http://schemas.microsoft.com/office/drawing/2014/main" id="{4A07C3CF-DF31-64DD-2515-F2593D13C394}"/>
                      </a:ext>
                    </a:extLst>
                  </p:cNvPr>
                  <p:cNvSpPr/>
                  <p:nvPr/>
                </p:nvSpPr>
                <p:spPr>
                  <a:xfrm>
                    <a:off x="1488646" y="2612399"/>
                    <a:ext cx="914400" cy="629412"/>
                  </a:xfrm>
                  <a:prstGeom prst="flowChartDecision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>
                    <a:outerShdw blurRad="44450" dist="27940" dir="5400000" algn="ctr">
                      <a:srgbClr val="000000">
                        <a:alpha val="32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balanced" dir="t">
                      <a:rot lat="0" lon="0" rev="8700000"/>
                    </a:lightRig>
                  </a:scene3d>
                  <a:sp3d>
                    <a:bevelT w="190500" h="38100"/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ZA" sz="1000" dirty="0"/>
                  </a:p>
                </p:txBody>
              </p:sp>
              <p:sp>
                <p:nvSpPr>
                  <p:cNvPr id="211" name="TextBox 210">
                    <a:extLst>
                      <a:ext uri="{FF2B5EF4-FFF2-40B4-BE49-F238E27FC236}">
                        <a16:creationId xmlns:a16="http://schemas.microsoft.com/office/drawing/2014/main" id="{D38DC19C-1011-E092-168F-C6835124F910}"/>
                      </a:ext>
                    </a:extLst>
                  </p:cNvPr>
                  <p:cNvSpPr txBox="1"/>
                  <p:nvPr/>
                </p:nvSpPr>
                <p:spPr>
                  <a:xfrm>
                    <a:off x="1495058" y="2719813"/>
                    <a:ext cx="88838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ZA" dirty="0">
                        <a:solidFill>
                          <a:schemeClr val="bg1"/>
                        </a:solidFill>
                        <a:latin typeface="LM Roman 12" panose="00000500000000000000" pitchFamily="50" charset="0"/>
                      </a:rPr>
                      <a:t>Case B</a:t>
                    </a:r>
                  </a:p>
                </p:txBody>
              </p:sp>
            </p:grpSp>
          </p:grpSp>
          <p:cxnSp>
            <p:nvCxnSpPr>
              <p:cNvPr id="201" name="Straight Arrow Connector 200">
                <a:extLst>
                  <a:ext uri="{FF2B5EF4-FFF2-40B4-BE49-F238E27FC236}">
                    <a16:creationId xmlns:a16="http://schemas.microsoft.com/office/drawing/2014/main" id="{7BBB86F5-75C6-0871-A004-3027FB54EABC}"/>
                  </a:ext>
                </a:extLst>
              </p:cNvPr>
              <p:cNvCxnSpPr>
                <a:cxnSpLocks/>
                <a:stCxn id="221" idx="2"/>
                <a:endCxn id="210" idx="0"/>
              </p:cNvCxnSpPr>
              <p:nvPr/>
            </p:nvCxnSpPr>
            <p:spPr>
              <a:xfrm>
                <a:off x="3265031" y="2442202"/>
                <a:ext cx="0" cy="313203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Straight Arrow Connector 201">
                <a:extLst>
                  <a:ext uri="{FF2B5EF4-FFF2-40B4-BE49-F238E27FC236}">
                    <a16:creationId xmlns:a16="http://schemas.microsoft.com/office/drawing/2014/main" id="{ECD415F9-443D-DC2A-522A-ECC9167B65A4}"/>
                  </a:ext>
                </a:extLst>
              </p:cNvPr>
              <p:cNvCxnSpPr>
                <a:cxnSpLocks/>
                <a:stCxn id="210" idx="2"/>
                <a:endCxn id="240" idx="0"/>
              </p:cNvCxnSpPr>
              <p:nvPr/>
            </p:nvCxnSpPr>
            <p:spPr>
              <a:xfrm>
                <a:off x="3265031" y="3384817"/>
                <a:ext cx="0" cy="185577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>
                <a:extLst>
                  <a:ext uri="{FF2B5EF4-FFF2-40B4-BE49-F238E27FC236}">
                    <a16:creationId xmlns:a16="http://schemas.microsoft.com/office/drawing/2014/main" id="{D3F3921F-2CA2-6E8E-8054-13BE9D8588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58844" y="3065566"/>
                <a:ext cx="378261" cy="0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>
                <a:extLst>
                  <a:ext uri="{FF2B5EF4-FFF2-40B4-BE49-F238E27FC236}">
                    <a16:creationId xmlns:a16="http://schemas.microsoft.com/office/drawing/2014/main" id="{AF753C1C-B149-A7B1-9CD7-88FC51BD09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37105" y="2127496"/>
                <a:ext cx="0" cy="1757604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2" name="Group 211">
              <a:extLst>
                <a:ext uri="{FF2B5EF4-FFF2-40B4-BE49-F238E27FC236}">
                  <a16:creationId xmlns:a16="http://schemas.microsoft.com/office/drawing/2014/main" id="{2ECA3F1A-4352-73D5-FF40-13858A4410C1}"/>
                </a:ext>
              </a:extLst>
            </p:cNvPr>
            <p:cNvGrpSpPr/>
            <p:nvPr/>
          </p:nvGrpSpPr>
          <p:grpSpPr>
            <a:xfrm>
              <a:off x="6520583" y="1395943"/>
              <a:ext cx="5110428" cy="959880"/>
              <a:chOff x="2807831" y="1482322"/>
              <a:chExt cx="5110428" cy="959880"/>
            </a:xfrm>
          </p:grpSpPr>
          <p:grpSp>
            <p:nvGrpSpPr>
              <p:cNvPr id="213" name="Group 212">
                <a:extLst>
                  <a:ext uri="{FF2B5EF4-FFF2-40B4-BE49-F238E27FC236}">
                    <a16:creationId xmlns:a16="http://schemas.microsoft.com/office/drawing/2014/main" id="{E21A595F-8BDD-7AC7-70BC-4345951DBD58}"/>
                  </a:ext>
                </a:extLst>
              </p:cNvPr>
              <p:cNvGrpSpPr/>
              <p:nvPr/>
            </p:nvGrpSpPr>
            <p:grpSpPr>
              <a:xfrm>
                <a:off x="2807831" y="1812790"/>
                <a:ext cx="4351014" cy="629412"/>
                <a:chOff x="1488646" y="1669784"/>
                <a:chExt cx="4351014" cy="629412"/>
              </a:xfrm>
            </p:grpSpPr>
            <p:sp>
              <p:nvSpPr>
                <p:cNvPr id="216" name="Rectangle 215">
                  <a:extLst>
                    <a:ext uri="{FF2B5EF4-FFF2-40B4-BE49-F238E27FC236}">
                      <a16:creationId xmlns:a16="http://schemas.microsoft.com/office/drawing/2014/main" id="{024EAD95-F5D8-90CF-F4A1-2A4732A7E311}"/>
                    </a:ext>
                  </a:extLst>
                </p:cNvPr>
                <p:cNvSpPr/>
                <p:nvPr/>
              </p:nvSpPr>
              <p:spPr>
                <a:xfrm>
                  <a:off x="2993760" y="1735055"/>
                  <a:ext cx="1208285" cy="475488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dirty="0">
                      <a:latin typeface="LM Roman 12" panose="00000500000000000000" pitchFamily="50" charset="0"/>
                    </a:rPr>
                    <a:t>Do this action</a:t>
                  </a:r>
                </a:p>
              </p:txBody>
            </p:sp>
            <p:sp>
              <p:nvSpPr>
                <p:cNvPr id="217" name="Rectangle 216">
                  <a:extLst>
                    <a:ext uri="{FF2B5EF4-FFF2-40B4-BE49-F238E27FC236}">
                      <a16:creationId xmlns:a16="http://schemas.microsoft.com/office/drawing/2014/main" id="{A04E164B-D521-3C02-577C-DC6EE7C9850D}"/>
                    </a:ext>
                  </a:extLst>
                </p:cNvPr>
                <p:cNvSpPr/>
                <p:nvPr/>
              </p:nvSpPr>
              <p:spPr>
                <a:xfrm>
                  <a:off x="4631375" y="1746746"/>
                  <a:ext cx="1208285" cy="475488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dirty="0">
                      <a:latin typeface="LM Roman 12" panose="00000500000000000000" pitchFamily="50" charset="0"/>
                    </a:rPr>
                    <a:t>Break</a:t>
                  </a:r>
                  <a:endParaRPr lang="en-ZA" dirty="0"/>
                </a:p>
              </p:txBody>
            </p:sp>
            <p:cxnSp>
              <p:nvCxnSpPr>
                <p:cNvPr id="218" name="Straight Arrow Connector 217">
                  <a:extLst>
                    <a:ext uri="{FF2B5EF4-FFF2-40B4-BE49-F238E27FC236}">
                      <a16:creationId xmlns:a16="http://schemas.microsoft.com/office/drawing/2014/main" id="{DD4BAC0D-DAC6-C0A8-B557-21B2037D26E8}"/>
                    </a:ext>
                  </a:extLst>
                </p:cNvPr>
                <p:cNvCxnSpPr>
                  <a:stCxn id="221" idx="3"/>
                  <a:endCxn id="216" idx="1"/>
                </p:cNvCxnSpPr>
                <p:nvPr/>
              </p:nvCxnSpPr>
              <p:spPr>
                <a:xfrm flipV="1">
                  <a:off x="2403046" y="1972799"/>
                  <a:ext cx="590714" cy="11691"/>
                </a:xfrm>
                <a:prstGeom prst="straightConnector1">
                  <a:avLst/>
                </a:prstGeom>
                <a:ln>
                  <a:solidFill>
                    <a:srgbClr val="FFFF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9" name="Straight Arrow Connector 218">
                  <a:extLst>
                    <a:ext uri="{FF2B5EF4-FFF2-40B4-BE49-F238E27FC236}">
                      <a16:creationId xmlns:a16="http://schemas.microsoft.com/office/drawing/2014/main" id="{1D320CA9-76E2-24B1-C7F0-0DA1178BE051}"/>
                    </a:ext>
                  </a:extLst>
                </p:cNvPr>
                <p:cNvCxnSpPr>
                  <a:stCxn id="216" idx="3"/>
                  <a:endCxn id="217" idx="1"/>
                </p:cNvCxnSpPr>
                <p:nvPr/>
              </p:nvCxnSpPr>
              <p:spPr>
                <a:xfrm>
                  <a:off x="4202045" y="1972799"/>
                  <a:ext cx="429330" cy="11691"/>
                </a:xfrm>
                <a:prstGeom prst="straightConnector1">
                  <a:avLst/>
                </a:prstGeom>
                <a:ln>
                  <a:solidFill>
                    <a:srgbClr val="FFFF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20" name="Group 219">
                  <a:extLst>
                    <a:ext uri="{FF2B5EF4-FFF2-40B4-BE49-F238E27FC236}">
                      <a16:creationId xmlns:a16="http://schemas.microsoft.com/office/drawing/2014/main" id="{72543BB9-60D1-4E84-B8AF-B2D3474353EE}"/>
                    </a:ext>
                  </a:extLst>
                </p:cNvPr>
                <p:cNvGrpSpPr/>
                <p:nvPr/>
              </p:nvGrpSpPr>
              <p:grpSpPr>
                <a:xfrm>
                  <a:off x="1488646" y="1669784"/>
                  <a:ext cx="914400" cy="629412"/>
                  <a:chOff x="1465837" y="1712996"/>
                  <a:chExt cx="914400" cy="629412"/>
                </a:xfrm>
              </p:grpSpPr>
              <p:sp>
                <p:nvSpPr>
                  <p:cNvPr id="221" name="Flowchart: Decision 220">
                    <a:extLst>
                      <a:ext uri="{FF2B5EF4-FFF2-40B4-BE49-F238E27FC236}">
                        <a16:creationId xmlns:a16="http://schemas.microsoft.com/office/drawing/2014/main" id="{00FD0D9A-5B35-048F-9ABC-B112BB3AAD18}"/>
                      </a:ext>
                    </a:extLst>
                  </p:cNvPr>
                  <p:cNvSpPr/>
                  <p:nvPr/>
                </p:nvSpPr>
                <p:spPr>
                  <a:xfrm>
                    <a:off x="1465837" y="1712996"/>
                    <a:ext cx="914400" cy="629412"/>
                  </a:xfrm>
                  <a:prstGeom prst="flowChartDecision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>
                    <a:outerShdw blurRad="44450" dist="27940" dir="5400000" algn="ctr">
                      <a:srgbClr val="000000">
                        <a:alpha val="32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balanced" dir="t">
                      <a:rot lat="0" lon="0" rev="8700000"/>
                    </a:lightRig>
                  </a:scene3d>
                  <a:sp3d>
                    <a:bevelT w="190500" h="38100"/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ZA" sz="1000" dirty="0"/>
                  </a:p>
                </p:txBody>
              </p:sp>
              <p:sp>
                <p:nvSpPr>
                  <p:cNvPr id="222" name="TextBox 221">
                    <a:extLst>
                      <a:ext uri="{FF2B5EF4-FFF2-40B4-BE49-F238E27FC236}">
                        <a16:creationId xmlns:a16="http://schemas.microsoft.com/office/drawing/2014/main" id="{B9CF5A64-3D20-BF6D-9617-A8901754E89C}"/>
                      </a:ext>
                    </a:extLst>
                  </p:cNvPr>
                  <p:cNvSpPr txBox="1"/>
                  <p:nvPr/>
                </p:nvSpPr>
                <p:spPr>
                  <a:xfrm>
                    <a:off x="1472249" y="1813169"/>
                    <a:ext cx="89800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ZA" dirty="0">
                        <a:solidFill>
                          <a:schemeClr val="bg1"/>
                        </a:solidFill>
                        <a:latin typeface="LM Roman 12" panose="00000500000000000000" pitchFamily="50" charset="0"/>
                      </a:rPr>
                      <a:t>Case A</a:t>
                    </a:r>
                  </a:p>
                </p:txBody>
              </p:sp>
            </p:grpSp>
          </p:grpSp>
          <p:cxnSp>
            <p:nvCxnSpPr>
              <p:cNvPr id="214" name="Straight Connector 213">
                <a:extLst>
                  <a:ext uri="{FF2B5EF4-FFF2-40B4-BE49-F238E27FC236}">
                    <a16:creationId xmlns:a16="http://schemas.microsoft.com/office/drawing/2014/main" id="{129C88FD-6116-FD2B-E395-BF152D6DBE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58844" y="2146266"/>
                <a:ext cx="378261" cy="0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2C0B1EA5-3919-60CE-C404-C9A04675A8F5}"/>
                  </a:ext>
                </a:extLst>
              </p:cNvPr>
              <p:cNvSpPr txBox="1"/>
              <p:nvPr/>
            </p:nvSpPr>
            <p:spPr>
              <a:xfrm>
                <a:off x="3437545" y="1482322"/>
                <a:ext cx="448071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000" b="1" dirty="0">
                    <a:latin typeface="LM Roman 12" panose="00000500000000000000" pitchFamily="50" charset="0"/>
                  </a:rPr>
                  <a:t>when this case is true…do this action</a:t>
                </a:r>
              </a:p>
            </p:txBody>
          </p:sp>
        </p:grpSp>
        <p:grpSp>
          <p:nvGrpSpPr>
            <p:cNvPr id="223" name="Group 222">
              <a:extLst>
                <a:ext uri="{FF2B5EF4-FFF2-40B4-BE49-F238E27FC236}">
                  <a16:creationId xmlns:a16="http://schemas.microsoft.com/office/drawing/2014/main" id="{82C92F1C-FCEB-035D-5EDE-1CBD7D8EA24F}"/>
                </a:ext>
              </a:extLst>
            </p:cNvPr>
            <p:cNvGrpSpPr/>
            <p:nvPr/>
          </p:nvGrpSpPr>
          <p:grpSpPr>
            <a:xfrm>
              <a:off x="6520583" y="3484015"/>
              <a:ext cx="4886765" cy="1030446"/>
              <a:chOff x="2807831" y="3570394"/>
              <a:chExt cx="4886765" cy="1030446"/>
            </a:xfrm>
          </p:grpSpPr>
          <p:cxnSp>
            <p:nvCxnSpPr>
              <p:cNvPr id="224" name="Straight Arrow Connector 223">
                <a:extLst>
                  <a:ext uri="{FF2B5EF4-FFF2-40B4-BE49-F238E27FC236}">
                    <a16:creationId xmlns:a16="http://schemas.microsoft.com/office/drawing/2014/main" id="{C71646CA-931C-7D98-6774-77F67B8678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69884" y="4231945"/>
                <a:ext cx="6595" cy="272090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25" name="Group 224">
                <a:extLst>
                  <a:ext uri="{FF2B5EF4-FFF2-40B4-BE49-F238E27FC236}">
                    <a16:creationId xmlns:a16="http://schemas.microsoft.com/office/drawing/2014/main" id="{6B4937F1-C65E-88B5-DD5B-3EFA5EE94D2C}"/>
                  </a:ext>
                </a:extLst>
              </p:cNvPr>
              <p:cNvGrpSpPr/>
              <p:nvPr/>
            </p:nvGrpSpPr>
            <p:grpSpPr>
              <a:xfrm>
                <a:off x="2807831" y="3570394"/>
                <a:ext cx="4886765" cy="1030446"/>
                <a:chOff x="2807831" y="3570394"/>
                <a:chExt cx="4886765" cy="1030446"/>
              </a:xfrm>
            </p:grpSpPr>
            <p:grpSp>
              <p:nvGrpSpPr>
                <p:cNvPr id="226" name="Group 225">
                  <a:extLst>
                    <a:ext uri="{FF2B5EF4-FFF2-40B4-BE49-F238E27FC236}">
                      <a16:creationId xmlns:a16="http://schemas.microsoft.com/office/drawing/2014/main" id="{E588A160-C4CD-1DE4-D15A-8B7B844D0E1F}"/>
                    </a:ext>
                  </a:extLst>
                </p:cNvPr>
                <p:cNvGrpSpPr/>
                <p:nvPr/>
              </p:nvGrpSpPr>
              <p:grpSpPr>
                <a:xfrm>
                  <a:off x="2807831" y="3570394"/>
                  <a:ext cx="4351014" cy="629412"/>
                  <a:chOff x="1488646" y="3427388"/>
                  <a:chExt cx="4351014" cy="629412"/>
                </a:xfrm>
              </p:grpSpPr>
              <p:sp>
                <p:nvSpPr>
                  <p:cNvPr id="235" name="Rectangle 234">
                    <a:extLst>
                      <a:ext uri="{FF2B5EF4-FFF2-40B4-BE49-F238E27FC236}">
                        <a16:creationId xmlns:a16="http://schemas.microsoft.com/office/drawing/2014/main" id="{000B5F42-B318-9CBB-DF69-D079C43FA6C7}"/>
                      </a:ext>
                    </a:extLst>
                  </p:cNvPr>
                  <p:cNvSpPr/>
                  <p:nvPr/>
                </p:nvSpPr>
                <p:spPr>
                  <a:xfrm>
                    <a:off x="2993760" y="3505207"/>
                    <a:ext cx="1208285" cy="475488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>
                    <a:outerShdw blurRad="44450" dist="27940" dir="5400000" algn="ctr">
                      <a:srgbClr val="000000">
                        <a:alpha val="32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balanced" dir="t">
                      <a:rot lat="0" lon="0" rev="8700000"/>
                    </a:lightRig>
                  </a:scene3d>
                  <a:sp3d>
                    <a:bevelT w="190500" h="38100"/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ZA" dirty="0">
                        <a:latin typeface="LM Roman 12" panose="00000500000000000000" pitchFamily="50" charset="0"/>
                      </a:rPr>
                      <a:t>Do that action</a:t>
                    </a:r>
                  </a:p>
                </p:txBody>
              </p:sp>
              <p:sp>
                <p:nvSpPr>
                  <p:cNvPr id="236" name="Rectangle 235">
                    <a:extLst>
                      <a:ext uri="{FF2B5EF4-FFF2-40B4-BE49-F238E27FC236}">
                        <a16:creationId xmlns:a16="http://schemas.microsoft.com/office/drawing/2014/main" id="{C7D01BC6-2F47-A63F-0040-3235DB6026C6}"/>
                      </a:ext>
                    </a:extLst>
                  </p:cNvPr>
                  <p:cNvSpPr/>
                  <p:nvPr/>
                </p:nvSpPr>
                <p:spPr>
                  <a:xfrm>
                    <a:off x="4631375" y="3488746"/>
                    <a:ext cx="1208285" cy="475488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>
                    <a:outerShdw blurRad="44450" dist="27940" dir="5400000" algn="ctr">
                      <a:srgbClr val="000000">
                        <a:alpha val="32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balanced" dir="t">
                      <a:rot lat="0" lon="0" rev="8700000"/>
                    </a:lightRig>
                  </a:scene3d>
                  <a:sp3d>
                    <a:bevelT w="190500" h="38100"/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ZA" dirty="0">
                        <a:latin typeface="LM Roman 12" panose="00000500000000000000" pitchFamily="50" charset="0"/>
                      </a:rPr>
                      <a:t>Break</a:t>
                    </a:r>
                  </a:p>
                </p:txBody>
              </p:sp>
              <p:cxnSp>
                <p:nvCxnSpPr>
                  <p:cNvPr id="237" name="Straight Arrow Connector 236">
                    <a:extLst>
                      <a:ext uri="{FF2B5EF4-FFF2-40B4-BE49-F238E27FC236}">
                        <a16:creationId xmlns:a16="http://schemas.microsoft.com/office/drawing/2014/main" id="{6A7B5859-2E2F-B600-3607-D6A95AEFD60B}"/>
                      </a:ext>
                    </a:extLst>
                  </p:cNvPr>
                  <p:cNvCxnSpPr>
                    <a:stCxn id="240" idx="3"/>
                    <a:endCxn id="235" idx="1"/>
                  </p:cNvCxnSpPr>
                  <p:nvPr/>
                </p:nvCxnSpPr>
                <p:spPr>
                  <a:xfrm>
                    <a:off x="2403046" y="3742094"/>
                    <a:ext cx="590714" cy="857"/>
                  </a:xfrm>
                  <a:prstGeom prst="straightConnector1">
                    <a:avLst/>
                  </a:prstGeom>
                  <a:ln>
                    <a:solidFill>
                      <a:srgbClr val="FFFF0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8" name="Straight Arrow Connector 237">
                    <a:extLst>
                      <a:ext uri="{FF2B5EF4-FFF2-40B4-BE49-F238E27FC236}">
                        <a16:creationId xmlns:a16="http://schemas.microsoft.com/office/drawing/2014/main" id="{3F890CB9-AF1E-2296-80BB-8839FC5D22BF}"/>
                      </a:ext>
                    </a:extLst>
                  </p:cNvPr>
                  <p:cNvCxnSpPr>
                    <a:stCxn id="235" idx="3"/>
                    <a:endCxn id="236" idx="1"/>
                  </p:cNvCxnSpPr>
                  <p:nvPr/>
                </p:nvCxnSpPr>
                <p:spPr>
                  <a:xfrm flipV="1">
                    <a:off x="4202045" y="3726490"/>
                    <a:ext cx="429330" cy="16461"/>
                  </a:xfrm>
                  <a:prstGeom prst="straightConnector1">
                    <a:avLst/>
                  </a:prstGeom>
                  <a:ln>
                    <a:solidFill>
                      <a:srgbClr val="FFFF0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39" name="Group 238">
                    <a:extLst>
                      <a:ext uri="{FF2B5EF4-FFF2-40B4-BE49-F238E27FC236}">
                        <a16:creationId xmlns:a16="http://schemas.microsoft.com/office/drawing/2014/main" id="{EA70DC7C-355D-6294-5EE9-8302B9C03AC3}"/>
                      </a:ext>
                    </a:extLst>
                  </p:cNvPr>
                  <p:cNvGrpSpPr/>
                  <p:nvPr/>
                </p:nvGrpSpPr>
                <p:grpSpPr>
                  <a:xfrm>
                    <a:off x="1488646" y="3427388"/>
                    <a:ext cx="914400" cy="629412"/>
                    <a:chOff x="1488646" y="3427388"/>
                    <a:chExt cx="914400" cy="629412"/>
                  </a:xfrm>
                </p:grpSpPr>
                <p:sp>
                  <p:nvSpPr>
                    <p:cNvPr id="240" name="Flowchart: Decision 239">
                      <a:extLst>
                        <a:ext uri="{FF2B5EF4-FFF2-40B4-BE49-F238E27FC236}">
                          <a16:creationId xmlns:a16="http://schemas.microsoft.com/office/drawing/2014/main" id="{2C54CBF0-E8DA-4087-49C5-50E25DD2F5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88646" y="3427388"/>
                      <a:ext cx="914400" cy="629412"/>
                    </a:xfrm>
                    <a:prstGeom prst="flowChartDecision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ffectLst>
                      <a:outerShdw blurRad="44450" dist="27940" dir="5400000" algn="ctr">
                        <a:srgbClr val="000000">
                          <a:alpha val="32000"/>
                        </a:srgbClr>
                      </a:outerShdw>
                    </a:effectLst>
                    <a:scene3d>
                      <a:camera prst="orthographicFront">
                        <a:rot lat="0" lon="0" rev="0"/>
                      </a:camera>
                      <a:lightRig rig="balanced" dir="t">
                        <a:rot lat="0" lon="0" rev="8700000"/>
                      </a:lightRig>
                    </a:scene3d>
                    <a:sp3d>
                      <a:bevelT w="190500" h="38100"/>
                    </a:sp3d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ZA" sz="1000" dirty="0"/>
                    </a:p>
                  </p:txBody>
                </p:sp>
                <p:sp>
                  <p:nvSpPr>
                    <p:cNvPr id="241" name="TextBox 240">
                      <a:extLst>
                        <a:ext uri="{FF2B5EF4-FFF2-40B4-BE49-F238E27FC236}">
                          <a16:creationId xmlns:a16="http://schemas.microsoft.com/office/drawing/2014/main" id="{E6501AB4-7194-48BB-39A2-114EEF90D06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495058" y="3541824"/>
                      <a:ext cx="891591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ZA" dirty="0">
                          <a:solidFill>
                            <a:schemeClr val="bg1"/>
                          </a:solidFill>
                          <a:latin typeface="LM Roman 12" panose="00000500000000000000" pitchFamily="50" charset="0"/>
                        </a:rPr>
                        <a:t>Case C</a:t>
                      </a:r>
                    </a:p>
                  </p:txBody>
                </p:sp>
              </p:grpSp>
            </p:grpSp>
            <p:grpSp>
              <p:nvGrpSpPr>
                <p:cNvPr id="227" name="Group 226">
                  <a:extLst>
                    <a:ext uri="{FF2B5EF4-FFF2-40B4-BE49-F238E27FC236}">
                      <a16:creationId xmlns:a16="http://schemas.microsoft.com/office/drawing/2014/main" id="{66B549A3-3861-DE12-3188-E7EEED14F480}"/>
                    </a:ext>
                  </a:extLst>
                </p:cNvPr>
                <p:cNvGrpSpPr/>
                <p:nvPr/>
              </p:nvGrpSpPr>
              <p:grpSpPr>
                <a:xfrm>
                  <a:off x="3079405" y="4402688"/>
                  <a:ext cx="358140" cy="198152"/>
                  <a:chOff x="1760220" y="4259682"/>
                  <a:chExt cx="358140" cy="198152"/>
                </a:xfrm>
              </p:grpSpPr>
              <p:cxnSp>
                <p:nvCxnSpPr>
                  <p:cNvPr id="233" name="Straight Connector 232">
                    <a:extLst>
                      <a:ext uri="{FF2B5EF4-FFF2-40B4-BE49-F238E27FC236}">
                        <a16:creationId xmlns:a16="http://schemas.microsoft.com/office/drawing/2014/main" id="{5E9CA4E8-1EBD-3BB6-1B18-EDA6E3A5483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760220" y="4319884"/>
                    <a:ext cx="358140" cy="137950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4" name="Straight Connector 233">
                    <a:extLst>
                      <a:ext uri="{FF2B5EF4-FFF2-40B4-BE49-F238E27FC236}">
                        <a16:creationId xmlns:a16="http://schemas.microsoft.com/office/drawing/2014/main" id="{49D4A67E-3D69-563E-19EE-47A2E9AA150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760220" y="4259682"/>
                    <a:ext cx="358140" cy="144678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28" name="Straight Connector 227">
                  <a:extLst>
                    <a:ext uri="{FF2B5EF4-FFF2-40B4-BE49-F238E27FC236}">
                      <a16:creationId xmlns:a16="http://schemas.microsoft.com/office/drawing/2014/main" id="{BC87F870-6258-B529-8BE7-1C2E068097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158844" y="3865406"/>
                  <a:ext cx="378261" cy="0"/>
                </a:xfrm>
                <a:prstGeom prst="line">
                  <a:avLst/>
                </a:prstGeom>
                <a:ln>
                  <a:solidFill>
                    <a:srgbClr val="FFFF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29" name="Group 228">
                  <a:extLst>
                    <a:ext uri="{FF2B5EF4-FFF2-40B4-BE49-F238E27FC236}">
                      <a16:creationId xmlns:a16="http://schemas.microsoft.com/office/drawing/2014/main" id="{CB4FCA7C-AED6-7741-D6A2-B1FA2AF1D689}"/>
                    </a:ext>
                  </a:extLst>
                </p:cNvPr>
                <p:cNvGrpSpPr/>
                <p:nvPr/>
              </p:nvGrpSpPr>
              <p:grpSpPr>
                <a:xfrm>
                  <a:off x="7336456" y="3885100"/>
                  <a:ext cx="358140" cy="409384"/>
                  <a:chOff x="1760220" y="4048450"/>
                  <a:chExt cx="358140" cy="409384"/>
                </a:xfrm>
              </p:grpSpPr>
              <p:cxnSp>
                <p:nvCxnSpPr>
                  <p:cNvPr id="230" name="Straight Connector 229">
                    <a:extLst>
                      <a:ext uri="{FF2B5EF4-FFF2-40B4-BE49-F238E27FC236}">
                        <a16:creationId xmlns:a16="http://schemas.microsoft.com/office/drawing/2014/main" id="{4F7B19B1-E398-AC28-5C49-C18755ACCAA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760220" y="4319884"/>
                    <a:ext cx="358140" cy="137950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1" name="Straight Arrow Connector 230">
                    <a:extLst>
                      <a:ext uri="{FF2B5EF4-FFF2-40B4-BE49-F238E27FC236}">
                        <a16:creationId xmlns:a16="http://schemas.microsoft.com/office/drawing/2014/main" id="{77F0B686-226B-288F-198B-4870528979EB}"/>
                      </a:ext>
                    </a:extLst>
                  </p:cNvPr>
                  <p:cNvCxnSpPr/>
                  <p:nvPr/>
                </p:nvCxnSpPr>
                <p:spPr>
                  <a:xfrm>
                    <a:off x="1961876" y="4048450"/>
                    <a:ext cx="6595" cy="272090"/>
                  </a:xfrm>
                  <a:prstGeom prst="straightConnector1">
                    <a:avLst/>
                  </a:prstGeom>
                  <a:ln>
                    <a:solidFill>
                      <a:srgbClr val="FFFF0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2" name="Straight Connector 231">
                    <a:extLst>
                      <a:ext uri="{FF2B5EF4-FFF2-40B4-BE49-F238E27FC236}">
                        <a16:creationId xmlns:a16="http://schemas.microsoft.com/office/drawing/2014/main" id="{C9C83619-101C-5811-4E61-A237785580B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760220" y="4259682"/>
                    <a:ext cx="358140" cy="144678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242" name="Group 241">
              <a:extLst>
                <a:ext uri="{FF2B5EF4-FFF2-40B4-BE49-F238E27FC236}">
                  <a16:creationId xmlns:a16="http://schemas.microsoft.com/office/drawing/2014/main" id="{B08279D8-2E55-DB12-FD1A-F5378F5402F0}"/>
                </a:ext>
              </a:extLst>
            </p:cNvPr>
            <p:cNvGrpSpPr/>
            <p:nvPr/>
          </p:nvGrpSpPr>
          <p:grpSpPr>
            <a:xfrm>
              <a:off x="6526995" y="4147206"/>
              <a:ext cx="4730464" cy="1149575"/>
              <a:chOff x="2814243" y="4233585"/>
              <a:chExt cx="4730464" cy="1149575"/>
            </a:xfrm>
          </p:grpSpPr>
          <p:grpSp>
            <p:nvGrpSpPr>
              <p:cNvPr id="243" name="Group 242">
                <a:extLst>
                  <a:ext uri="{FF2B5EF4-FFF2-40B4-BE49-F238E27FC236}">
                    <a16:creationId xmlns:a16="http://schemas.microsoft.com/office/drawing/2014/main" id="{D7E0B08D-F6BD-22B1-322F-2EFBAC6E29CA}"/>
                  </a:ext>
                </a:extLst>
              </p:cNvPr>
              <p:cNvGrpSpPr/>
              <p:nvPr/>
            </p:nvGrpSpPr>
            <p:grpSpPr>
              <a:xfrm>
                <a:off x="2814243" y="4753748"/>
                <a:ext cx="4344601" cy="629412"/>
                <a:chOff x="1495058" y="4610742"/>
                <a:chExt cx="4344601" cy="629412"/>
              </a:xfrm>
            </p:grpSpPr>
            <p:sp>
              <p:nvSpPr>
                <p:cNvPr id="248" name="Rectangle 247">
                  <a:extLst>
                    <a:ext uri="{FF2B5EF4-FFF2-40B4-BE49-F238E27FC236}">
                      <a16:creationId xmlns:a16="http://schemas.microsoft.com/office/drawing/2014/main" id="{B43670D6-E3D3-C328-DCFE-1D55BC22ED2B}"/>
                    </a:ext>
                  </a:extLst>
                </p:cNvPr>
                <p:cNvSpPr/>
                <p:nvPr/>
              </p:nvSpPr>
              <p:spPr>
                <a:xfrm>
                  <a:off x="2993759" y="4687704"/>
                  <a:ext cx="1208285" cy="475488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dirty="0">
                      <a:latin typeface="LM Roman 12" panose="00000500000000000000" pitchFamily="50" charset="0"/>
                    </a:rPr>
                    <a:t>default action</a:t>
                  </a:r>
                </a:p>
              </p:txBody>
            </p:sp>
            <p:sp>
              <p:nvSpPr>
                <p:cNvPr id="249" name="Rectangle 248">
                  <a:extLst>
                    <a:ext uri="{FF2B5EF4-FFF2-40B4-BE49-F238E27FC236}">
                      <a16:creationId xmlns:a16="http://schemas.microsoft.com/office/drawing/2014/main" id="{EAF37789-607C-5FE0-A1A7-A1CB41CF1AA9}"/>
                    </a:ext>
                  </a:extLst>
                </p:cNvPr>
                <p:cNvSpPr/>
                <p:nvPr/>
              </p:nvSpPr>
              <p:spPr>
                <a:xfrm>
                  <a:off x="4631374" y="4673066"/>
                  <a:ext cx="1208285" cy="475488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dirty="0">
                      <a:latin typeface="LM Roman 12" panose="00000500000000000000" pitchFamily="50" charset="0"/>
                    </a:rPr>
                    <a:t>Break</a:t>
                  </a:r>
                </a:p>
              </p:txBody>
            </p:sp>
            <p:cxnSp>
              <p:nvCxnSpPr>
                <p:cNvPr id="250" name="Straight Arrow Connector 249">
                  <a:extLst>
                    <a:ext uri="{FF2B5EF4-FFF2-40B4-BE49-F238E27FC236}">
                      <a16:creationId xmlns:a16="http://schemas.microsoft.com/office/drawing/2014/main" id="{29DE87EC-911B-B608-9326-E267AD69A347}"/>
                    </a:ext>
                  </a:extLst>
                </p:cNvPr>
                <p:cNvCxnSpPr>
                  <a:cxnSpLocks/>
                  <a:stCxn id="248" idx="3"/>
                  <a:endCxn id="249" idx="1"/>
                </p:cNvCxnSpPr>
                <p:nvPr/>
              </p:nvCxnSpPr>
              <p:spPr>
                <a:xfrm flipV="1">
                  <a:off x="4202044" y="4910810"/>
                  <a:ext cx="429330" cy="14638"/>
                </a:xfrm>
                <a:prstGeom prst="straightConnector1">
                  <a:avLst/>
                </a:prstGeom>
                <a:ln>
                  <a:solidFill>
                    <a:srgbClr val="FFFF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51" name="Group 250">
                  <a:extLst>
                    <a:ext uri="{FF2B5EF4-FFF2-40B4-BE49-F238E27FC236}">
                      <a16:creationId xmlns:a16="http://schemas.microsoft.com/office/drawing/2014/main" id="{E73A1968-A84F-3DC9-41C2-0FFA106CD887}"/>
                    </a:ext>
                  </a:extLst>
                </p:cNvPr>
                <p:cNvGrpSpPr/>
                <p:nvPr/>
              </p:nvGrpSpPr>
              <p:grpSpPr>
                <a:xfrm>
                  <a:off x="1495058" y="4610742"/>
                  <a:ext cx="914400" cy="629412"/>
                  <a:chOff x="1455313" y="4599509"/>
                  <a:chExt cx="914400" cy="629412"/>
                </a:xfrm>
              </p:grpSpPr>
              <p:sp>
                <p:nvSpPr>
                  <p:cNvPr id="253" name="Flowchart: Decision 252">
                    <a:extLst>
                      <a:ext uri="{FF2B5EF4-FFF2-40B4-BE49-F238E27FC236}">
                        <a16:creationId xmlns:a16="http://schemas.microsoft.com/office/drawing/2014/main" id="{F88C7392-2F12-AE17-92BB-1D6EEA3ACFEA}"/>
                      </a:ext>
                    </a:extLst>
                  </p:cNvPr>
                  <p:cNvSpPr/>
                  <p:nvPr/>
                </p:nvSpPr>
                <p:spPr>
                  <a:xfrm>
                    <a:off x="1455313" y="4599509"/>
                    <a:ext cx="914400" cy="629412"/>
                  </a:xfrm>
                  <a:prstGeom prst="flowChartDecision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>
                    <a:outerShdw blurRad="44450" dist="27940" dir="5400000" algn="ctr">
                      <a:srgbClr val="000000">
                        <a:alpha val="32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balanced" dir="t">
                      <a:rot lat="0" lon="0" rev="8700000"/>
                    </a:lightRig>
                  </a:scene3d>
                  <a:sp3d>
                    <a:bevelT w="190500" h="38100"/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ZA" sz="1000" dirty="0"/>
                  </a:p>
                </p:txBody>
              </p:sp>
              <p:sp>
                <p:nvSpPr>
                  <p:cNvPr id="254" name="TextBox 253">
                    <a:extLst>
                      <a:ext uri="{FF2B5EF4-FFF2-40B4-BE49-F238E27FC236}">
                        <a16:creationId xmlns:a16="http://schemas.microsoft.com/office/drawing/2014/main" id="{0F60C4AB-2E20-39C5-3713-4C654A640FDA}"/>
                      </a:ext>
                    </a:extLst>
                  </p:cNvPr>
                  <p:cNvSpPr txBox="1"/>
                  <p:nvPr/>
                </p:nvSpPr>
                <p:spPr>
                  <a:xfrm>
                    <a:off x="1494152" y="4714911"/>
                    <a:ext cx="86914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ZA" dirty="0">
                        <a:solidFill>
                          <a:schemeClr val="bg1"/>
                        </a:solidFill>
                        <a:latin typeface="LM Roman 12" panose="00000500000000000000" pitchFamily="50" charset="0"/>
                      </a:rPr>
                      <a:t>default</a:t>
                    </a:r>
                  </a:p>
                </p:txBody>
              </p:sp>
            </p:grpSp>
            <p:cxnSp>
              <p:nvCxnSpPr>
                <p:cNvPr id="252" name="Straight Arrow Connector 251">
                  <a:extLst>
                    <a:ext uri="{FF2B5EF4-FFF2-40B4-BE49-F238E27FC236}">
                      <a16:creationId xmlns:a16="http://schemas.microsoft.com/office/drawing/2014/main" id="{B5294EDB-3D27-D31D-67BA-79FF8E93E0E9}"/>
                    </a:ext>
                  </a:extLst>
                </p:cNvPr>
                <p:cNvCxnSpPr>
                  <a:cxnSpLocks/>
                  <a:stCxn id="254" idx="3"/>
                  <a:endCxn id="248" idx="1"/>
                </p:cNvCxnSpPr>
                <p:nvPr/>
              </p:nvCxnSpPr>
              <p:spPr>
                <a:xfrm>
                  <a:off x="2403046" y="4910810"/>
                  <a:ext cx="590713" cy="14638"/>
                </a:xfrm>
                <a:prstGeom prst="straightConnector1">
                  <a:avLst/>
                </a:prstGeom>
                <a:ln>
                  <a:solidFill>
                    <a:srgbClr val="FFFF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44" name="Straight Arrow Connector 243">
                <a:extLst>
                  <a:ext uri="{FF2B5EF4-FFF2-40B4-BE49-F238E27FC236}">
                    <a16:creationId xmlns:a16="http://schemas.microsoft.com/office/drawing/2014/main" id="{12F025DA-BB73-6200-537A-925C73895408}"/>
                  </a:ext>
                </a:extLst>
              </p:cNvPr>
              <p:cNvCxnSpPr>
                <a:cxnSpLocks/>
                <a:endCxn id="253" idx="0"/>
              </p:cNvCxnSpPr>
              <p:nvPr/>
            </p:nvCxnSpPr>
            <p:spPr>
              <a:xfrm>
                <a:off x="3271443" y="4547366"/>
                <a:ext cx="0" cy="206382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" name="Straight Connector 244">
                <a:extLst>
                  <a:ext uri="{FF2B5EF4-FFF2-40B4-BE49-F238E27FC236}">
                    <a16:creationId xmlns:a16="http://schemas.microsoft.com/office/drawing/2014/main" id="{A0BA5280-C6EB-3D94-B01C-A384B0DD30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58844" y="5068454"/>
                <a:ext cx="378261" cy="0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6" name="TextBox 245">
                <a:extLst>
                  <a:ext uri="{FF2B5EF4-FFF2-40B4-BE49-F238E27FC236}">
                    <a16:creationId xmlns:a16="http://schemas.microsoft.com/office/drawing/2014/main" id="{E8D24B68-6BD8-42A2-1E8C-9DB6FE925EB3}"/>
                  </a:ext>
                </a:extLst>
              </p:cNvPr>
              <p:cNvSpPr txBox="1"/>
              <p:nvPr/>
            </p:nvSpPr>
            <p:spPr>
              <a:xfrm>
                <a:off x="3361987" y="4447286"/>
                <a:ext cx="393889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000" b="1" dirty="0">
                    <a:latin typeface="LM Roman 12" panose="00000500000000000000" pitchFamily="50" charset="0"/>
                  </a:rPr>
                  <a:t>Otherwise do this default action</a:t>
                </a:r>
              </a:p>
            </p:txBody>
          </p:sp>
          <p:cxnSp>
            <p:nvCxnSpPr>
              <p:cNvPr id="247" name="Straight Arrow Connector 246">
                <a:extLst>
                  <a:ext uri="{FF2B5EF4-FFF2-40B4-BE49-F238E27FC236}">
                    <a16:creationId xmlns:a16="http://schemas.microsoft.com/office/drawing/2014/main" id="{F75CA267-DCD9-BA93-77C8-3AD861EAC4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44707" y="4233585"/>
                <a:ext cx="0" cy="834869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7E67C09-0E29-B174-966B-405A259A22B1}"/>
              </a:ext>
            </a:extLst>
          </p:cNvPr>
          <p:cNvSpPr txBox="1"/>
          <p:nvPr/>
        </p:nvSpPr>
        <p:spPr>
          <a:xfrm>
            <a:off x="1946437" y="5047175"/>
            <a:ext cx="302230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5400" b="1" dirty="0"/>
              <a:t>for/while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623BC49-BC00-E82E-47FC-58091E140B53}"/>
              </a:ext>
            </a:extLst>
          </p:cNvPr>
          <p:cNvGrpSpPr/>
          <p:nvPr/>
        </p:nvGrpSpPr>
        <p:grpSpPr>
          <a:xfrm>
            <a:off x="2051377" y="1500098"/>
            <a:ext cx="1208285" cy="3217622"/>
            <a:chOff x="6237516" y="2021745"/>
            <a:chExt cx="1208285" cy="3217622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FE09DF7-3D3B-6102-02DB-D7452DD9B9F8}"/>
                </a:ext>
              </a:extLst>
            </p:cNvPr>
            <p:cNvSpPr/>
            <p:nvPr/>
          </p:nvSpPr>
          <p:spPr>
            <a:xfrm>
              <a:off x="6388209" y="2021745"/>
              <a:ext cx="914400" cy="47548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start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12AD0E3-1E07-5450-B0C4-88B92754D638}"/>
                </a:ext>
              </a:extLst>
            </p:cNvPr>
            <p:cNvSpPr/>
            <p:nvPr/>
          </p:nvSpPr>
          <p:spPr>
            <a:xfrm>
              <a:off x="6384459" y="4763879"/>
              <a:ext cx="914400" cy="47548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end</a:t>
              </a:r>
            </a:p>
          </p:txBody>
        </p:sp>
        <p:sp>
          <p:nvSpPr>
            <p:cNvPr id="13" name="Flowchart: Decision 12">
              <a:extLst>
                <a:ext uri="{FF2B5EF4-FFF2-40B4-BE49-F238E27FC236}">
                  <a16:creationId xmlns:a16="http://schemas.microsoft.com/office/drawing/2014/main" id="{8CDBDC99-3665-6FBE-5313-FF1D53731089}"/>
                </a:ext>
              </a:extLst>
            </p:cNvPr>
            <p:cNvSpPr/>
            <p:nvPr/>
          </p:nvSpPr>
          <p:spPr>
            <a:xfrm>
              <a:off x="6384458" y="2932335"/>
              <a:ext cx="914400" cy="629412"/>
            </a:xfrm>
            <a:prstGeom prst="flowChartDecision">
              <a:avLst/>
            </a:prstGeom>
            <a:solidFill>
              <a:srgbClr val="FF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C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3E1CD522-0DDC-E9FE-BB45-D198AF5945F6}"/>
                </a:ext>
              </a:extLst>
            </p:cNvPr>
            <p:cNvCxnSpPr>
              <a:cxnSpLocks/>
              <a:stCxn id="11" idx="4"/>
              <a:endCxn id="13" idx="0"/>
            </p:cNvCxnSpPr>
            <p:nvPr/>
          </p:nvCxnSpPr>
          <p:spPr>
            <a:xfrm flipH="1">
              <a:off x="6841658" y="2497233"/>
              <a:ext cx="3751" cy="435102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A5013FB-D9D0-593B-A8AD-87B4C7370073}"/>
                </a:ext>
              </a:extLst>
            </p:cNvPr>
            <p:cNvSpPr/>
            <p:nvPr/>
          </p:nvSpPr>
          <p:spPr>
            <a:xfrm>
              <a:off x="6237516" y="3868300"/>
              <a:ext cx="1208285" cy="47548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Do this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8EFE29A1-3883-AE34-97A5-9E132170A934}"/>
                </a:ext>
              </a:extLst>
            </p:cNvPr>
            <p:cNvCxnSpPr>
              <a:stCxn id="13" idx="2"/>
              <a:endCxn id="15" idx="0"/>
            </p:cNvCxnSpPr>
            <p:nvPr/>
          </p:nvCxnSpPr>
          <p:spPr>
            <a:xfrm>
              <a:off x="6841658" y="3561747"/>
              <a:ext cx="1" cy="306553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: Elbow 18">
              <a:extLst>
                <a:ext uri="{FF2B5EF4-FFF2-40B4-BE49-F238E27FC236}">
                  <a16:creationId xmlns:a16="http://schemas.microsoft.com/office/drawing/2014/main" id="{003E5BAD-09FF-BBD6-3E9D-6102ED436E22}"/>
                </a:ext>
              </a:extLst>
            </p:cNvPr>
            <p:cNvCxnSpPr>
              <a:stCxn id="15" idx="3"/>
              <a:endCxn id="13" idx="3"/>
            </p:cNvCxnSpPr>
            <p:nvPr/>
          </p:nvCxnSpPr>
          <p:spPr>
            <a:xfrm flipH="1" flipV="1">
              <a:off x="7298858" y="3247041"/>
              <a:ext cx="146943" cy="859003"/>
            </a:xfrm>
            <a:prstGeom prst="bentConnector3">
              <a:avLst>
                <a:gd name="adj1" fmla="val -155571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: Elbow 19">
              <a:extLst>
                <a:ext uri="{FF2B5EF4-FFF2-40B4-BE49-F238E27FC236}">
                  <a16:creationId xmlns:a16="http://schemas.microsoft.com/office/drawing/2014/main" id="{098BC71E-BDA2-E9E3-6527-BB9A6156CEE4}"/>
                </a:ext>
              </a:extLst>
            </p:cNvPr>
            <p:cNvCxnSpPr>
              <a:stCxn id="13" idx="1"/>
              <a:endCxn id="12" idx="2"/>
            </p:cNvCxnSpPr>
            <p:nvPr/>
          </p:nvCxnSpPr>
          <p:spPr>
            <a:xfrm rot="10800000" flipH="1" flipV="1">
              <a:off x="6384457" y="3247041"/>
              <a:ext cx="1" cy="1754582"/>
            </a:xfrm>
            <a:prstGeom prst="bentConnector3">
              <a:avLst>
                <a:gd name="adj1" fmla="val -2286000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DBA21294-663B-A736-3723-0F970F66436B}"/>
              </a:ext>
            </a:extLst>
          </p:cNvPr>
          <p:cNvSpPr txBox="1"/>
          <p:nvPr/>
        </p:nvSpPr>
        <p:spPr>
          <a:xfrm>
            <a:off x="6524533" y="5047175"/>
            <a:ext cx="283282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5400" b="1" dirty="0"/>
              <a:t>do while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0F3FB4A-BE66-E557-5550-BCE09EC7D940}"/>
              </a:ext>
            </a:extLst>
          </p:cNvPr>
          <p:cNvGrpSpPr/>
          <p:nvPr/>
        </p:nvGrpSpPr>
        <p:grpSpPr>
          <a:xfrm>
            <a:off x="7486426" y="1492824"/>
            <a:ext cx="1208285" cy="3224896"/>
            <a:chOff x="9770613" y="1753798"/>
            <a:chExt cx="1208285" cy="3224896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28AF672-9FE3-338F-1E96-A47ED99DA96D}"/>
                </a:ext>
              </a:extLst>
            </p:cNvPr>
            <p:cNvSpPr/>
            <p:nvPr/>
          </p:nvSpPr>
          <p:spPr>
            <a:xfrm>
              <a:off x="9917555" y="1753798"/>
              <a:ext cx="914400" cy="47548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start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1436AC1-19F4-3E85-1D67-1D7637B0AB45}"/>
                </a:ext>
              </a:extLst>
            </p:cNvPr>
            <p:cNvSpPr/>
            <p:nvPr/>
          </p:nvSpPr>
          <p:spPr>
            <a:xfrm>
              <a:off x="9917555" y="4503206"/>
              <a:ext cx="914400" cy="47548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end</a:t>
              </a:r>
            </a:p>
          </p:txBody>
        </p:sp>
        <p:sp>
          <p:nvSpPr>
            <p:cNvPr id="28" name="Flowchart: Decision 27">
              <a:extLst>
                <a:ext uri="{FF2B5EF4-FFF2-40B4-BE49-F238E27FC236}">
                  <a16:creationId xmlns:a16="http://schemas.microsoft.com/office/drawing/2014/main" id="{3A9F3A2A-F6F7-A827-BA8C-4604F2DA4982}"/>
                </a:ext>
              </a:extLst>
            </p:cNvPr>
            <p:cNvSpPr/>
            <p:nvPr/>
          </p:nvSpPr>
          <p:spPr>
            <a:xfrm>
              <a:off x="9917555" y="3643817"/>
              <a:ext cx="914400" cy="629412"/>
            </a:xfrm>
            <a:prstGeom prst="flowChartDecision">
              <a:avLst/>
            </a:prstGeom>
            <a:solidFill>
              <a:srgbClr val="FF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C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B5F4737-8D95-9145-A379-75D6959D7E5C}"/>
                </a:ext>
              </a:extLst>
            </p:cNvPr>
            <p:cNvSpPr/>
            <p:nvPr/>
          </p:nvSpPr>
          <p:spPr>
            <a:xfrm>
              <a:off x="9770613" y="2774937"/>
              <a:ext cx="1208285" cy="47548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Do this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EE7BC366-A656-9A93-359B-5460FA144466}"/>
                </a:ext>
              </a:extLst>
            </p:cNvPr>
            <p:cNvCxnSpPr>
              <a:stCxn id="23" idx="4"/>
              <a:endCxn id="30" idx="0"/>
            </p:cNvCxnSpPr>
            <p:nvPr/>
          </p:nvCxnSpPr>
          <p:spPr>
            <a:xfrm>
              <a:off x="10374755" y="2229286"/>
              <a:ext cx="1" cy="54565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2A3BDDC7-2537-4732-07A9-A5AAA22EF3C2}"/>
                </a:ext>
              </a:extLst>
            </p:cNvPr>
            <p:cNvCxnSpPr>
              <a:stCxn id="30" idx="2"/>
              <a:endCxn id="28" idx="0"/>
            </p:cNvCxnSpPr>
            <p:nvPr/>
          </p:nvCxnSpPr>
          <p:spPr>
            <a:xfrm flipH="1">
              <a:off x="10374755" y="3250425"/>
              <a:ext cx="1" cy="39339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: Elbow 32">
              <a:extLst>
                <a:ext uri="{FF2B5EF4-FFF2-40B4-BE49-F238E27FC236}">
                  <a16:creationId xmlns:a16="http://schemas.microsoft.com/office/drawing/2014/main" id="{27DE58C2-34DE-AEA3-64CE-C41B22FD72EE}"/>
                </a:ext>
              </a:extLst>
            </p:cNvPr>
            <p:cNvCxnSpPr>
              <a:stCxn id="28" idx="1"/>
              <a:endCxn id="25" idx="2"/>
            </p:cNvCxnSpPr>
            <p:nvPr/>
          </p:nvCxnSpPr>
          <p:spPr>
            <a:xfrm rot="10800000" flipV="1">
              <a:off x="9917555" y="3958522"/>
              <a:ext cx="12700" cy="782427"/>
            </a:xfrm>
            <a:prstGeom prst="bentConnector3">
              <a:avLst>
                <a:gd name="adj1" fmla="val 180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or: Elbow 33">
              <a:extLst>
                <a:ext uri="{FF2B5EF4-FFF2-40B4-BE49-F238E27FC236}">
                  <a16:creationId xmlns:a16="http://schemas.microsoft.com/office/drawing/2014/main" id="{906969C5-4023-57A9-8E58-CC2B66E086DA}"/>
                </a:ext>
              </a:extLst>
            </p:cNvPr>
            <p:cNvCxnSpPr>
              <a:stCxn id="28" idx="3"/>
            </p:cNvCxnSpPr>
            <p:nvPr/>
          </p:nvCxnSpPr>
          <p:spPr>
            <a:xfrm flipH="1" flipV="1">
              <a:off x="10374755" y="2354794"/>
              <a:ext cx="457200" cy="1603729"/>
            </a:xfrm>
            <a:prstGeom prst="bentConnector4">
              <a:avLst>
                <a:gd name="adj1" fmla="val -184000"/>
                <a:gd name="adj2" fmla="val 100294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210629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C95EB-9F8D-698A-6114-723282750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C1D50217-28DA-732D-E3E6-AE02FB13ADB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C1D50217-28DA-732D-E3E6-AE02FB13AD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18C7B87F-FCDE-3E54-C469-FDD4B83732E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0DBDE11-EFCA-F3C4-5A56-F8F1B7CEAE8E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4	pg. 55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7D9AA78-F57D-C615-6928-ECAB77BC0C0D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442399D-CAA6-DE0E-E9A2-97B314AE9CDD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997B8EF-45BF-89BC-D3F8-46B6A4B2B4A4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840D3A0B-8C67-8CA0-A87F-AC863B06632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649457D-DD8B-EBAF-D78B-EF37F00F90C2}"/>
                </a:ext>
              </a:extLst>
            </p:cNvPr>
            <p:cNvSpPr txBox="1"/>
            <p:nvPr/>
          </p:nvSpPr>
          <p:spPr>
            <a:xfrm>
              <a:off x="2488042" y="184666"/>
              <a:ext cx="72825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05 August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8FDA103-727E-F4CD-D56E-880158D46D63}"/>
              </a:ext>
            </a:extLst>
          </p:cNvPr>
          <p:cNvGrpSpPr/>
          <p:nvPr/>
        </p:nvGrpSpPr>
        <p:grpSpPr>
          <a:xfrm>
            <a:off x="-11219483" y="1926111"/>
            <a:ext cx="1208285" cy="4401598"/>
            <a:chOff x="264945" y="1721026"/>
            <a:chExt cx="1208285" cy="440159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0BA4E8B-2E70-963D-580A-CF88E7D20E2F}"/>
                </a:ext>
              </a:extLst>
            </p:cNvPr>
            <p:cNvGrpSpPr/>
            <p:nvPr/>
          </p:nvGrpSpPr>
          <p:grpSpPr>
            <a:xfrm>
              <a:off x="264945" y="1721026"/>
              <a:ext cx="1208285" cy="3217622"/>
              <a:chOff x="171820" y="1399032"/>
              <a:chExt cx="1208285" cy="3217622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421FB02E-317E-29DA-CB96-FC1EF5F536D1}"/>
                  </a:ext>
                </a:extLst>
              </p:cNvPr>
              <p:cNvSpPr/>
              <p:nvPr/>
            </p:nvSpPr>
            <p:spPr>
              <a:xfrm>
                <a:off x="322513" y="1399032"/>
                <a:ext cx="914400" cy="47548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/>
                  <a:t>start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22C1FCAF-4381-3F10-7CE9-504E72D833E1}"/>
                  </a:ext>
                </a:extLst>
              </p:cNvPr>
              <p:cNvSpPr/>
              <p:nvPr/>
            </p:nvSpPr>
            <p:spPr>
              <a:xfrm>
                <a:off x="318763" y="4141166"/>
                <a:ext cx="914400" cy="47548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/>
                  <a:t>end</a:t>
                </a:r>
              </a:p>
            </p:txBody>
          </p:sp>
          <p:sp>
            <p:nvSpPr>
              <p:cNvPr id="68" name="Flowchart: Decision 67">
                <a:extLst>
                  <a:ext uri="{FF2B5EF4-FFF2-40B4-BE49-F238E27FC236}">
                    <a16:creationId xmlns:a16="http://schemas.microsoft.com/office/drawing/2014/main" id="{7E9A2DB5-0573-80D1-0103-A736F5E3EB5D}"/>
                  </a:ext>
                </a:extLst>
              </p:cNvPr>
              <p:cNvSpPr/>
              <p:nvPr/>
            </p:nvSpPr>
            <p:spPr>
              <a:xfrm>
                <a:off x="318762" y="2309622"/>
                <a:ext cx="914400" cy="629412"/>
              </a:xfrm>
              <a:prstGeom prst="flowChartDecision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/>
                  <a:t>C</a:t>
                </a:r>
              </a:p>
            </p:txBody>
          </p:sp>
          <p:cxnSp>
            <p:nvCxnSpPr>
              <p:cNvPr id="69" name="Straight Arrow Connector 68">
                <a:extLst>
                  <a:ext uri="{FF2B5EF4-FFF2-40B4-BE49-F238E27FC236}">
                    <a16:creationId xmlns:a16="http://schemas.microsoft.com/office/drawing/2014/main" id="{0917B4C8-118A-CB67-E045-1F65F143392A}"/>
                  </a:ext>
                </a:extLst>
              </p:cNvPr>
              <p:cNvCxnSpPr>
                <a:cxnSpLocks/>
                <a:stCxn id="8" idx="4"/>
                <a:endCxn id="68" idx="0"/>
              </p:cNvCxnSpPr>
              <p:nvPr/>
            </p:nvCxnSpPr>
            <p:spPr>
              <a:xfrm flipH="1">
                <a:off x="775962" y="1874520"/>
                <a:ext cx="3751" cy="435102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5280A539-5AEE-46DC-D042-73AA917FF36F}"/>
                  </a:ext>
                </a:extLst>
              </p:cNvPr>
              <p:cNvSpPr/>
              <p:nvPr/>
            </p:nvSpPr>
            <p:spPr>
              <a:xfrm>
                <a:off x="171820" y="3245587"/>
                <a:ext cx="1208285" cy="47548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/>
                  <a:t>Do this</a:t>
                </a:r>
              </a:p>
            </p:txBody>
          </p: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E3272423-46EA-7F12-6303-546E5205E6D2}"/>
                  </a:ext>
                </a:extLst>
              </p:cNvPr>
              <p:cNvCxnSpPr>
                <a:stCxn id="68" idx="2"/>
                <a:endCxn id="70" idx="0"/>
              </p:cNvCxnSpPr>
              <p:nvPr/>
            </p:nvCxnSpPr>
            <p:spPr>
              <a:xfrm>
                <a:off x="775962" y="2939034"/>
                <a:ext cx="1" cy="306553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C219A12B-AE1A-2169-AA39-00AD610F4379}"/>
                  </a:ext>
                </a:extLst>
              </p:cNvPr>
              <p:cNvCxnSpPr>
                <a:cxnSpLocks/>
                <a:stCxn id="70" idx="2"/>
                <a:endCxn id="10" idx="0"/>
              </p:cNvCxnSpPr>
              <p:nvPr/>
            </p:nvCxnSpPr>
            <p:spPr>
              <a:xfrm>
                <a:off x="775963" y="3721075"/>
                <a:ext cx="0" cy="420091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FF59FA50-441D-C0AE-CE64-273E1F334180}"/>
                </a:ext>
              </a:extLst>
            </p:cNvPr>
            <p:cNvSpPr txBox="1"/>
            <p:nvPr/>
          </p:nvSpPr>
          <p:spPr>
            <a:xfrm>
              <a:off x="560989" y="5199294"/>
              <a:ext cx="60305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5400" b="1" dirty="0"/>
                <a:t>if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1B8CBE3E-9E2A-1DDB-DB56-98E7E3803201}"/>
              </a:ext>
            </a:extLst>
          </p:cNvPr>
          <p:cNvGrpSpPr/>
          <p:nvPr/>
        </p:nvGrpSpPr>
        <p:grpSpPr>
          <a:xfrm>
            <a:off x="-9284378" y="1857302"/>
            <a:ext cx="4147703" cy="4470407"/>
            <a:chOff x="2200050" y="1652217"/>
            <a:chExt cx="4147703" cy="4470407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D34C8FEF-A98C-8901-6E2E-41536A212D20}"/>
                </a:ext>
              </a:extLst>
            </p:cNvPr>
            <p:cNvSpPr txBox="1"/>
            <p:nvPr/>
          </p:nvSpPr>
          <p:spPr>
            <a:xfrm>
              <a:off x="3331978" y="5199294"/>
              <a:ext cx="202972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5400" b="1" dirty="0"/>
                <a:t>if</a:t>
              </a:r>
              <a:r>
                <a:rPr lang="en-ZA" sz="3600" b="1" dirty="0"/>
                <a:t> </a:t>
              </a:r>
              <a:r>
                <a:rPr lang="en-ZA" sz="5400" b="1" dirty="0"/>
                <a:t>else</a:t>
              </a:r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D3D8FAC0-2262-CCE0-51C1-E7E796410CEE}"/>
                </a:ext>
              </a:extLst>
            </p:cNvPr>
            <p:cNvGrpSpPr/>
            <p:nvPr/>
          </p:nvGrpSpPr>
          <p:grpSpPr>
            <a:xfrm>
              <a:off x="2200050" y="1652217"/>
              <a:ext cx="2527130" cy="3217622"/>
              <a:chOff x="2393679" y="1751380"/>
              <a:chExt cx="2527130" cy="3217622"/>
            </a:xfrm>
          </p:grpSpPr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BB127A32-B302-B77D-4E9C-FF019852B6D0}"/>
                  </a:ext>
                </a:extLst>
              </p:cNvPr>
              <p:cNvCxnSpPr>
                <a:stCxn id="85" idx="2"/>
                <a:endCxn id="81" idx="0"/>
              </p:cNvCxnSpPr>
              <p:nvPr/>
            </p:nvCxnSpPr>
            <p:spPr>
              <a:xfrm>
                <a:off x="4459858" y="3291382"/>
                <a:ext cx="1" cy="1202132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0" name="Group 79">
                <a:extLst>
                  <a:ext uri="{FF2B5EF4-FFF2-40B4-BE49-F238E27FC236}">
                    <a16:creationId xmlns:a16="http://schemas.microsoft.com/office/drawing/2014/main" id="{FD7B46F2-1A66-39C3-FFB2-CC93D03E8456}"/>
                  </a:ext>
                </a:extLst>
              </p:cNvPr>
              <p:cNvGrpSpPr/>
              <p:nvPr/>
            </p:nvGrpSpPr>
            <p:grpSpPr>
              <a:xfrm>
                <a:off x="2393679" y="1751380"/>
                <a:ext cx="2527130" cy="3217622"/>
                <a:chOff x="2393679" y="1751380"/>
                <a:chExt cx="2527130" cy="3217622"/>
              </a:xfrm>
            </p:grpSpPr>
            <p:sp>
              <p:nvSpPr>
                <p:cNvPr id="81" name="Oval 80">
                  <a:extLst>
                    <a:ext uri="{FF2B5EF4-FFF2-40B4-BE49-F238E27FC236}">
                      <a16:creationId xmlns:a16="http://schemas.microsoft.com/office/drawing/2014/main" id="{66E17E18-D561-3275-4C9B-37DB04E86679}"/>
                    </a:ext>
                  </a:extLst>
                </p:cNvPr>
                <p:cNvSpPr/>
                <p:nvPr/>
              </p:nvSpPr>
              <p:spPr>
                <a:xfrm>
                  <a:off x="4002659" y="4493514"/>
                  <a:ext cx="914400" cy="47548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dirty="0"/>
                    <a:t>end</a:t>
                  </a:r>
                </a:p>
              </p:txBody>
            </p:sp>
            <p:grpSp>
              <p:nvGrpSpPr>
                <p:cNvPr id="82" name="Group 81">
                  <a:extLst>
                    <a:ext uri="{FF2B5EF4-FFF2-40B4-BE49-F238E27FC236}">
                      <a16:creationId xmlns:a16="http://schemas.microsoft.com/office/drawing/2014/main" id="{1CEEB451-55F0-EF60-955E-1B55E5289B58}"/>
                    </a:ext>
                  </a:extLst>
                </p:cNvPr>
                <p:cNvGrpSpPr/>
                <p:nvPr/>
              </p:nvGrpSpPr>
              <p:grpSpPr>
                <a:xfrm>
                  <a:off x="2393679" y="1751380"/>
                  <a:ext cx="2527130" cy="2824771"/>
                  <a:chOff x="2393679" y="1751380"/>
                  <a:chExt cx="2527130" cy="2824771"/>
                </a:xfrm>
              </p:grpSpPr>
              <p:cxnSp>
                <p:nvCxnSpPr>
                  <p:cNvPr id="83" name="Straight Arrow Connector 82">
                    <a:extLst>
                      <a:ext uri="{FF2B5EF4-FFF2-40B4-BE49-F238E27FC236}">
                        <a16:creationId xmlns:a16="http://schemas.microsoft.com/office/drawing/2014/main" id="{E1EC5FDF-98E0-6FCA-D902-9F0E159109D5}"/>
                      </a:ext>
                    </a:extLst>
                  </p:cNvPr>
                  <p:cNvCxnSpPr>
                    <a:stCxn id="85" idx="1"/>
                    <a:endCxn id="87" idx="3"/>
                  </p:cNvCxnSpPr>
                  <p:nvPr/>
                </p:nvCxnSpPr>
                <p:spPr>
                  <a:xfrm flipH="1" flipV="1">
                    <a:off x="3601964" y="2968523"/>
                    <a:ext cx="400694" cy="8153"/>
                  </a:xfrm>
                  <a:prstGeom prst="straightConnector1">
                    <a:avLst/>
                  </a:prstGeom>
                  <a:ln>
                    <a:solidFill>
                      <a:srgbClr val="00B05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4" name="Oval 83">
                    <a:extLst>
                      <a:ext uri="{FF2B5EF4-FFF2-40B4-BE49-F238E27FC236}">
                        <a16:creationId xmlns:a16="http://schemas.microsoft.com/office/drawing/2014/main" id="{FC6BD8E5-9359-77D6-FD51-40D4388F4BE0}"/>
                      </a:ext>
                    </a:extLst>
                  </p:cNvPr>
                  <p:cNvSpPr/>
                  <p:nvPr/>
                </p:nvSpPr>
                <p:spPr>
                  <a:xfrm>
                    <a:off x="4006409" y="1751380"/>
                    <a:ext cx="914400" cy="475488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>
                    <a:outerShdw blurRad="44450" dist="27940" dir="5400000" algn="ctr">
                      <a:srgbClr val="000000">
                        <a:alpha val="32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balanced" dir="t">
                      <a:rot lat="0" lon="0" rev="8700000"/>
                    </a:lightRig>
                  </a:scene3d>
                  <a:sp3d>
                    <a:bevelT w="190500" h="38100"/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ZA" dirty="0"/>
                      <a:t>start</a:t>
                    </a:r>
                  </a:p>
                </p:txBody>
              </p:sp>
              <p:sp>
                <p:nvSpPr>
                  <p:cNvPr id="85" name="Flowchart: Decision 84">
                    <a:extLst>
                      <a:ext uri="{FF2B5EF4-FFF2-40B4-BE49-F238E27FC236}">
                        <a16:creationId xmlns:a16="http://schemas.microsoft.com/office/drawing/2014/main" id="{8012FBEB-BD49-D42F-D13E-F6BC3DDBD761}"/>
                      </a:ext>
                    </a:extLst>
                  </p:cNvPr>
                  <p:cNvSpPr/>
                  <p:nvPr/>
                </p:nvSpPr>
                <p:spPr>
                  <a:xfrm>
                    <a:off x="4002658" y="2661970"/>
                    <a:ext cx="914400" cy="629412"/>
                  </a:xfrm>
                  <a:prstGeom prst="flowChartDecision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>
                    <a:outerShdw blurRad="44450" dist="27940" dir="5400000" algn="ctr">
                      <a:srgbClr val="000000">
                        <a:alpha val="32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balanced" dir="t">
                      <a:rot lat="0" lon="0" rev="8700000"/>
                    </a:lightRig>
                  </a:scene3d>
                  <a:sp3d>
                    <a:bevelT w="190500" h="38100"/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ZA" dirty="0"/>
                      <a:t>C</a:t>
                    </a:r>
                  </a:p>
                </p:txBody>
              </p:sp>
              <p:cxnSp>
                <p:nvCxnSpPr>
                  <p:cNvPr id="86" name="Straight Arrow Connector 85">
                    <a:extLst>
                      <a:ext uri="{FF2B5EF4-FFF2-40B4-BE49-F238E27FC236}">
                        <a16:creationId xmlns:a16="http://schemas.microsoft.com/office/drawing/2014/main" id="{E983FCBC-892E-5674-028F-96104A937AEB}"/>
                      </a:ext>
                    </a:extLst>
                  </p:cNvPr>
                  <p:cNvCxnSpPr>
                    <a:cxnSpLocks/>
                    <a:stCxn id="84" idx="4"/>
                    <a:endCxn id="85" idx="0"/>
                  </p:cNvCxnSpPr>
                  <p:nvPr/>
                </p:nvCxnSpPr>
                <p:spPr>
                  <a:xfrm flipH="1">
                    <a:off x="4459858" y="2226868"/>
                    <a:ext cx="3751" cy="435102"/>
                  </a:xfrm>
                  <a:prstGeom prst="straightConnector1">
                    <a:avLst/>
                  </a:prstGeom>
                  <a:ln>
                    <a:solidFill>
                      <a:srgbClr val="FFFF0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7" name="Rectangle 86">
                    <a:extLst>
                      <a:ext uri="{FF2B5EF4-FFF2-40B4-BE49-F238E27FC236}">
                        <a16:creationId xmlns:a16="http://schemas.microsoft.com/office/drawing/2014/main" id="{77D8E3AE-0D8A-450D-2A50-6D45C8BAD9CB}"/>
                      </a:ext>
                    </a:extLst>
                  </p:cNvPr>
                  <p:cNvSpPr/>
                  <p:nvPr/>
                </p:nvSpPr>
                <p:spPr>
                  <a:xfrm>
                    <a:off x="2393679" y="2730779"/>
                    <a:ext cx="1208285" cy="475488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>
                    <a:outerShdw blurRad="44450" dist="27940" dir="5400000" algn="ctr">
                      <a:srgbClr val="000000">
                        <a:alpha val="32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balanced" dir="t">
                      <a:rot lat="0" lon="0" rev="8700000"/>
                    </a:lightRig>
                  </a:scene3d>
                  <a:sp3d>
                    <a:bevelT w="190500" h="38100"/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ZA" dirty="0"/>
                      <a:t>Do this</a:t>
                    </a:r>
                  </a:p>
                </p:txBody>
              </p:sp>
              <p:cxnSp>
                <p:nvCxnSpPr>
                  <p:cNvPr id="88" name="Connector: Elbow 87">
                    <a:extLst>
                      <a:ext uri="{FF2B5EF4-FFF2-40B4-BE49-F238E27FC236}">
                        <a16:creationId xmlns:a16="http://schemas.microsoft.com/office/drawing/2014/main" id="{318BFFF5-DCEE-B774-BE37-91292FD0FD2C}"/>
                      </a:ext>
                    </a:extLst>
                  </p:cNvPr>
                  <p:cNvCxnSpPr>
                    <a:stCxn id="87" idx="2"/>
                  </p:cNvCxnSpPr>
                  <p:nvPr/>
                </p:nvCxnSpPr>
                <p:spPr>
                  <a:xfrm rot="16200000" flipH="1">
                    <a:off x="3346630" y="2857458"/>
                    <a:ext cx="768171" cy="1465787"/>
                  </a:xfrm>
                  <a:prstGeom prst="bentConnector2">
                    <a:avLst/>
                  </a:prstGeom>
                  <a:ln>
                    <a:solidFill>
                      <a:srgbClr val="00B05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" name="Straight Arrow Connector 88">
                    <a:extLst>
                      <a:ext uri="{FF2B5EF4-FFF2-40B4-BE49-F238E27FC236}">
                        <a16:creationId xmlns:a16="http://schemas.microsoft.com/office/drawing/2014/main" id="{D94723E2-8938-A43F-E433-EDBE52ACDDD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459858" y="3974436"/>
                    <a:ext cx="0" cy="601715"/>
                  </a:xfrm>
                  <a:prstGeom prst="straightConnector1">
                    <a:avLst/>
                  </a:prstGeom>
                  <a:ln>
                    <a:solidFill>
                      <a:srgbClr val="00B05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AD56D807-2946-A3EB-B4C3-EABA24483016}"/>
                </a:ext>
              </a:extLst>
            </p:cNvPr>
            <p:cNvGrpSpPr/>
            <p:nvPr/>
          </p:nvGrpSpPr>
          <p:grpSpPr>
            <a:xfrm>
              <a:off x="4266229" y="2631616"/>
              <a:ext cx="2081524" cy="1818813"/>
              <a:chOff x="4459858" y="2730779"/>
              <a:chExt cx="2081524" cy="1818813"/>
            </a:xfrm>
          </p:grpSpPr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63CFB183-E826-1429-26C9-61038E4F8DE5}"/>
                  </a:ext>
                </a:extLst>
              </p:cNvPr>
              <p:cNvCxnSpPr>
                <a:cxnSpLocks/>
                <a:stCxn id="85" idx="3"/>
                <a:endCxn id="92" idx="1"/>
              </p:cNvCxnSpPr>
              <p:nvPr/>
            </p:nvCxnSpPr>
            <p:spPr>
              <a:xfrm flipV="1">
                <a:off x="4629066" y="2968523"/>
                <a:ext cx="704031" cy="1515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251D75BA-83BE-AB77-C3BC-75998CA442FA}"/>
                  </a:ext>
                </a:extLst>
              </p:cNvPr>
              <p:cNvSpPr/>
              <p:nvPr/>
            </p:nvSpPr>
            <p:spPr>
              <a:xfrm>
                <a:off x="5333097" y="2730779"/>
                <a:ext cx="1208285" cy="47548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/>
                  <a:t>Do that</a:t>
                </a:r>
              </a:p>
            </p:txBody>
          </p:sp>
          <p:cxnSp>
            <p:nvCxnSpPr>
              <p:cNvPr id="93" name="Connector: Elbow 92">
                <a:extLst>
                  <a:ext uri="{FF2B5EF4-FFF2-40B4-BE49-F238E27FC236}">
                    <a16:creationId xmlns:a16="http://schemas.microsoft.com/office/drawing/2014/main" id="{2CEC0020-8586-C577-0F90-BD2FBC4B543E}"/>
                  </a:ext>
                </a:extLst>
              </p:cNvPr>
              <p:cNvCxnSpPr>
                <a:stCxn id="92" idx="2"/>
              </p:cNvCxnSpPr>
              <p:nvPr/>
            </p:nvCxnSpPr>
            <p:spPr>
              <a:xfrm rot="5400000">
                <a:off x="4816340" y="2853537"/>
                <a:ext cx="768170" cy="1473631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80D075CB-F7E1-D48F-26AC-0791C07F7C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59858" y="3985989"/>
                <a:ext cx="9997" cy="56360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B10FE54-DF12-9FCD-56D6-20E56DB4FE44}"/>
              </a:ext>
            </a:extLst>
          </p:cNvPr>
          <p:cNvGrpSpPr/>
          <p:nvPr/>
        </p:nvGrpSpPr>
        <p:grpSpPr>
          <a:xfrm>
            <a:off x="-4963845" y="1245641"/>
            <a:ext cx="5110428" cy="5318506"/>
            <a:chOff x="6520583" y="1040556"/>
            <a:chExt cx="5110428" cy="5318506"/>
          </a:xfrm>
        </p:grpSpPr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479F562D-B2C5-5CA7-F783-3835F7F2C1FC}"/>
                </a:ext>
              </a:extLst>
            </p:cNvPr>
            <p:cNvSpPr txBox="1"/>
            <p:nvPr/>
          </p:nvSpPr>
          <p:spPr>
            <a:xfrm>
              <a:off x="8330540" y="5435732"/>
              <a:ext cx="2267737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5400" b="1" dirty="0"/>
                <a:t>switch</a:t>
              </a:r>
            </a:p>
          </p:txBody>
        </p: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9D0E7E45-34B0-AFAC-8001-B6046DDDAC40}"/>
                </a:ext>
              </a:extLst>
            </p:cNvPr>
            <p:cNvGrpSpPr/>
            <p:nvPr/>
          </p:nvGrpSpPr>
          <p:grpSpPr>
            <a:xfrm>
              <a:off x="6526995" y="1040556"/>
              <a:ext cx="914400" cy="685855"/>
              <a:chOff x="2814243" y="1126935"/>
              <a:chExt cx="914400" cy="685855"/>
            </a:xfrm>
          </p:grpSpPr>
          <p:sp>
            <p:nvSpPr>
              <p:cNvPr id="194" name="Oval 193">
                <a:extLst>
                  <a:ext uri="{FF2B5EF4-FFF2-40B4-BE49-F238E27FC236}">
                    <a16:creationId xmlns:a16="http://schemas.microsoft.com/office/drawing/2014/main" id="{3C15B0DB-590F-55C4-D220-7FE56401F502}"/>
                  </a:ext>
                </a:extLst>
              </p:cNvPr>
              <p:cNvSpPr/>
              <p:nvPr/>
            </p:nvSpPr>
            <p:spPr>
              <a:xfrm>
                <a:off x="2814243" y="1126935"/>
                <a:ext cx="914400" cy="47548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/>
                  <a:t>start</a:t>
                </a:r>
              </a:p>
            </p:txBody>
          </p:sp>
          <p:cxnSp>
            <p:nvCxnSpPr>
              <p:cNvPr id="195" name="Straight Arrow Connector 194">
                <a:extLst>
                  <a:ext uri="{FF2B5EF4-FFF2-40B4-BE49-F238E27FC236}">
                    <a16:creationId xmlns:a16="http://schemas.microsoft.com/office/drawing/2014/main" id="{962BE4B6-D35D-3857-7BA5-54D1D40F4AF2}"/>
                  </a:ext>
                </a:extLst>
              </p:cNvPr>
              <p:cNvCxnSpPr>
                <a:cxnSpLocks/>
                <a:stCxn id="194" idx="4"/>
                <a:endCxn id="221" idx="0"/>
              </p:cNvCxnSpPr>
              <p:nvPr/>
            </p:nvCxnSpPr>
            <p:spPr>
              <a:xfrm flipH="1">
                <a:off x="3265031" y="1602423"/>
                <a:ext cx="6412" cy="210367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8D8BA56C-46B8-AB3A-2DB9-D76D3F936D59}"/>
                </a:ext>
              </a:extLst>
            </p:cNvPr>
            <p:cNvGrpSpPr/>
            <p:nvPr/>
          </p:nvGrpSpPr>
          <p:grpSpPr>
            <a:xfrm>
              <a:off x="6526995" y="5296781"/>
              <a:ext cx="914400" cy="910220"/>
              <a:chOff x="2814243" y="5383160"/>
              <a:chExt cx="914400" cy="910220"/>
            </a:xfrm>
          </p:grpSpPr>
          <p:sp>
            <p:nvSpPr>
              <p:cNvPr id="197" name="Oval 196">
                <a:extLst>
                  <a:ext uri="{FF2B5EF4-FFF2-40B4-BE49-F238E27FC236}">
                    <a16:creationId xmlns:a16="http://schemas.microsoft.com/office/drawing/2014/main" id="{3AA7C788-6FF7-E2B4-CC21-3FF5F4C7737F}"/>
                  </a:ext>
                </a:extLst>
              </p:cNvPr>
              <p:cNvSpPr/>
              <p:nvPr/>
            </p:nvSpPr>
            <p:spPr>
              <a:xfrm>
                <a:off x="2814243" y="5817892"/>
                <a:ext cx="914400" cy="47548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/>
                  <a:t>end</a:t>
                </a:r>
              </a:p>
            </p:txBody>
          </p:sp>
          <p:cxnSp>
            <p:nvCxnSpPr>
              <p:cNvPr id="198" name="Straight Arrow Connector 197">
                <a:extLst>
                  <a:ext uri="{FF2B5EF4-FFF2-40B4-BE49-F238E27FC236}">
                    <a16:creationId xmlns:a16="http://schemas.microsoft.com/office/drawing/2014/main" id="{A918D996-0F0C-D550-9779-7CA75063CC0E}"/>
                  </a:ext>
                </a:extLst>
              </p:cNvPr>
              <p:cNvCxnSpPr>
                <a:cxnSpLocks/>
                <a:stCxn id="253" idx="2"/>
                <a:endCxn id="197" idx="0"/>
              </p:cNvCxnSpPr>
              <p:nvPr/>
            </p:nvCxnSpPr>
            <p:spPr>
              <a:xfrm>
                <a:off x="3271443" y="5383160"/>
                <a:ext cx="0" cy="434732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9" name="Group 198">
              <a:extLst>
                <a:ext uri="{FF2B5EF4-FFF2-40B4-BE49-F238E27FC236}">
                  <a16:creationId xmlns:a16="http://schemas.microsoft.com/office/drawing/2014/main" id="{1E6A1FB8-3214-EE52-0841-A2574B7CDE15}"/>
                </a:ext>
              </a:extLst>
            </p:cNvPr>
            <p:cNvGrpSpPr/>
            <p:nvPr/>
          </p:nvGrpSpPr>
          <p:grpSpPr>
            <a:xfrm>
              <a:off x="6520583" y="2041117"/>
              <a:ext cx="4729274" cy="1757604"/>
              <a:chOff x="2807831" y="2127496"/>
              <a:chExt cx="4729274" cy="1757604"/>
            </a:xfrm>
          </p:grpSpPr>
          <p:grpSp>
            <p:nvGrpSpPr>
              <p:cNvPr id="200" name="Group 199">
                <a:extLst>
                  <a:ext uri="{FF2B5EF4-FFF2-40B4-BE49-F238E27FC236}">
                    <a16:creationId xmlns:a16="http://schemas.microsoft.com/office/drawing/2014/main" id="{4A3E4B35-7906-895D-6A41-DC4E016DE2F9}"/>
                  </a:ext>
                </a:extLst>
              </p:cNvPr>
              <p:cNvGrpSpPr/>
              <p:nvPr/>
            </p:nvGrpSpPr>
            <p:grpSpPr>
              <a:xfrm>
                <a:off x="2807831" y="2755405"/>
                <a:ext cx="4351014" cy="629412"/>
                <a:chOff x="1488646" y="2612399"/>
                <a:chExt cx="4351014" cy="629412"/>
              </a:xfrm>
            </p:grpSpPr>
            <p:sp>
              <p:nvSpPr>
                <p:cNvPr id="205" name="Rectangle 204">
                  <a:extLst>
                    <a:ext uri="{FF2B5EF4-FFF2-40B4-BE49-F238E27FC236}">
                      <a16:creationId xmlns:a16="http://schemas.microsoft.com/office/drawing/2014/main" id="{416D7F2A-C3E6-2416-0542-2F9905AE2C07}"/>
                    </a:ext>
                  </a:extLst>
                </p:cNvPr>
                <p:cNvSpPr/>
                <p:nvPr/>
              </p:nvSpPr>
              <p:spPr>
                <a:xfrm>
                  <a:off x="2993760" y="2689361"/>
                  <a:ext cx="1208285" cy="475488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dirty="0">
                      <a:latin typeface="LM Roman 12" panose="00000500000000000000" pitchFamily="50" charset="0"/>
                    </a:rPr>
                    <a:t>Do that action</a:t>
                  </a:r>
                </a:p>
              </p:txBody>
            </p:sp>
            <p:sp>
              <p:nvSpPr>
                <p:cNvPr id="206" name="Rectangle 205">
                  <a:extLst>
                    <a:ext uri="{FF2B5EF4-FFF2-40B4-BE49-F238E27FC236}">
                      <a16:creationId xmlns:a16="http://schemas.microsoft.com/office/drawing/2014/main" id="{1F15D4CD-E82B-5A6E-FD11-25965788950D}"/>
                    </a:ext>
                  </a:extLst>
                </p:cNvPr>
                <p:cNvSpPr/>
                <p:nvPr/>
              </p:nvSpPr>
              <p:spPr>
                <a:xfrm>
                  <a:off x="4631375" y="2673212"/>
                  <a:ext cx="1208285" cy="475488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dirty="0">
                      <a:latin typeface="LM Roman 12" panose="00000500000000000000" pitchFamily="50" charset="0"/>
                    </a:rPr>
                    <a:t>Break</a:t>
                  </a:r>
                </a:p>
              </p:txBody>
            </p:sp>
            <p:cxnSp>
              <p:nvCxnSpPr>
                <p:cNvPr id="207" name="Straight Arrow Connector 206">
                  <a:extLst>
                    <a:ext uri="{FF2B5EF4-FFF2-40B4-BE49-F238E27FC236}">
                      <a16:creationId xmlns:a16="http://schemas.microsoft.com/office/drawing/2014/main" id="{8BD21EC5-FE78-8A16-641E-5958B9A9092C}"/>
                    </a:ext>
                  </a:extLst>
                </p:cNvPr>
                <p:cNvCxnSpPr>
                  <a:stCxn id="210" idx="3"/>
                  <a:endCxn id="205" idx="1"/>
                </p:cNvCxnSpPr>
                <p:nvPr/>
              </p:nvCxnSpPr>
              <p:spPr>
                <a:xfrm>
                  <a:off x="2403046" y="2927105"/>
                  <a:ext cx="590714" cy="0"/>
                </a:xfrm>
                <a:prstGeom prst="straightConnector1">
                  <a:avLst/>
                </a:prstGeom>
                <a:ln>
                  <a:solidFill>
                    <a:srgbClr val="FFFF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Arrow Connector 207">
                  <a:extLst>
                    <a:ext uri="{FF2B5EF4-FFF2-40B4-BE49-F238E27FC236}">
                      <a16:creationId xmlns:a16="http://schemas.microsoft.com/office/drawing/2014/main" id="{144BDFA5-8E4A-C100-9C5F-97FF2ED154C4}"/>
                    </a:ext>
                  </a:extLst>
                </p:cNvPr>
                <p:cNvCxnSpPr>
                  <a:stCxn id="205" idx="3"/>
                  <a:endCxn id="206" idx="1"/>
                </p:cNvCxnSpPr>
                <p:nvPr/>
              </p:nvCxnSpPr>
              <p:spPr>
                <a:xfrm flipV="1">
                  <a:off x="4202045" y="2910956"/>
                  <a:ext cx="429330" cy="16149"/>
                </a:xfrm>
                <a:prstGeom prst="straightConnector1">
                  <a:avLst/>
                </a:prstGeom>
                <a:ln>
                  <a:solidFill>
                    <a:srgbClr val="FFFF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09" name="Group 208">
                  <a:extLst>
                    <a:ext uri="{FF2B5EF4-FFF2-40B4-BE49-F238E27FC236}">
                      <a16:creationId xmlns:a16="http://schemas.microsoft.com/office/drawing/2014/main" id="{0B7EFA0B-68AC-6AA4-7B8D-C4EEB70E686E}"/>
                    </a:ext>
                  </a:extLst>
                </p:cNvPr>
                <p:cNvGrpSpPr/>
                <p:nvPr/>
              </p:nvGrpSpPr>
              <p:grpSpPr>
                <a:xfrm>
                  <a:off x="1488646" y="2612399"/>
                  <a:ext cx="914400" cy="629412"/>
                  <a:chOff x="1488646" y="2612399"/>
                  <a:chExt cx="914400" cy="629412"/>
                </a:xfrm>
              </p:grpSpPr>
              <p:sp>
                <p:nvSpPr>
                  <p:cNvPr id="210" name="Flowchart: Decision 209">
                    <a:extLst>
                      <a:ext uri="{FF2B5EF4-FFF2-40B4-BE49-F238E27FC236}">
                        <a16:creationId xmlns:a16="http://schemas.microsoft.com/office/drawing/2014/main" id="{6C1378A7-468E-2649-7ED9-BE28F21C9B1F}"/>
                      </a:ext>
                    </a:extLst>
                  </p:cNvPr>
                  <p:cNvSpPr/>
                  <p:nvPr/>
                </p:nvSpPr>
                <p:spPr>
                  <a:xfrm>
                    <a:off x="1488646" y="2612399"/>
                    <a:ext cx="914400" cy="629412"/>
                  </a:xfrm>
                  <a:prstGeom prst="flowChartDecision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>
                    <a:outerShdw blurRad="44450" dist="27940" dir="5400000" algn="ctr">
                      <a:srgbClr val="000000">
                        <a:alpha val="32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balanced" dir="t">
                      <a:rot lat="0" lon="0" rev="8700000"/>
                    </a:lightRig>
                  </a:scene3d>
                  <a:sp3d>
                    <a:bevelT w="190500" h="38100"/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ZA" sz="1000" dirty="0"/>
                  </a:p>
                </p:txBody>
              </p:sp>
              <p:sp>
                <p:nvSpPr>
                  <p:cNvPr id="211" name="TextBox 210">
                    <a:extLst>
                      <a:ext uri="{FF2B5EF4-FFF2-40B4-BE49-F238E27FC236}">
                        <a16:creationId xmlns:a16="http://schemas.microsoft.com/office/drawing/2014/main" id="{5C1E4958-743C-7EDE-4AAF-71B9D3AB7340}"/>
                      </a:ext>
                    </a:extLst>
                  </p:cNvPr>
                  <p:cNvSpPr txBox="1"/>
                  <p:nvPr/>
                </p:nvSpPr>
                <p:spPr>
                  <a:xfrm>
                    <a:off x="1495058" y="2719813"/>
                    <a:ext cx="88838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ZA" dirty="0">
                        <a:solidFill>
                          <a:schemeClr val="bg1"/>
                        </a:solidFill>
                        <a:latin typeface="LM Roman 12" panose="00000500000000000000" pitchFamily="50" charset="0"/>
                      </a:rPr>
                      <a:t>Case B</a:t>
                    </a:r>
                  </a:p>
                </p:txBody>
              </p:sp>
            </p:grpSp>
          </p:grpSp>
          <p:cxnSp>
            <p:nvCxnSpPr>
              <p:cNvPr id="201" name="Straight Arrow Connector 200">
                <a:extLst>
                  <a:ext uri="{FF2B5EF4-FFF2-40B4-BE49-F238E27FC236}">
                    <a16:creationId xmlns:a16="http://schemas.microsoft.com/office/drawing/2014/main" id="{2028CB56-74F9-06F8-3AB2-6C2988F8125F}"/>
                  </a:ext>
                </a:extLst>
              </p:cNvPr>
              <p:cNvCxnSpPr>
                <a:cxnSpLocks/>
                <a:stCxn id="221" idx="2"/>
                <a:endCxn id="210" idx="0"/>
              </p:cNvCxnSpPr>
              <p:nvPr/>
            </p:nvCxnSpPr>
            <p:spPr>
              <a:xfrm>
                <a:off x="3265031" y="2442202"/>
                <a:ext cx="0" cy="313203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Straight Arrow Connector 201">
                <a:extLst>
                  <a:ext uri="{FF2B5EF4-FFF2-40B4-BE49-F238E27FC236}">
                    <a16:creationId xmlns:a16="http://schemas.microsoft.com/office/drawing/2014/main" id="{8A58074A-0739-F48F-E7D0-F74DE0ECD1AF}"/>
                  </a:ext>
                </a:extLst>
              </p:cNvPr>
              <p:cNvCxnSpPr>
                <a:cxnSpLocks/>
                <a:stCxn id="210" idx="2"/>
                <a:endCxn id="240" idx="0"/>
              </p:cNvCxnSpPr>
              <p:nvPr/>
            </p:nvCxnSpPr>
            <p:spPr>
              <a:xfrm>
                <a:off x="3265031" y="3384817"/>
                <a:ext cx="0" cy="185577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>
                <a:extLst>
                  <a:ext uri="{FF2B5EF4-FFF2-40B4-BE49-F238E27FC236}">
                    <a16:creationId xmlns:a16="http://schemas.microsoft.com/office/drawing/2014/main" id="{9D2EDB63-4621-15A0-7250-91131C44ED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58844" y="3065566"/>
                <a:ext cx="378261" cy="0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>
                <a:extLst>
                  <a:ext uri="{FF2B5EF4-FFF2-40B4-BE49-F238E27FC236}">
                    <a16:creationId xmlns:a16="http://schemas.microsoft.com/office/drawing/2014/main" id="{68D78C4F-8DC9-6D6B-FBEE-8E67D12D0A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37105" y="2127496"/>
                <a:ext cx="0" cy="1757604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2" name="Group 211">
              <a:extLst>
                <a:ext uri="{FF2B5EF4-FFF2-40B4-BE49-F238E27FC236}">
                  <a16:creationId xmlns:a16="http://schemas.microsoft.com/office/drawing/2014/main" id="{7EBAA50E-C47E-4EDC-CDB0-FDB3A41A79D8}"/>
                </a:ext>
              </a:extLst>
            </p:cNvPr>
            <p:cNvGrpSpPr/>
            <p:nvPr/>
          </p:nvGrpSpPr>
          <p:grpSpPr>
            <a:xfrm>
              <a:off x="6520583" y="1395943"/>
              <a:ext cx="5110428" cy="959880"/>
              <a:chOff x="2807831" y="1482322"/>
              <a:chExt cx="5110428" cy="959880"/>
            </a:xfrm>
          </p:grpSpPr>
          <p:grpSp>
            <p:nvGrpSpPr>
              <p:cNvPr id="213" name="Group 212">
                <a:extLst>
                  <a:ext uri="{FF2B5EF4-FFF2-40B4-BE49-F238E27FC236}">
                    <a16:creationId xmlns:a16="http://schemas.microsoft.com/office/drawing/2014/main" id="{59437999-FB30-BBAC-2E83-079B02309DD4}"/>
                  </a:ext>
                </a:extLst>
              </p:cNvPr>
              <p:cNvGrpSpPr/>
              <p:nvPr/>
            </p:nvGrpSpPr>
            <p:grpSpPr>
              <a:xfrm>
                <a:off x="2807831" y="1812790"/>
                <a:ext cx="4351014" cy="629412"/>
                <a:chOff x="1488646" y="1669784"/>
                <a:chExt cx="4351014" cy="629412"/>
              </a:xfrm>
            </p:grpSpPr>
            <p:sp>
              <p:nvSpPr>
                <p:cNvPr id="216" name="Rectangle 215">
                  <a:extLst>
                    <a:ext uri="{FF2B5EF4-FFF2-40B4-BE49-F238E27FC236}">
                      <a16:creationId xmlns:a16="http://schemas.microsoft.com/office/drawing/2014/main" id="{4A56FAD3-FCD0-012A-6E06-47D3FC9F5BF7}"/>
                    </a:ext>
                  </a:extLst>
                </p:cNvPr>
                <p:cNvSpPr/>
                <p:nvPr/>
              </p:nvSpPr>
              <p:spPr>
                <a:xfrm>
                  <a:off x="2993760" y="1735055"/>
                  <a:ext cx="1208285" cy="475488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dirty="0">
                      <a:latin typeface="LM Roman 12" panose="00000500000000000000" pitchFamily="50" charset="0"/>
                    </a:rPr>
                    <a:t>Do this action</a:t>
                  </a:r>
                </a:p>
              </p:txBody>
            </p:sp>
            <p:sp>
              <p:nvSpPr>
                <p:cNvPr id="217" name="Rectangle 216">
                  <a:extLst>
                    <a:ext uri="{FF2B5EF4-FFF2-40B4-BE49-F238E27FC236}">
                      <a16:creationId xmlns:a16="http://schemas.microsoft.com/office/drawing/2014/main" id="{BB1BF795-CC1B-CC2D-B367-E51F8A683D2E}"/>
                    </a:ext>
                  </a:extLst>
                </p:cNvPr>
                <p:cNvSpPr/>
                <p:nvPr/>
              </p:nvSpPr>
              <p:spPr>
                <a:xfrm>
                  <a:off x="4631375" y="1746746"/>
                  <a:ext cx="1208285" cy="475488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dirty="0">
                      <a:latin typeface="LM Roman 12" panose="00000500000000000000" pitchFamily="50" charset="0"/>
                    </a:rPr>
                    <a:t>Break</a:t>
                  </a:r>
                  <a:endParaRPr lang="en-ZA" dirty="0"/>
                </a:p>
              </p:txBody>
            </p:sp>
            <p:cxnSp>
              <p:nvCxnSpPr>
                <p:cNvPr id="218" name="Straight Arrow Connector 217">
                  <a:extLst>
                    <a:ext uri="{FF2B5EF4-FFF2-40B4-BE49-F238E27FC236}">
                      <a16:creationId xmlns:a16="http://schemas.microsoft.com/office/drawing/2014/main" id="{B1D8499F-CEA3-EBDF-4441-B460D68AE68A}"/>
                    </a:ext>
                  </a:extLst>
                </p:cNvPr>
                <p:cNvCxnSpPr>
                  <a:stCxn id="221" idx="3"/>
                  <a:endCxn id="216" idx="1"/>
                </p:cNvCxnSpPr>
                <p:nvPr/>
              </p:nvCxnSpPr>
              <p:spPr>
                <a:xfrm flipV="1">
                  <a:off x="2403046" y="1972799"/>
                  <a:ext cx="590714" cy="11691"/>
                </a:xfrm>
                <a:prstGeom prst="straightConnector1">
                  <a:avLst/>
                </a:prstGeom>
                <a:ln>
                  <a:solidFill>
                    <a:srgbClr val="FFFF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9" name="Straight Arrow Connector 218">
                  <a:extLst>
                    <a:ext uri="{FF2B5EF4-FFF2-40B4-BE49-F238E27FC236}">
                      <a16:creationId xmlns:a16="http://schemas.microsoft.com/office/drawing/2014/main" id="{D7E6D944-CA89-8F08-9069-31F7F6C44BDC}"/>
                    </a:ext>
                  </a:extLst>
                </p:cNvPr>
                <p:cNvCxnSpPr>
                  <a:stCxn id="216" idx="3"/>
                  <a:endCxn id="217" idx="1"/>
                </p:cNvCxnSpPr>
                <p:nvPr/>
              </p:nvCxnSpPr>
              <p:spPr>
                <a:xfrm>
                  <a:off x="4202045" y="1972799"/>
                  <a:ext cx="429330" cy="11691"/>
                </a:xfrm>
                <a:prstGeom prst="straightConnector1">
                  <a:avLst/>
                </a:prstGeom>
                <a:ln>
                  <a:solidFill>
                    <a:srgbClr val="FFFF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20" name="Group 219">
                  <a:extLst>
                    <a:ext uri="{FF2B5EF4-FFF2-40B4-BE49-F238E27FC236}">
                      <a16:creationId xmlns:a16="http://schemas.microsoft.com/office/drawing/2014/main" id="{B5B16CA4-0572-02A3-57E0-EF2F33C6CBD9}"/>
                    </a:ext>
                  </a:extLst>
                </p:cNvPr>
                <p:cNvGrpSpPr/>
                <p:nvPr/>
              </p:nvGrpSpPr>
              <p:grpSpPr>
                <a:xfrm>
                  <a:off x="1488646" y="1669784"/>
                  <a:ext cx="914400" cy="629412"/>
                  <a:chOff x="1465837" y="1712996"/>
                  <a:chExt cx="914400" cy="629412"/>
                </a:xfrm>
              </p:grpSpPr>
              <p:sp>
                <p:nvSpPr>
                  <p:cNvPr id="221" name="Flowchart: Decision 220">
                    <a:extLst>
                      <a:ext uri="{FF2B5EF4-FFF2-40B4-BE49-F238E27FC236}">
                        <a16:creationId xmlns:a16="http://schemas.microsoft.com/office/drawing/2014/main" id="{406FE430-A0FF-9209-8863-C2EA29B76AFD}"/>
                      </a:ext>
                    </a:extLst>
                  </p:cNvPr>
                  <p:cNvSpPr/>
                  <p:nvPr/>
                </p:nvSpPr>
                <p:spPr>
                  <a:xfrm>
                    <a:off x="1465837" y="1712996"/>
                    <a:ext cx="914400" cy="629412"/>
                  </a:xfrm>
                  <a:prstGeom prst="flowChartDecision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>
                    <a:outerShdw blurRad="44450" dist="27940" dir="5400000" algn="ctr">
                      <a:srgbClr val="000000">
                        <a:alpha val="32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balanced" dir="t">
                      <a:rot lat="0" lon="0" rev="8700000"/>
                    </a:lightRig>
                  </a:scene3d>
                  <a:sp3d>
                    <a:bevelT w="190500" h="38100"/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ZA" sz="1000" dirty="0"/>
                  </a:p>
                </p:txBody>
              </p:sp>
              <p:sp>
                <p:nvSpPr>
                  <p:cNvPr id="222" name="TextBox 221">
                    <a:extLst>
                      <a:ext uri="{FF2B5EF4-FFF2-40B4-BE49-F238E27FC236}">
                        <a16:creationId xmlns:a16="http://schemas.microsoft.com/office/drawing/2014/main" id="{24E290EC-6C4F-5EF8-5C79-8235486E9B82}"/>
                      </a:ext>
                    </a:extLst>
                  </p:cNvPr>
                  <p:cNvSpPr txBox="1"/>
                  <p:nvPr/>
                </p:nvSpPr>
                <p:spPr>
                  <a:xfrm>
                    <a:off x="1472249" y="1813169"/>
                    <a:ext cx="89800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ZA" dirty="0">
                        <a:solidFill>
                          <a:schemeClr val="bg1"/>
                        </a:solidFill>
                        <a:latin typeface="LM Roman 12" panose="00000500000000000000" pitchFamily="50" charset="0"/>
                      </a:rPr>
                      <a:t>Case A</a:t>
                    </a:r>
                  </a:p>
                </p:txBody>
              </p:sp>
            </p:grpSp>
          </p:grpSp>
          <p:cxnSp>
            <p:nvCxnSpPr>
              <p:cNvPr id="214" name="Straight Connector 213">
                <a:extLst>
                  <a:ext uri="{FF2B5EF4-FFF2-40B4-BE49-F238E27FC236}">
                    <a16:creationId xmlns:a16="http://schemas.microsoft.com/office/drawing/2014/main" id="{CE0B1C80-DD67-9C16-DE78-B5CB2CCF35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58844" y="2146266"/>
                <a:ext cx="378261" cy="0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CBA57EB6-264F-76F6-41DF-14B0240FA922}"/>
                  </a:ext>
                </a:extLst>
              </p:cNvPr>
              <p:cNvSpPr txBox="1"/>
              <p:nvPr/>
            </p:nvSpPr>
            <p:spPr>
              <a:xfrm>
                <a:off x="3437545" y="1482322"/>
                <a:ext cx="448071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000" b="1" dirty="0">
                    <a:latin typeface="LM Roman 12" panose="00000500000000000000" pitchFamily="50" charset="0"/>
                  </a:rPr>
                  <a:t>when this case is true…do this action</a:t>
                </a:r>
              </a:p>
            </p:txBody>
          </p:sp>
        </p:grpSp>
        <p:grpSp>
          <p:nvGrpSpPr>
            <p:cNvPr id="223" name="Group 222">
              <a:extLst>
                <a:ext uri="{FF2B5EF4-FFF2-40B4-BE49-F238E27FC236}">
                  <a16:creationId xmlns:a16="http://schemas.microsoft.com/office/drawing/2014/main" id="{F8ECE832-6001-7C1C-E477-6C1140CEE135}"/>
                </a:ext>
              </a:extLst>
            </p:cNvPr>
            <p:cNvGrpSpPr/>
            <p:nvPr/>
          </p:nvGrpSpPr>
          <p:grpSpPr>
            <a:xfrm>
              <a:off x="6520583" y="3484015"/>
              <a:ext cx="4886765" cy="1030446"/>
              <a:chOff x="2807831" y="3570394"/>
              <a:chExt cx="4886765" cy="1030446"/>
            </a:xfrm>
          </p:grpSpPr>
          <p:cxnSp>
            <p:nvCxnSpPr>
              <p:cNvPr id="224" name="Straight Arrow Connector 223">
                <a:extLst>
                  <a:ext uri="{FF2B5EF4-FFF2-40B4-BE49-F238E27FC236}">
                    <a16:creationId xmlns:a16="http://schemas.microsoft.com/office/drawing/2014/main" id="{BEFD987E-0046-2E55-C49F-060F698770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69884" y="4231945"/>
                <a:ext cx="6595" cy="272090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25" name="Group 224">
                <a:extLst>
                  <a:ext uri="{FF2B5EF4-FFF2-40B4-BE49-F238E27FC236}">
                    <a16:creationId xmlns:a16="http://schemas.microsoft.com/office/drawing/2014/main" id="{097FA21B-CFF6-E89A-A3C0-70BB71342109}"/>
                  </a:ext>
                </a:extLst>
              </p:cNvPr>
              <p:cNvGrpSpPr/>
              <p:nvPr/>
            </p:nvGrpSpPr>
            <p:grpSpPr>
              <a:xfrm>
                <a:off x="2807831" y="3570394"/>
                <a:ext cx="4886765" cy="1030446"/>
                <a:chOff x="2807831" y="3570394"/>
                <a:chExt cx="4886765" cy="1030446"/>
              </a:xfrm>
            </p:grpSpPr>
            <p:grpSp>
              <p:nvGrpSpPr>
                <p:cNvPr id="226" name="Group 225">
                  <a:extLst>
                    <a:ext uri="{FF2B5EF4-FFF2-40B4-BE49-F238E27FC236}">
                      <a16:creationId xmlns:a16="http://schemas.microsoft.com/office/drawing/2014/main" id="{300B305D-D812-838F-5C1C-FD12282DBF5E}"/>
                    </a:ext>
                  </a:extLst>
                </p:cNvPr>
                <p:cNvGrpSpPr/>
                <p:nvPr/>
              </p:nvGrpSpPr>
              <p:grpSpPr>
                <a:xfrm>
                  <a:off x="2807831" y="3570394"/>
                  <a:ext cx="4351014" cy="629412"/>
                  <a:chOff x="1488646" y="3427388"/>
                  <a:chExt cx="4351014" cy="629412"/>
                </a:xfrm>
              </p:grpSpPr>
              <p:sp>
                <p:nvSpPr>
                  <p:cNvPr id="235" name="Rectangle 234">
                    <a:extLst>
                      <a:ext uri="{FF2B5EF4-FFF2-40B4-BE49-F238E27FC236}">
                        <a16:creationId xmlns:a16="http://schemas.microsoft.com/office/drawing/2014/main" id="{BA92D545-B8D3-ED79-6795-8206C4FBFBF3}"/>
                      </a:ext>
                    </a:extLst>
                  </p:cNvPr>
                  <p:cNvSpPr/>
                  <p:nvPr/>
                </p:nvSpPr>
                <p:spPr>
                  <a:xfrm>
                    <a:off x="2993760" y="3505207"/>
                    <a:ext cx="1208285" cy="475488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>
                    <a:outerShdw blurRad="44450" dist="27940" dir="5400000" algn="ctr">
                      <a:srgbClr val="000000">
                        <a:alpha val="32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balanced" dir="t">
                      <a:rot lat="0" lon="0" rev="8700000"/>
                    </a:lightRig>
                  </a:scene3d>
                  <a:sp3d>
                    <a:bevelT w="190500" h="38100"/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ZA" dirty="0">
                        <a:latin typeface="LM Roman 12" panose="00000500000000000000" pitchFamily="50" charset="0"/>
                      </a:rPr>
                      <a:t>Do that action</a:t>
                    </a:r>
                  </a:p>
                </p:txBody>
              </p:sp>
              <p:sp>
                <p:nvSpPr>
                  <p:cNvPr id="236" name="Rectangle 235">
                    <a:extLst>
                      <a:ext uri="{FF2B5EF4-FFF2-40B4-BE49-F238E27FC236}">
                        <a16:creationId xmlns:a16="http://schemas.microsoft.com/office/drawing/2014/main" id="{5FD5AD03-1D5F-ABC6-BA44-42569B53D717}"/>
                      </a:ext>
                    </a:extLst>
                  </p:cNvPr>
                  <p:cNvSpPr/>
                  <p:nvPr/>
                </p:nvSpPr>
                <p:spPr>
                  <a:xfrm>
                    <a:off x="4631375" y="3488746"/>
                    <a:ext cx="1208285" cy="475488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>
                    <a:outerShdw blurRad="44450" dist="27940" dir="5400000" algn="ctr">
                      <a:srgbClr val="000000">
                        <a:alpha val="32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balanced" dir="t">
                      <a:rot lat="0" lon="0" rev="8700000"/>
                    </a:lightRig>
                  </a:scene3d>
                  <a:sp3d>
                    <a:bevelT w="190500" h="38100"/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ZA" dirty="0">
                        <a:latin typeface="LM Roman 12" panose="00000500000000000000" pitchFamily="50" charset="0"/>
                      </a:rPr>
                      <a:t>Break</a:t>
                    </a:r>
                  </a:p>
                </p:txBody>
              </p:sp>
              <p:cxnSp>
                <p:nvCxnSpPr>
                  <p:cNvPr id="237" name="Straight Arrow Connector 236">
                    <a:extLst>
                      <a:ext uri="{FF2B5EF4-FFF2-40B4-BE49-F238E27FC236}">
                        <a16:creationId xmlns:a16="http://schemas.microsoft.com/office/drawing/2014/main" id="{E9ACA1AA-7E51-1048-877B-3BE7F2BA356B}"/>
                      </a:ext>
                    </a:extLst>
                  </p:cNvPr>
                  <p:cNvCxnSpPr>
                    <a:stCxn id="240" idx="3"/>
                    <a:endCxn id="235" idx="1"/>
                  </p:cNvCxnSpPr>
                  <p:nvPr/>
                </p:nvCxnSpPr>
                <p:spPr>
                  <a:xfrm>
                    <a:off x="2403046" y="3742094"/>
                    <a:ext cx="590714" cy="857"/>
                  </a:xfrm>
                  <a:prstGeom prst="straightConnector1">
                    <a:avLst/>
                  </a:prstGeom>
                  <a:ln>
                    <a:solidFill>
                      <a:srgbClr val="FFFF0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8" name="Straight Arrow Connector 237">
                    <a:extLst>
                      <a:ext uri="{FF2B5EF4-FFF2-40B4-BE49-F238E27FC236}">
                        <a16:creationId xmlns:a16="http://schemas.microsoft.com/office/drawing/2014/main" id="{31C59545-5AF9-B261-2776-4971DF2A665F}"/>
                      </a:ext>
                    </a:extLst>
                  </p:cNvPr>
                  <p:cNvCxnSpPr>
                    <a:stCxn id="235" idx="3"/>
                    <a:endCxn id="236" idx="1"/>
                  </p:cNvCxnSpPr>
                  <p:nvPr/>
                </p:nvCxnSpPr>
                <p:spPr>
                  <a:xfrm flipV="1">
                    <a:off x="4202045" y="3726490"/>
                    <a:ext cx="429330" cy="16461"/>
                  </a:xfrm>
                  <a:prstGeom prst="straightConnector1">
                    <a:avLst/>
                  </a:prstGeom>
                  <a:ln>
                    <a:solidFill>
                      <a:srgbClr val="FFFF0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39" name="Group 238">
                    <a:extLst>
                      <a:ext uri="{FF2B5EF4-FFF2-40B4-BE49-F238E27FC236}">
                        <a16:creationId xmlns:a16="http://schemas.microsoft.com/office/drawing/2014/main" id="{04F0A9BF-32A1-B1B5-4E8C-FDBA4E17DF5C}"/>
                      </a:ext>
                    </a:extLst>
                  </p:cNvPr>
                  <p:cNvGrpSpPr/>
                  <p:nvPr/>
                </p:nvGrpSpPr>
                <p:grpSpPr>
                  <a:xfrm>
                    <a:off x="1488646" y="3427388"/>
                    <a:ext cx="914400" cy="629412"/>
                    <a:chOff x="1488646" y="3427388"/>
                    <a:chExt cx="914400" cy="629412"/>
                  </a:xfrm>
                </p:grpSpPr>
                <p:sp>
                  <p:nvSpPr>
                    <p:cNvPr id="240" name="Flowchart: Decision 239">
                      <a:extLst>
                        <a:ext uri="{FF2B5EF4-FFF2-40B4-BE49-F238E27FC236}">
                          <a16:creationId xmlns:a16="http://schemas.microsoft.com/office/drawing/2014/main" id="{5DC9422E-A47D-39C2-B491-60761B5B280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88646" y="3427388"/>
                      <a:ext cx="914400" cy="629412"/>
                    </a:xfrm>
                    <a:prstGeom prst="flowChartDecision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ffectLst>
                      <a:outerShdw blurRad="44450" dist="27940" dir="5400000" algn="ctr">
                        <a:srgbClr val="000000">
                          <a:alpha val="32000"/>
                        </a:srgbClr>
                      </a:outerShdw>
                    </a:effectLst>
                    <a:scene3d>
                      <a:camera prst="orthographicFront">
                        <a:rot lat="0" lon="0" rev="0"/>
                      </a:camera>
                      <a:lightRig rig="balanced" dir="t">
                        <a:rot lat="0" lon="0" rev="8700000"/>
                      </a:lightRig>
                    </a:scene3d>
                    <a:sp3d>
                      <a:bevelT w="190500" h="38100"/>
                    </a:sp3d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ZA" sz="1000" dirty="0"/>
                    </a:p>
                  </p:txBody>
                </p:sp>
                <p:sp>
                  <p:nvSpPr>
                    <p:cNvPr id="241" name="TextBox 240">
                      <a:extLst>
                        <a:ext uri="{FF2B5EF4-FFF2-40B4-BE49-F238E27FC236}">
                          <a16:creationId xmlns:a16="http://schemas.microsoft.com/office/drawing/2014/main" id="{D1541A73-67E9-5643-3182-E35B64DC805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495058" y="3541824"/>
                      <a:ext cx="891591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ZA" dirty="0">
                          <a:solidFill>
                            <a:schemeClr val="bg1"/>
                          </a:solidFill>
                          <a:latin typeface="LM Roman 12" panose="00000500000000000000" pitchFamily="50" charset="0"/>
                        </a:rPr>
                        <a:t>Case C</a:t>
                      </a:r>
                    </a:p>
                  </p:txBody>
                </p:sp>
              </p:grpSp>
            </p:grpSp>
            <p:grpSp>
              <p:nvGrpSpPr>
                <p:cNvPr id="227" name="Group 226">
                  <a:extLst>
                    <a:ext uri="{FF2B5EF4-FFF2-40B4-BE49-F238E27FC236}">
                      <a16:creationId xmlns:a16="http://schemas.microsoft.com/office/drawing/2014/main" id="{8A19B29E-311C-AE2E-3983-5194A698FAE6}"/>
                    </a:ext>
                  </a:extLst>
                </p:cNvPr>
                <p:cNvGrpSpPr/>
                <p:nvPr/>
              </p:nvGrpSpPr>
              <p:grpSpPr>
                <a:xfrm>
                  <a:off x="3079405" y="4402688"/>
                  <a:ext cx="358140" cy="198152"/>
                  <a:chOff x="1760220" y="4259682"/>
                  <a:chExt cx="358140" cy="198152"/>
                </a:xfrm>
              </p:grpSpPr>
              <p:cxnSp>
                <p:nvCxnSpPr>
                  <p:cNvPr id="233" name="Straight Connector 232">
                    <a:extLst>
                      <a:ext uri="{FF2B5EF4-FFF2-40B4-BE49-F238E27FC236}">
                        <a16:creationId xmlns:a16="http://schemas.microsoft.com/office/drawing/2014/main" id="{EE3B80A7-7779-5ABB-7227-4BABD67C4E2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760220" y="4319884"/>
                    <a:ext cx="358140" cy="137950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4" name="Straight Connector 233">
                    <a:extLst>
                      <a:ext uri="{FF2B5EF4-FFF2-40B4-BE49-F238E27FC236}">
                        <a16:creationId xmlns:a16="http://schemas.microsoft.com/office/drawing/2014/main" id="{299A26E5-EB89-C7A6-F113-48F55F04C2C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760220" y="4259682"/>
                    <a:ext cx="358140" cy="144678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28" name="Straight Connector 227">
                  <a:extLst>
                    <a:ext uri="{FF2B5EF4-FFF2-40B4-BE49-F238E27FC236}">
                      <a16:creationId xmlns:a16="http://schemas.microsoft.com/office/drawing/2014/main" id="{A0E1846C-9807-E175-5444-D361984140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158844" y="3865406"/>
                  <a:ext cx="378261" cy="0"/>
                </a:xfrm>
                <a:prstGeom prst="line">
                  <a:avLst/>
                </a:prstGeom>
                <a:ln>
                  <a:solidFill>
                    <a:srgbClr val="FFFF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29" name="Group 228">
                  <a:extLst>
                    <a:ext uri="{FF2B5EF4-FFF2-40B4-BE49-F238E27FC236}">
                      <a16:creationId xmlns:a16="http://schemas.microsoft.com/office/drawing/2014/main" id="{9CE7D680-08D9-2FD6-121A-AC87916F4C4F}"/>
                    </a:ext>
                  </a:extLst>
                </p:cNvPr>
                <p:cNvGrpSpPr/>
                <p:nvPr/>
              </p:nvGrpSpPr>
              <p:grpSpPr>
                <a:xfrm>
                  <a:off x="7336456" y="3885100"/>
                  <a:ext cx="358140" cy="409384"/>
                  <a:chOff x="1760220" y="4048450"/>
                  <a:chExt cx="358140" cy="409384"/>
                </a:xfrm>
              </p:grpSpPr>
              <p:cxnSp>
                <p:nvCxnSpPr>
                  <p:cNvPr id="230" name="Straight Connector 229">
                    <a:extLst>
                      <a:ext uri="{FF2B5EF4-FFF2-40B4-BE49-F238E27FC236}">
                        <a16:creationId xmlns:a16="http://schemas.microsoft.com/office/drawing/2014/main" id="{1E382FF4-7396-5E31-8CB6-821F9E5C2F2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760220" y="4319884"/>
                    <a:ext cx="358140" cy="137950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1" name="Straight Arrow Connector 230">
                    <a:extLst>
                      <a:ext uri="{FF2B5EF4-FFF2-40B4-BE49-F238E27FC236}">
                        <a16:creationId xmlns:a16="http://schemas.microsoft.com/office/drawing/2014/main" id="{12B03007-B826-289C-6CB2-5AB6F54A4D80}"/>
                      </a:ext>
                    </a:extLst>
                  </p:cNvPr>
                  <p:cNvCxnSpPr/>
                  <p:nvPr/>
                </p:nvCxnSpPr>
                <p:spPr>
                  <a:xfrm>
                    <a:off x="1961876" y="4048450"/>
                    <a:ext cx="6595" cy="272090"/>
                  </a:xfrm>
                  <a:prstGeom prst="straightConnector1">
                    <a:avLst/>
                  </a:prstGeom>
                  <a:ln>
                    <a:solidFill>
                      <a:srgbClr val="FFFF0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2" name="Straight Connector 231">
                    <a:extLst>
                      <a:ext uri="{FF2B5EF4-FFF2-40B4-BE49-F238E27FC236}">
                        <a16:creationId xmlns:a16="http://schemas.microsoft.com/office/drawing/2014/main" id="{A877B78D-7FE6-046F-E648-1A7910E8F46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760220" y="4259682"/>
                    <a:ext cx="358140" cy="144678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242" name="Group 241">
              <a:extLst>
                <a:ext uri="{FF2B5EF4-FFF2-40B4-BE49-F238E27FC236}">
                  <a16:creationId xmlns:a16="http://schemas.microsoft.com/office/drawing/2014/main" id="{A5594E6B-E149-F658-C8A0-E0B9E035F2E8}"/>
                </a:ext>
              </a:extLst>
            </p:cNvPr>
            <p:cNvGrpSpPr/>
            <p:nvPr/>
          </p:nvGrpSpPr>
          <p:grpSpPr>
            <a:xfrm>
              <a:off x="6526995" y="4147206"/>
              <a:ext cx="4730464" cy="1149575"/>
              <a:chOff x="2814243" y="4233585"/>
              <a:chExt cx="4730464" cy="1149575"/>
            </a:xfrm>
          </p:grpSpPr>
          <p:grpSp>
            <p:nvGrpSpPr>
              <p:cNvPr id="243" name="Group 242">
                <a:extLst>
                  <a:ext uri="{FF2B5EF4-FFF2-40B4-BE49-F238E27FC236}">
                    <a16:creationId xmlns:a16="http://schemas.microsoft.com/office/drawing/2014/main" id="{8EAF6094-0EFB-CCB4-B100-ABCF68E8ABF9}"/>
                  </a:ext>
                </a:extLst>
              </p:cNvPr>
              <p:cNvGrpSpPr/>
              <p:nvPr/>
            </p:nvGrpSpPr>
            <p:grpSpPr>
              <a:xfrm>
                <a:off x="2814243" y="4753748"/>
                <a:ext cx="4344601" cy="629412"/>
                <a:chOff x="1495058" y="4610742"/>
                <a:chExt cx="4344601" cy="629412"/>
              </a:xfrm>
            </p:grpSpPr>
            <p:sp>
              <p:nvSpPr>
                <p:cNvPr id="248" name="Rectangle 247">
                  <a:extLst>
                    <a:ext uri="{FF2B5EF4-FFF2-40B4-BE49-F238E27FC236}">
                      <a16:creationId xmlns:a16="http://schemas.microsoft.com/office/drawing/2014/main" id="{337BB9EF-E324-BF0D-324E-8B63974A03C8}"/>
                    </a:ext>
                  </a:extLst>
                </p:cNvPr>
                <p:cNvSpPr/>
                <p:nvPr/>
              </p:nvSpPr>
              <p:spPr>
                <a:xfrm>
                  <a:off x="2993759" y="4687704"/>
                  <a:ext cx="1208285" cy="475488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dirty="0">
                      <a:latin typeface="LM Roman 12" panose="00000500000000000000" pitchFamily="50" charset="0"/>
                    </a:rPr>
                    <a:t>default action</a:t>
                  </a:r>
                </a:p>
              </p:txBody>
            </p:sp>
            <p:sp>
              <p:nvSpPr>
                <p:cNvPr id="249" name="Rectangle 248">
                  <a:extLst>
                    <a:ext uri="{FF2B5EF4-FFF2-40B4-BE49-F238E27FC236}">
                      <a16:creationId xmlns:a16="http://schemas.microsoft.com/office/drawing/2014/main" id="{8F29162E-CC7B-5E65-AAAF-A736A128208C}"/>
                    </a:ext>
                  </a:extLst>
                </p:cNvPr>
                <p:cNvSpPr/>
                <p:nvPr/>
              </p:nvSpPr>
              <p:spPr>
                <a:xfrm>
                  <a:off x="4631374" y="4673066"/>
                  <a:ext cx="1208285" cy="475488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dirty="0">
                      <a:latin typeface="LM Roman 12" panose="00000500000000000000" pitchFamily="50" charset="0"/>
                    </a:rPr>
                    <a:t>Break</a:t>
                  </a:r>
                </a:p>
              </p:txBody>
            </p:sp>
            <p:cxnSp>
              <p:nvCxnSpPr>
                <p:cNvPr id="250" name="Straight Arrow Connector 249">
                  <a:extLst>
                    <a:ext uri="{FF2B5EF4-FFF2-40B4-BE49-F238E27FC236}">
                      <a16:creationId xmlns:a16="http://schemas.microsoft.com/office/drawing/2014/main" id="{D216F80F-B8A4-0B05-79C7-355D58ECD49C}"/>
                    </a:ext>
                  </a:extLst>
                </p:cNvPr>
                <p:cNvCxnSpPr>
                  <a:cxnSpLocks/>
                  <a:stCxn id="248" idx="3"/>
                  <a:endCxn id="249" idx="1"/>
                </p:cNvCxnSpPr>
                <p:nvPr/>
              </p:nvCxnSpPr>
              <p:spPr>
                <a:xfrm flipV="1">
                  <a:off x="4202044" y="4910810"/>
                  <a:ext cx="429330" cy="14638"/>
                </a:xfrm>
                <a:prstGeom prst="straightConnector1">
                  <a:avLst/>
                </a:prstGeom>
                <a:ln>
                  <a:solidFill>
                    <a:srgbClr val="FFFF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51" name="Group 250">
                  <a:extLst>
                    <a:ext uri="{FF2B5EF4-FFF2-40B4-BE49-F238E27FC236}">
                      <a16:creationId xmlns:a16="http://schemas.microsoft.com/office/drawing/2014/main" id="{D8B2E591-BDE7-17A5-B7B4-44CFCA52B870}"/>
                    </a:ext>
                  </a:extLst>
                </p:cNvPr>
                <p:cNvGrpSpPr/>
                <p:nvPr/>
              </p:nvGrpSpPr>
              <p:grpSpPr>
                <a:xfrm>
                  <a:off x="1495058" y="4610742"/>
                  <a:ext cx="914400" cy="629412"/>
                  <a:chOff x="1455313" y="4599509"/>
                  <a:chExt cx="914400" cy="629412"/>
                </a:xfrm>
              </p:grpSpPr>
              <p:sp>
                <p:nvSpPr>
                  <p:cNvPr id="253" name="Flowchart: Decision 252">
                    <a:extLst>
                      <a:ext uri="{FF2B5EF4-FFF2-40B4-BE49-F238E27FC236}">
                        <a16:creationId xmlns:a16="http://schemas.microsoft.com/office/drawing/2014/main" id="{35424EBA-7855-CE45-C118-94BA37869E19}"/>
                      </a:ext>
                    </a:extLst>
                  </p:cNvPr>
                  <p:cNvSpPr/>
                  <p:nvPr/>
                </p:nvSpPr>
                <p:spPr>
                  <a:xfrm>
                    <a:off x="1455313" y="4599509"/>
                    <a:ext cx="914400" cy="629412"/>
                  </a:xfrm>
                  <a:prstGeom prst="flowChartDecision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>
                    <a:outerShdw blurRad="44450" dist="27940" dir="5400000" algn="ctr">
                      <a:srgbClr val="000000">
                        <a:alpha val="32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balanced" dir="t">
                      <a:rot lat="0" lon="0" rev="8700000"/>
                    </a:lightRig>
                  </a:scene3d>
                  <a:sp3d>
                    <a:bevelT w="190500" h="38100"/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ZA" sz="1000" dirty="0"/>
                  </a:p>
                </p:txBody>
              </p:sp>
              <p:sp>
                <p:nvSpPr>
                  <p:cNvPr id="254" name="TextBox 253">
                    <a:extLst>
                      <a:ext uri="{FF2B5EF4-FFF2-40B4-BE49-F238E27FC236}">
                        <a16:creationId xmlns:a16="http://schemas.microsoft.com/office/drawing/2014/main" id="{F92AA2E6-2930-16D9-1DF1-A29CB5CFA585}"/>
                      </a:ext>
                    </a:extLst>
                  </p:cNvPr>
                  <p:cNvSpPr txBox="1"/>
                  <p:nvPr/>
                </p:nvSpPr>
                <p:spPr>
                  <a:xfrm>
                    <a:off x="1494152" y="4714911"/>
                    <a:ext cx="86914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ZA" dirty="0">
                        <a:solidFill>
                          <a:schemeClr val="bg1"/>
                        </a:solidFill>
                        <a:latin typeface="LM Roman 12" panose="00000500000000000000" pitchFamily="50" charset="0"/>
                      </a:rPr>
                      <a:t>default</a:t>
                    </a:r>
                  </a:p>
                </p:txBody>
              </p:sp>
            </p:grpSp>
            <p:cxnSp>
              <p:nvCxnSpPr>
                <p:cNvPr id="252" name="Straight Arrow Connector 251">
                  <a:extLst>
                    <a:ext uri="{FF2B5EF4-FFF2-40B4-BE49-F238E27FC236}">
                      <a16:creationId xmlns:a16="http://schemas.microsoft.com/office/drawing/2014/main" id="{4DBA029D-DBF5-EA0E-F54C-58228481AAAA}"/>
                    </a:ext>
                  </a:extLst>
                </p:cNvPr>
                <p:cNvCxnSpPr>
                  <a:cxnSpLocks/>
                  <a:stCxn id="254" idx="3"/>
                  <a:endCxn id="248" idx="1"/>
                </p:cNvCxnSpPr>
                <p:nvPr/>
              </p:nvCxnSpPr>
              <p:spPr>
                <a:xfrm>
                  <a:off x="2403046" y="4910810"/>
                  <a:ext cx="590713" cy="14638"/>
                </a:xfrm>
                <a:prstGeom prst="straightConnector1">
                  <a:avLst/>
                </a:prstGeom>
                <a:ln>
                  <a:solidFill>
                    <a:srgbClr val="FFFF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44" name="Straight Arrow Connector 243">
                <a:extLst>
                  <a:ext uri="{FF2B5EF4-FFF2-40B4-BE49-F238E27FC236}">
                    <a16:creationId xmlns:a16="http://schemas.microsoft.com/office/drawing/2014/main" id="{F82209A3-680B-552D-616A-071508632CD8}"/>
                  </a:ext>
                </a:extLst>
              </p:cNvPr>
              <p:cNvCxnSpPr>
                <a:cxnSpLocks/>
                <a:endCxn id="253" idx="0"/>
              </p:cNvCxnSpPr>
              <p:nvPr/>
            </p:nvCxnSpPr>
            <p:spPr>
              <a:xfrm>
                <a:off x="3271443" y="4547366"/>
                <a:ext cx="0" cy="206382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" name="Straight Connector 244">
                <a:extLst>
                  <a:ext uri="{FF2B5EF4-FFF2-40B4-BE49-F238E27FC236}">
                    <a16:creationId xmlns:a16="http://schemas.microsoft.com/office/drawing/2014/main" id="{C1794AB8-1388-004D-0BC6-5942DD71E1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58844" y="5068454"/>
                <a:ext cx="378261" cy="0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6" name="TextBox 245">
                <a:extLst>
                  <a:ext uri="{FF2B5EF4-FFF2-40B4-BE49-F238E27FC236}">
                    <a16:creationId xmlns:a16="http://schemas.microsoft.com/office/drawing/2014/main" id="{01B10F47-CB66-A775-822F-0A818C2CBBDE}"/>
                  </a:ext>
                </a:extLst>
              </p:cNvPr>
              <p:cNvSpPr txBox="1"/>
              <p:nvPr/>
            </p:nvSpPr>
            <p:spPr>
              <a:xfrm>
                <a:off x="3361987" y="4447286"/>
                <a:ext cx="393889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000" b="1" dirty="0">
                    <a:latin typeface="LM Roman 12" panose="00000500000000000000" pitchFamily="50" charset="0"/>
                  </a:rPr>
                  <a:t>Otherwise do this default action</a:t>
                </a:r>
              </a:p>
            </p:txBody>
          </p:sp>
          <p:cxnSp>
            <p:nvCxnSpPr>
              <p:cNvPr id="247" name="Straight Arrow Connector 246">
                <a:extLst>
                  <a:ext uri="{FF2B5EF4-FFF2-40B4-BE49-F238E27FC236}">
                    <a16:creationId xmlns:a16="http://schemas.microsoft.com/office/drawing/2014/main" id="{4BCE143F-EE81-45B4-711F-1074EEC895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44707" y="4233585"/>
                <a:ext cx="0" cy="834869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44" name="Picture 43">
            <a:extLst>
              <a:ext uri="{FF2B5EF4-FFF2-40B4-BE49-F238E27FC236}">
                <a16:creationId xmlns:a16="http://schemas.microsoft.com/office/drawing/2014/main" id="{303D0283-B619-759E-E698-0990E7B324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0857" y="1874669"/>
            <a:ext cx="5235429" cy="3611965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9358E8CD-951A-621D-6369-7AC0E83A5B4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89996" y="1894528"/>
            <a:ext cx="5885946" cy="3607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918006"/>
      </p:ext>
    </p:extLst>
  </p:cSld>
  <p:clrMapOvr>
    <a:masterClrMapping/>
  </p:clrMapOvr>
  <p:transition spd="slow">
    <p:push dir="u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874</Words>
  <Application>Microsoft Office PowerPoint</Application>
  <PresentationFormat>Widescreen</PresentationFormat>
  <Paragraphs>310</Paragraphs>
  <Slides>14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Aptos</vt:lpstr>
      <vt:lpstr>Aptos Display</vt:lpstr>
      <vt:lpstr>Arial</vt:lpstr>
      <vt:lpstr>Bradley Hand ITC</vt:lpstr>
      <vt:lpstr>Calibri</vt:lpstr>
      <vt:lpstr>LM Roman 12</vt:lpstr>
      <vt:lpstr>Segoe UI Black</vt:lpstr>
      <vt:lpstr>Office 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Isaac Khobo</dc:creator>
  <cp:lastModifiedBy>Isaac Khobo</cp:lastModifiedBy>
  <cp:revision>1</cp:revision>
  <dcterms:created xsi:type="dcterms:W3CDTF">2026-08-23T20:09:54Z</dcterms:created>
  <dcterms:modified xsi:type="dcterms:W3CDTF">2026-08-23T20:10:19Z</dcterms:modified>
</cp:coreProperties>
</file>