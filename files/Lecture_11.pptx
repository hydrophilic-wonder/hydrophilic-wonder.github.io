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553" r:id="rId2"/>
    <p:sldId id="556" r:id="rId3"/>
    <p:sldId id="557" r:id="rId4"/>
    <p:sldId id="558" r:id="rId5"/>
    <p:sldId id="559" r:id="rId6"/>
    <p:sldId id="560" r:id="rId7"/>
    <p:sldId id="561" r:id="rId8"/>
    <p:sldId id="562" r:id="rId9"/>
    <p:sldId id="564" r:id="rId10"/>
    <p:sldId id="555" r:id="rId11"/>
    <p:sldId id="570" r:id="rId12"/>
    <p:sldId id="569" r:id="rId13"/>
    <p:sldId id="571" r:id="rId14"/>
    <p:sldId id="572" r:id="rId15"/>
    <p:sldId id="573" r:id="rId16"/>
    <p:sldId id="574" r:id="rId17"/>
    <p:sldId id="575" r:id="rId18"/>
    <p:sldId id="5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4EE17-59C9-48E2-8BFE-40518D941EE0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FDA2E-4AD5-4827-B57F-3397651874F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98816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67435-E0BC-9A6D-6382-BCD958AAA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BB5F1-FB35-5C60-0723-64A5A5ABC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09945-E1D1-E391-2504-CD0CA7A91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3AD71-197D-D1A6-E564-0C470C98A5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22307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A6E86-53B3-68EC-8420-D869AB7B9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424E2-2BAA-B4A3-64DB-08E35621B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64CBD-F3EA-83EC-4772-4FE28B8D0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3E106-20D1-E440-BAF8-1183D3D5C3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908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AA4D8-E1B8-4511-4088-22DF0423F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9AC8A-BF7F-AB69-BA3E-FAD955D995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97EF5-F5FE-A198-EB98-B113319D4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DA664-890F-30D9-E5CF-F4F268001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83782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699E3-4CB2-C161-6616-F9320BEB4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AB2181-1B89-6C7D-DF63-61C76255F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2E100-6A6C-57BE-AC7F-A59A290F8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D06EB-D81F-C01C-4614-04BD698DE6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44034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0AD87-2620-0009-7323-AD52CB148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A128F-7521-A891-637F-C7CD0A87D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1B47FA-B4AC-7A3E-768E-BEE93EB32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AD085-0DC0-0528-591A-D7B312F76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38568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9F056-E1C1-468C-4C34-B3AE8118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75427-775B-24B0-47D6-24DCB64FFC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20BEE-C857-DC96-31BC-4CAD7A98A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093B2-566F-6CF5-32D1-6948B50B3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510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72E93-A38F-C6CD-40A7-25A10573A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5BEA3-86D4-2DA5-9A87-25A7CAEA2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878CEE-BBBB-3172-812C-AD8E2A44B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61D22-79D7-6C23-28A0-0023F20B1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1253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A946D-EF4C-C2F5-7404-64735D8E6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73A53-4424-A9BA-01FA-199028399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32BF2-205A-6FDB-C5D5-982A96CDA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3EC8E-B8DF-DDCF-17F2-AC328C46CA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167228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58F06-CB5E-C029-007E-0F382465A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522E1-81D9-B59D-F86D-7ED3F1FE2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35320-2768-38B9-3386-E4C0F1A77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04534-4F48-C471-EFDB-DB5A0CFC8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782478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15F64-5BFE-9D48-D899-B342E86A0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45E06-77BA-75E2-1215-62C89FA97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D74D5-9306-7BDC-25FA-E1E43CA86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1EC4A-4939-F498-1930-3F2987564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043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E90B9-ED2A-DA4D-0D95-AA43531F8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0F194-E8A1-CF25-E924-B121CD133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CB932-C4A6-FC7F-1C25-E49EC8A1A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06723-B844-A292-8943-E88C9B7DB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520013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B7138-0A74-C455-52AE-71B14A5DF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58942-DEB7-C490-4C6E-9F44638280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7A3FF-237C-784B-AEF3-F86F684EB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E8970-DE91-81C1-2A99-1C1112726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98602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350D4-C838-5F2D-5812-4B48AC3F3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D497D6-8979-A6CA-D1D3-B4C4DDCD4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41981-E395-2E96-6F9B-9310130AF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7CFDF-A78E-BDF9-B89A-889B5DD91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46408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27889-92DD-AC33-893E-14F72520B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EA248F-81B1-B306-A4AF-4DDA4F5B9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662B-FE76-5775-5272-A8D14400D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051B-09C8-4993-8267-2E61E5BF32C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77AFD-976D-B946-0BDB-59D501A26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50E03-EAD3-BCED-3E11-8F7237E0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875D-4578-41F1-8A28-3AE2D1CAC9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8142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276C8-3F02-DAF6-9E2F-D1406BF95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504FA-7847-05D5-293E-BD199CA14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31156-5F83-CD38-262C-A84973A7E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051B-09C8-4993-8267-2E61E5BF32C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C9004-5223-0F7C-A2A7-D54C11CC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9530D-C971-9971-EDAE-FADD31FE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875D-4578-41F1-8A28-3AE2D1CAC9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6902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3257F-74B0-19C3-D6FC-510BD6E96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6E863-4683-5A3C-CF23-252A6E90F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89D6F-2518-B5DE-6D2D-F9C4A8ADE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051B-09C8-4993-8267-2E61E5BF32C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453B8-7DC0-8EB5-7D0B-2C0214EF3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1A828-D1A4-85BD-A3DF-62C9F8AC7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875D-4578-41F1-8A28-3AE2D1CAC9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04231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32281-1554-494C-EA3B-85136613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D1765-49F0-CDEE-282A-B25D7B0DE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8D60D4-B8C5-0198-57BF-1749D0E6C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7363D-10EB-7DCE-C3B2-399C82996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051B-09C8-4993-8267-2E61E5BF32C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F43AB-0086-E662-AB07-54697A2D3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73BED-DC67-9440-7D79-4DC093B5C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875D-4578-41F1-8A28-3AE2D1CAC9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3048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031A2-5FDF-439A-BA0F-024D20D3A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7F568-DDAE-6398-BDB2-C7EFE877F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499C9-EA8C-0F03-E6B0-AF5CE5392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DAA977-FCCE-C82E-8C93-E529314BD6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762357-4F79-A3AD-0C06-690E956AE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2838AD-9F93-DB6C-B31D-07703C0E0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051B-09C8-4993-8267-2E61E5BF32C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3DE241-B6AA-BDE4-3850-9F78DAC19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23453-C510-BC5B-892D-A390BDECF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875D-4578-41F1-8A28-3AE2D1CAC9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21178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12642-9BA5-171B-F8E8-7590F5973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B4E543-3A70-4902-0703-78AB3DDA6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051B-09C8-4993-8267-2E61E5BF32C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3D7D99-05A3-0C05-EB1E-992741F8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B0124D-DCC3-9F9A-685B-3BCEAC3F9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875D-4578-41F1-8A28-3AE2D1CAC9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4414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E6537-A9BB-2BCB-845D-132E88572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051B-09C8-4993-8267-2E61E5BF32C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F2FDA5-2F15-FA88-4B73-F81542AC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42DC8-9291-AB63-B4E5-4B4E6502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875D-4578-41F1-8A28-3AE2D1CAC9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63990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DD74-BD32-344B-2EE4-A71A291E1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DEE2E-E227-9EA4-96FD-389B4D3BE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46ED77-AC95-B7AB-1192-F7BCBC2A8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2B9A3-D31C-BA25-F41A-AA2EA2BCD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051B-09C8-4993-8267-2E61E5BF32C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CF659-63FD-EE94-C642-C1E0D764C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06A56-F02A-A79E-54B4-274EBF5F1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875D-4578-41F1-8A28-3AE2D1CAC9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94652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820D-AC3B-FB0D-77B1-35B2285A9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D36A9D-1D5E-495D-BACF-3BAE77039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8D29A-E938-1C73-E4FC-335A13FC40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FB10E-1B01-1AF0-7BF6-0BF39F89A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051B-09C8-4993-8267-2E61E5BF32C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F5E05-F1AC-D5EC-965C-14C50E08D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7A201-1CBD-D671-2E08-BCD5449B0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875D-4578-41F1-8A28-3AE2D1CAC9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68959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EA613-E588-115F-8D77-7CD735D05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F52BC0-6039-00B6-697E-BCCD47167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7CD7F-57D2-9C38-0EED-45C992A77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051B-09C8-4993-8267-2E61E5BF32C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AD83A-348D-C672-E918-409CF89D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F5D80-FA40-48D0-78C8-1BE113D64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875D-4578-41F1-8A28-3AE2D1CAC9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14097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05CC08-8A5E-238D-35B8-FD1C3A84EE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D6B323-81E1-A5D6-9386-638EDD26F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37E56-5CEA-84A7-1DBD-4D9B2B38B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051B-09C8-4993-8267-2E61E5BF32C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63337-CAAC-9636-D88A-53491FF27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21C36-73BF-4CDB-2AD2-615E3401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875D-4578-41F1-8A28-3AE2D1CAC9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479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347AFB-C7F8-E13F-F017-594EF2489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4A5C3-E37C-E19B-3F43-08804A996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1218F-7BAA-1488-ACFA-53416B84A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31051B-09C8-4993-8267-2E61E5BF32C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AFB22-F2C0-98AB-AC47-DFC8D58EE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E8A65-271A-316A-4D73-05FFC27C8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60875D-4578-41F1-8A28-3AE2D1CAC9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32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8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8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20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9C766-0F96-626C-B1BC-06A712835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0816006-5352-186D-804D-EDB444B6408A}"/>
              </a:ext>
            </a:extLst>
          </p:cNvPr>
          <p:cNvSpPr txBox="1"/>
          <p:nvPr/>
        </p:nvSpPr>
        <p:spPr>
          <a:xfrm>
            <a:off x="322513" y="1882740"/>
            <a:ext cx="11332779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ZA" sz="8800" dirty="0">
                <a:latin typeface="LM Roman 12" panose="00000500000000000000" pitchFamily="50" charset="0"/>
              </a:rPr>
              <a:t>5</a:t>
            </a:r>
            <a:r>
              <a:rPr lang="en-ZA" sz="8800" b="0" i="0" u="none" strike="noStrike" baseline="0" dirty="0">
                <a:latin typeface="LM Roman 12" panose="00000500000000000000" pitchFamily="50" charset="0"/>
              </a:rPr>
              <a:t>. </a:t>
            </a:r>
            <a:r>
              <a:rPr lang="en-ZA" sz="8800" dirty="0">
                <a:latin typeface="LM Roman 12" panose="00000500000000000000" pitchFamily="50" charset="0"/>
              </a:rPr>
              <a:t>Functions III</a:t>
            </a:r>
            <a:endParaRPr lang="en-ZA" sz="4800" b="0" i="0" u="none" strike="noStrike" baseline="0" dirty="0">
              <a:latin typeface="LM Roman 12" panose="00000500000000000000" pitchFamily="50" charset="0"/>
            </a:endParaRPr>
          </a:p>
          <a:p>
            <a:r>
              <a:rPr lang="en-US" dirty="0">
                <a:latin typeface="LM Roman 12" panose="00000500000000000000" pitchFamily="50" charset="0"/>
              </a:rPr>
              <a:t>Lecture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 11| Enumerations</a:t>
            </a:r>
          </a:p>
          <a:p>
            <a:r>
              <a:rPr lang="en-US" dirty="0">
                <a:latin typeface="LM Roman 12" panose="00000500000000000000" pitchFamily="50" charset="0"/>
              </a:rPr>
              <a:t>	    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A game of chance</a:t>
            </a:r>
          </a:p>
          <a:p>
            <a:r>
              <a:rPr lang="en-US" dirty="0">
                <a:latin typeface="LM Roman 12" panose="00000500000000000000" pitchFamily="50" charset="0"/>
              </a:rPr>
              <a:t>	    Storage classes</a:t>
            </a:r>
          </a:p>
          <a:p>
            <a:r>
              <a:rPr lang="en-US" dirty="0">
                <a:latin typeface="LM Roman 12" panose="00000500000000000000" pitchFamily="50" charset="0"/>
              </a:rPr>
              <a:t>	    Scope rules</a:t>
            </a:r>
          </a:p>
          <a:p>
            <a:r>
              <a:rPr lang="en-US" dirty="0">
                <a:latin typeface="LM Roman 12" panose="00000500000000000000" pitchFamily="50" charset="0"/>
              </a:rPr>
              <a:t>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69EEC1-FD68-1805-F634-8E8ABFF92176}"/>
              </a:ext>
            </a:extLst>
          </p:cNvPr>
          <p:cNvSpPr txBox="1"/>
          <p:nvPr/>
        </p:nvSpPr>
        <p:spPr>
          <a:xfrm>
            <a:off x="406459" y="48083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LM Roman 12" panose="00000500000000000000" pitchFamily="50" charset="0"/>
              </a:rPr>
              <a:t>Isaac Khobo, PhD (</a:t>
            </a:r>
            <a:r>
              <a:rPr lang="en-US" sz="1800" b="0" i="0" u="none" strike="noStrike" baseline="0" dirty="0">
                <a:latin typeface="LM Roman 12" panose="00000500000000000000" pitchFamily="50" charset="0"/>
                <a:hlinkClick r:id="rId3"/>
              </a:rPr>
              <a:t>ilkhobo@sun.ac.za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)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D2E2D45-00FB-5ACA-2174-AD6B2833056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982FB15-136D-ADCA-B97C-7EB1D9BE1B2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C6EF723-ABB0-70E6-D17E-15340B7E996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A4F788-2D65-B235-646F-CADC5717019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EDA1B203-833E-1E48-418D-D3EA459E83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65F16A4-E73B-7AA1-F570-9BDAE472276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14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4B3021B-5059-03CD-0CD7-263BA7B1FE21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PROGRAMMING IN 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2C5E031-E794-7591-3212-24EF49282783}"/>
              </a:ext>
            </a:extLst>
          </p:cNvPr>
          <p:cNvSpPr txBox="1"/>
          <p:nvPr/>
        </p:nvSpPr>
        <p:spPr>
          <a:xfrm>
            <a:off x="7980649" y="6304002"/>
            <a:ext cx="2422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u="sng" dirty="0">
                <a:solidFill>
                  <a:srgbClr val="C00000"/>
                </a:solidFill>
                <a:latin typeface="LM Roman 12" panose="00000500000000000000" pitchFamily="50" charset="0"/>
              </a:rPr>
              <a:t>Chapters 5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5A0476-4599-589E-26BC-D8A1BC7C5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1531" y="3073959"/>
            <a:ext cx="5103824" cy="323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2927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765B4-4168-609E-58C4-F682D93F0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A81F6F6-2FA4-BEE4-FB39-00725283188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5EFD77C-CE1D-65D2-D7EE-797DA00D387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84A94B-A69F-8EAE-1CD2-FF8C8BD7913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2351B53-AF66-A161-9FB6-828A314BB06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4D90A69-CE17-84CB-4807-A56E8857B8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12A9006-6AC8-08B7-CDCF-9300D0D6F6E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14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6C04C53-ADC2-D6A5-7D14-0BA14AE70DDB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Data types recap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A9F9933-B462-C47E-A886-70F46010797B}"/>
              </a:ext>
            </a:extLst>
          </p:cNvPr>
          <p:cNvGrpSpPr/>
          <p:nvPr/>
        </p:nvGrpSpPr>
        <p:grpSpPr>
          <a:xfrm>
            <a:off x="878516" y="1351600"/>
            <a:ext cx="10501621" cy="3092050"/>
            <a:chOff x="3412067" y="2286000"/>
            <a:chExt cx="4318001" cy="30920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86E36D-BD0C-D8D4-4CC6-2BCDF0F17B91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47B7B31-576D-B655-D45B-0A5EF1899E54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C’s built-in (primitive) data types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736431F8-BBAE-4D9A-BBDD-CC98C72296F9}"/>
              </a:ext>
            </a:extLst>
          </p:cNvPr>
          <p:cNvSpPr/>
          <p:nvPr/>
        </p:nvSpPr>
        <p:spPr>
          <a:xfrm>
            <a:off x="1115737" y="2140829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int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073344-AF48-A250-5FC0-2543F71AFDB4}"/>
              </a:ext>
            </a:extLst>
          </p:cNvPr>
          <p:cNvSpPr/>
          <p:nvPr/>
        </p:nvSpPr>
        <p:spPr>
          <a:xfrm>
            <a:off x="3757510" y="2140829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char</a:t>
            </a:r>
            <a:endParaRPr lang="en-Z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BC309E-0095-7057-3291-927282D7F196}"/>
              </a:ext>
            </a:extLst>
          </p:cNvPr>
          <p:cNvSpPr/>
          <p:nvPr/>
        </p:nvSpPr>
        <p:spPr>
          <a:xfrm>
            <a:off x="6399283" y="2140829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float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2BB4BD-E013-FCD0-69B9-EC343843B806}"/>
              </a:ext>
            </a:extLst>
          </p:cNvPr>
          <p:cNvSpPr/>
          <p:nvPr/>
        </p:nvSpPr>
        <p:spPr>
          <a:xfrm>
            <a:off x="9041055" y="2140828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double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B7828A-1F53-9D10-C5C3-26D76584832B}"/>
              </a:ext>
            </a:extLst>
          </p:cNvPr>
          <p:cNvSpPr txBox="1"/>
          <p:nvPr/>
        </p:nvSpPr>
        <p:spPr>
          <a:xfrm>
            <a:off x="1619075" y="3968231"/>
            <a:ext cx="99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integers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A6E212-BBEA-24FC-6AAA-D49F2CF7B684}"/>
              </a:ext>
            </a:extLst>
          </p:cNvPr>
          <p:cNvSpPr txBox="1"/>
          <p:nvPr/>
        </p:nvSpPr>
        <p:spPr>
          <a:xfrm>
            <a:off x="3799122" y="3968231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Characters/strings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6E84D7-10C1-E268-AE6D-EB8CC1516A8B}"/>
              </a:ext>
            </a:extLst>
          </p:cNvPr>
          <p:cNvSpPr txBox="1"/>
          <p:nvPr/>
        </p:nvSpPr>
        <p:spPr>
          <a:xfrm>
            <a:off x="6626340" y="3968231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Floating-point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C5747A-B900-AB16-CA39-655692CB60AD}"/>
              </a:ext>
            </a:extLst>
          </p:cNvPr>
          <p:cNvSpPr txBox="1"/>
          <p:nvPr/>
        </p:nvSpPr>
        <p:spPr>
          <a:xfrm>
            <a:off x="8917537" y="3968231"/>
            <a:ext cx="2504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Double floating-point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F9B601-4D20-4EAD-FB44-839980E526D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1156544" y="2889769"/>
            <a:ext cx="2057578" cy="350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02DBF05-C1F7-824A-009F-8249A49BC7A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"/>
          </a:blip>
          <a:stretch>
            <a:fillRect/>
          </a:stretch>
        </p:blipFill>
        <p:spPr>
          <a:xfrm>
            <a:off x="3874593" y="2768453"/>
            <a:ext cx="1981372" cy="6248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8FB45AC-7F32-3F68-7A1C-741CDE44286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"/>
          </a:blip>
          <a:stretch>
            <a:fillRect/>
          </a:stretch>
        </p:blipFill>
        <p:spPr>
          <a:xfrm>
            <a:off x="6402633" y="2927872"/>
            <a:ext cx="2156647" cy="3124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CD60350-FF9B-6475-34C0-49C1E097A21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"/>
          </a:blip>
          <a:stretch>
            <a:fillRect/>
          </a:stretch>
        </p:blipFill>
        <p:spPr>
          <a:xfrm>
            <a:off x="9061861" y="2958136"/>
            <a:ext cx="2263336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05520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95138-D1B5-E566-D768-299819B89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A714D1D-2681-109A-8821-E8BEE041DB5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2B23C69-5DA4-7B84-0E4D-5D958EE466C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EB9A465-FFF3-7014-B308-98EDACAC19A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DF94966-6AFA-0DA6-460F-43B6B92F41A5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2967099B-0840-FFDE-CC96-A5308C26BC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7828F8F-20F8-7B44-9B25-26430CB775B2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14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93941D6-8874-A490-298F-F00D64053A2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Data types recap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A3A7A94-D018-EC5A-0C95-434D55DFDD95}"/>
              </a:ext>
            </a:extLst>
          </p:cNvPr>
          <p:cNvGrpSpPr/>
          <p:nvPr/>
        </p:nvGrpSpPr>
        <p:grpSpPr>
          <a:xfrm>
            <a:off x="878516" y="1351600"/>
            <a:ext cx="10501621" cy="3092050"/>
            <a:chOff x="3412067" y="2286000"/>
            <a:chExt cx="4318001" cy="30920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1822578-ACF1-5E12-E3B9-ABFEDA0E61D8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FA84D30-A338-0E12-29D7-5302963545D9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C’s built-in (primitive) data types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D29CAB2-21D8-2BF7-A794-8393C7B12876}"/>
              </a:ext>
            </a:extLst>
          </p:cNvPr>
          <p:cNvSpPr/>
          <p:nvPr/>
        </p:nvSpPr>
        <p:spPr>
          <a:xfrm>
            <a:off x="1115737" y="2140829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int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77647C-5B75-4F9F-F8C2-DD00F575C85D}"/>
              </a:ext>
            </a:extLst>
          </p:cNvPr>
          <p:cNvSpPr/>
          <p:nvPr/>
        </p:nvSpPr>
        <p:spPr>
          <a:xfrm>
            <a:off x="3757510" y="2140829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char</a:t>
            </a:r>
            <a:endParaRPr lang="en-Z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24E415-763B-EC85-D899-FFDAEE46D249}"/>
              </a:ext>
            </a:extLst>
          </p:cNvPr>
          <p:cNvSpPr/>
          <p:nvPr/>
        </p:nvSpPr>
        <p:spPr>
          <a:xfrm>
            <a:off x="6399283" y="2140829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float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3111BA-19B9-A3F2-67D3-664E55B1648E}"/>
              </a:ext>
            </a:extLst>
          </p:cNvPr>
          <p:cNvSpPr/>
          <p:nvPr/>
        </p:nvSpPr>
        <p:spPr>
          <a:xfrm>
            <a:off x="9041055" y="2140828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double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40A80-9E08-BCFE-906A-A5AA1681CA25}"/>
              </a:ext>
            </a:extLst>
          </p:cNvPr>
          <p:cNvSpPr txBox="1"/>
          <p:nvPr/>
        </p:nvSpPr>
        <p:spPr>
          <a:xfrm>
            <a:off x="1619075" y="3968231"/>
            <a:ext cx="99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integers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E8573-B729-2114-C130-87B2F3DEFCA2}"/>
              </a:ext>
            </a:extLst>
          </p:cNvPr>
          <p:cNvSpPr txBox="1"/>
          <p:nvPr/>
        </p:nvSpPr>
        <p:spPr>
          <a:xfrm>
            <a:off x="3799122" y="3968231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Characters/strings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6B3CAB-B3F7-654D-9A75-8F3F230F41E6}"/>
              </a:ext>
            </a:extLst>
          </p:cNvPr>
          <p:cNvSpPr txBox="1"/>
          <p:nvPr/>
        </p:nvSpPr>
        <p:spPr>
          <a:xfrm>
            <a:off x="6626340" y="3968231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Floating-point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4CAC2-0D6E-0366-2B20-CF1723B48FF0}"/>
              </a:ext>
            </a:extLst>
          </p:cNvPr>
          <p:cNvSpPr txBox="1"/>
          <p:nvPr/>
        </p:nvSpPr>
        <p:spPr>
          <a:xfrm>
            <a:off x="8917537" y="3968231"/>
            <a:ext cx="2504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Double floating-point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65F197-7896-21BF-15FC-8A57DADE99A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6544" y="2889769"/>
            <a:ext cx="2057578" cy="350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14BF32-AA21-196D-B755-73147E488A5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"/>
          </a:blip>
          <a:stretch>
            <a:fillRect/>
          </a:stretch>
        </p:blipFill>
        <p:spPr>
          <a:xfrm>
            <a:off x="3874593" y="2768453"/>
            <a:ext cx="1981372" cy="6248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96838E3-F460-7D8E-4975-8AD496E0890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"/>
          </a:blip>
          <a:stretch>
            <a:fillRect/>
          </a:stretch>
        </p:blipFill>
        <p:spPr>
          <a:xfrm>
            <a:off x="6402633" y="2927872"/>
            <a:ext cx="2156647" cy="3124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FE54470-795C-A0CF-AC47-D0D501B36EA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"/>
          </a:blip>
          <a:stretch>
            <a:fillRect/>
          </a:stretch>
        </p:blipFill>
        <p:spPr>
          <a:xfrm>
            <a:off x="9061861" y="2958136"/>
            <a:ext cx="2263336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371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7BB78-38DC-E860-1C9C-8FF6F6A6E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C03FFA2B-20D3-0D80-A432-C0176B84D38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D9CA5DE-26E3-1912-343E-3C82244A22D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29F05C6-29FF-D836-877A-39C4F4CEC252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D5F06AD-CB7E-B452-8685-A959707304F5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A37F961E-A802-3135-8BC2-32B6FF6604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28F32BF-EBDF-7AC7-B443-B231FB681BB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14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543D336-6FC7-06C4-EBCC-90BB89CE929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Data types recap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32CA4D-DA13-109B-3CB8-160A0E0D9ED5}"/>
              </a:ext>
            </a:extLst>
          </p:cNvPr>
          <p:cNvGrpSpPr/>
          <p:nvPr/>
        </p:nvGrpSpPr>
        <p:grpSpPr>
          <a:xfrm>
            <a:off x="878516" y="1351600"/>
            <a:ext cx="10501621" cy="3092050"/>
            <a:chOff x="3412067" y="2286000"/>
            <a:chExt cx="4318001" cy="30920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EC93AE6-B509-98DE-2BDD-FA2B2ABD03D6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43154F1-492D-7B51-5F75-B5D5B6023166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C’s built-in (primitive) data types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5E34DAE-6086-D1D3-55FB-1DFCB4AD5436}"/>
              </a:ext>
            </a:extLst>
          </p:cNvPr>
          <p:cNvSpPr/>
          <p:nvPr/>
        </p:nvSpPr>
        <p:spPr>
          <a:xfrm>
            <a:off x="1115737" y="2140829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int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17A4A8-6753-E153-F5DC-DF0CA0629B82}"/>
              </a:ext>
            </a:extLst>
          </p:cNvPr>
          <p:cNvSpPr/>
          <p:nvPr/>
        </p:nvSpPr>
        <p:spPr>
          <a:xfrm>
            <a:off x="3757510" y="2140829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char</a:t>
            </a:r>
            <a:endParaRPr lang="en-Z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283941-F135-F1FC-9973-B263C34D2832}"/>
              </a:ext>
            </a:extLst>
          </p:cNvPr>
          <p:cNvSpPr/>
          <p:nvPr/>
        </p:nvSpPr>
        <p:spPr>
          <a:xfrm>
            <a:off x="6399283" y="2140829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float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515B61-52E4-A2B2-0A67-9733604F3ADB}"/>
              </a:ext>
            </a:extLst>
          </p:cNvPr>
          <p:cNvSpPr/>
          <p:nvPr/>
        </p:nvSpPr>
        <p:spPr>
          <a:xfrm>
            <a:off x="9041055" y="2140828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double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4360D7-F345-F1C0-1818-56710C4C2265}"/>
              </a:ext>
            </a:extLst>
          </p:cNvPr>
          <p:cNvSpPr txBox="1"/>
          <p:nvPr/>
        </p:nvSpPr>
        <p:spPr>
          <a:xfrm>
            <a:off x="1619075" y="3968231"/>
            <a:ext cx="99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integers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AF6A6-E7B3-C052-AC7A-2296E311D5B8}"/>
              </a:ext>
            </a:extLst>
          </p:cNvPr>
          <p:cNvSpPr txBox="1"/>
          <p:nvPr/>
        </p:nvSpPr>
        <p:spPr>
          <a:xfrm>
            <a:off x="3799122" y="3968231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Characters/strings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92D657-05BF-E0D8-5F57-3261D144672F}"/>
              </a:ext>
            </a:extLst>
          </p:cNvPr>
          <p:cNvSpPr txBox="1"/>
          <p:nvPr/>
        </p:nvSpPr>
        <p:spPr>
          <a:xfrm>
            <a:off x="6626340" y="3968231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Floating-point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FEDB77-A029-D1D0-F338-13DB29F34CC7}"/>
              </a:ext>
            </a:extLst>
          </p:cNvPr>
          <p:cNvSpPr txBox="1"/>
          <p:nvPr/>
        </p:nvSpPr>
        <p:spPr>
          <a:xfrm>
            <a:off x="8917537" y="3968231"/>
            <a:ext cx="2504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Double floating-point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4D4C95-D721-F3B9-63A1-70B8C498068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6544" y="2889769"/>
            <a:ext cx="2057578" cy="350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E592B6-9A4F-C9C0-2406-81A5FC41B81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4593" y="2768453"/>
            <a:ext cx="1981372" cy="6248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4B2CD05-5550-9E76-EA4E-CD9B775C4E8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"/>
          </a:blip>
          <a:stretch>
            <a:fillRect/>
          </a:stretch>
        </p:blipFill>
        <p:spPr>
          <a:xfrm>
            <a:off x="6402633" y="2927872"/>
            <a:ext cx="2156647" cy="3124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18DE619-1B15-180C-E299-67D86D139F1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"/>
          </a:blip>
          <a:stretch>
            <a:fillRect/>
          </a:stretch>
        </p:blipFill>
        <p:spPr>
          <a:xfrm>
            <a:off x="9061861" y="2958136"/>
            <a:ext cx="2263336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32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7BA7B-1F85-61F3-95B0-5F79FACDD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2FD7A70-E28B-4BAB-6E4A-0F0BFF37207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A005037-AB4E-ADB3-EECB-A4BA6050DA4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CAD9D4-84DA-3160-8A01-0DC2E23E82F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6D453C9-3240-B54D-FCD6-4968C8E7C1C2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B14B9240-7A6D-53C7-2E47-356AC4A3F0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ED06BF-6344-3020-2ED7-6D2AB073E0A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14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AA1EFFD-2C30-F96F-A853-341D376C2DB5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Data types recap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BB44110-F58C-D119-A5B5-F7F1E494FBA2}"/>
              </a:ext>
            </a:extLst>
          </p:cNvPr>
          <p:cNvGrpSpPr/>
          <p:nvPr/>
        </p:nvGrpSpPr>
        <p:grpSpPr>
          <a:xfrm>
            <a:off x="878516" y="1351600"/>
            <a:ext cx="10501621" cy="3092050"/>
            <a:chOff x="3412067" y="2286000"/>
            <a:chExt cx="4318001" cy="30920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6AAE2C0-D95B-0948-F4DE-1557C05F1F30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A9CD91E-BC2F-444A-CA53-D39BD6DD18CC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C’s built-in (primitive) data types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721E254C-7D56-BFB2-6D02-E77E0AC7D7CB}"/>
              </a:ext>
            </a:extLst>
          </p:cNvPr>
          <p:cNvSpPr/>
          <p:nvPr/>
        </p:nvSpPr>
        <p:spPr>
          <a:xfrm>
            <a:off x="1115737" y="2140829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int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4DB28E-6BC5-9B6E-04CD-EB4A7568BAE1}"/>
              </a:ext>
            </a:extLst>
          </p:cNvPr>
          <p:cNvSpPr/>
          <p:nvPr/>
        </p:nvSpPr>
        <p:spPr>
          <a:xfrm>
            <a:off x="3757510" y="2140829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char</a:t>
            </a:r>
            <a:endParaRPr lang="en-Z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61F85E-39FB-D615-D95D-A117D4DF2502}"/>
              </a:ext>
            </a:extLst>
          </p:cNvPr>
          <p:cNvSpPr/>
          <p:nvPr/>
        </p:nvSpPr>
        <p:spPr>
          <a:xfrm>
            <a:off x="6399283" y="2140829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float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B9FCD5-1945-ADEF-BD05-95A052E3B649}"/>
              </a:ext>
            </a:extLst>
          </p:cNvPr>
          <p:cNvSpPr/>
          <p:nvPr/>
        </p:nvSpPr>
        <p:spPr>
          <a:xfrm>
            <a:off x="9041055" y="2140828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double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34253C-04C8-15F3-691F-330A5D245501}"/>
              </a:ext>
            </a:extLst>
          </p:cNvPr>
          <p:cNvSpPr txBox="1"/>
          <p:nvPr/>
        </p:nvSpPr>
        <p:spPr>
          <a:xfrm>
            <a:off x="1619075" y="3968231"/>
            <a:ext cx="99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integers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6485D7-C37C-2E47-C531-E100160BAEF2}"/>
              </a:ext>
            </a:extLst>
          </p:cNvPr>
          <p:cNvSpPr txBox="1"/>
          <p:nvPr/>
        </p:nvSpPr>
        <p:spPr>
          <a:xfrm>
            <a:off x="3799122" y="3968231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Characters/strings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947321-056E-A3A4-92F2-83FFB7468B8F}"/>
              </a:ext>
            </a:extLst>
          </p:cNvPr>
          <p:cNvSpPr txBox="1"/>
          <p:nvPr/>
        </p:nvSpPr>
        <p:spPr>
          <a:xfrm>
            <a:off x="6626340" y="3968231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Floating-point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BE35E0-B2F4-2F77-D1F2-20C3CD0102AB}"/>
              </a:ext>
            </a:extLst>
          </p:cNvPr>
          <p:cNvSpPr txBox="1"/>
          <p:nvPr/>
        </p:nvSpPr>
        <p:spPr>
          <a:xfrm>
            <a:off x="8917537" y="3968231"/>
            <a:ext cx="2504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Double floating-point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CF08EA-0C6E-A8B5-0FC0-489A9DF1F6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6544" y="2889769"/>
            <a:ext cx="2057578" cy="350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4101BD-8B98-3B4F-62AD-9F8231A32B6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4593" y="2768453"/>
            <a:ext cx="1981372" cy="6248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ACCFF06-AF15-1C7A-D289-B3F6CC8301F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02633" y="2927872"/>
            <a:ext cx="2156647" cy="3124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317FAF9-5B20-5792-7DF2-994BA5C445D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"/>
          </a:blip>
          <a:stretch>
            <a:fillRect/>
          </a:stretch>
        </p:blipFill>
        <p:spPr>
          <a:xfrm>
            <a:off x="9061861" y="2958136"/>
            <a:ext cx="2263336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883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35FA8-3C40-6D66-3999-6597BDB2E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EA2D5A6-CD86-A3C4-1DAE-52A61FCB3C8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77210CC-6C02-89DF-BAF8-A0FB57F35DD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16C426-BDC9-4A82-8609-5B564BEBC32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8E572B-9079-3A85-9FBB-280FF2EBE6D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C3968135-A781-E446-F418-4D0931717A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96D8620-BCE6-66BA-0609-B18E1F5831B2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14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6660D17-B6A6-EC9A-FA0B-43F2C62033B2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Data types recap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1180A1-0E2E-9638-EAED-4E05F2D47FA5}"/>
              </a:ext>
            </a:extLst>
          </p:cNvPr>
          <p:cNvGrpSpPr/>
          <p:nvPr/>
        </p:nvGrpSpPr>
        <p:grpSpPr>
          <a:xfrm>
            <a:off x="878516" y="1351600"/>
            <a:ext cx="10501621" cy="3092050"/>
            <a:chOff x="3412067" y="2286000"/>
            <a:chExt cx="4318001" cy="30920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FE7F139-AF47-F89C-5BDA-A7397FED448A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7AEAC39-9134-C303-6287-4C019070CC14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C’s built-in (primitive) data types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650427D-DF50-4813-3630-418DA12DEA2A}"/>
              </a:ext>
            </a:extLst>
          </p:cNvPr>
          <p:cNvSpPr/>
          <p:nvPr/>
        </p:nvSpPr>
        <p:spPr>
          <a:xfrm>
            <a:off x="1115737" y="2140829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int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6718C5-102D-3599-7726-88B005E3E065}"/>
              </a:ext>
            </a:extLst>
          </p:cNvPr>
          <p:cNvSpPr/>
          <p:nvPr/>
        </p:nvSpPr>
        <p:spPr>
          <a:xfrm>
            <a:off x="3757510" y="2140829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char</a:t>
            </a:r>
            <a:endParaRPr lang="en-Z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BCC642-3BE8-28D7-6216-5E454A82F46F}"/>
              </a:ext>
            </a:extLst>
          </p:cNvPr>
          <p:cNvSpPr/>
          <p:nvPr/>
        </p:nvSpPr>
        <p:spPr>
          <a:xfrm>
            <a:off x="6399283" y="2140829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float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53C221-034F-CA86-0258-4F3F6DA5F4D1}"/>
              </a:ext>
            </a:extLst>
          </p:cNvPr>
          <p:cNvSpPr/>
          <p:nvPr/>
        </p:nvSpPr>
        <p:spPr>
          <a:xfrm>
            <a:off x="9041055" y="2140828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double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A65AA-8D63-6E8C-74AF-22908819A172}"/>
              </a:ext>
            </a:extLst>
          </p:cNvPr>
          <p:cNvSpPr txBox="1"/>
          <p:nvPr/>
        </p:nvSpPr>
        <p:spPr>
          <a:xfrm>
            <a:off x="1619075" y="3968231"/>
            <a:ext cx="99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integers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F0318A-0473-7186-9831-EA75AD662709}"/>
              </a:ext>
            </a:extLst>
          </p:cNvPr>
          <p:cNvSpPr txBox="1"/>
          <p:nvPr/>
        </p:nvSpPr>
        <p:spPr>
          <a:xfrm>
            <a:off x="3799122" y="3968231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Characters/strings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D5B2BF-D570-193A-BC8E-7AA5725ABE54}"/>
              </a:ext>
            </a:extLst>
          </p:cNvPr>
          <p:cNvSpPr txBox="1"/>
          <p:nvPr/>
        </p:nvSpPr>
        <p:spPr>
          <a:xfrm>
            <a:off x="6626340" y="3968231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Floating-point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48407E-23EE-2F4C-EC3C-9B7222A63723}"/>
              </a:ext>
            </a:extLst>
          </p:cNvPr>
          <p:cNvSpPr txBox="1"/>
          <p:nvPr/>
        </p:nvSpPr>
        <p:spPr>
          <a:xfrm>
            <a:off x="8917537" y="3968231"/>
            <a:ext cx="2504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Double floating-point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1933E8-854F-344A-DB29-8A0F9AA77C1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6544" y="2889769"/>
            <a:ext cx="2057578" cy="350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7D4CF0F-7A99-0C28-F41E-3DD2DA1C0D3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4593" y="2768453"/>
            <a:ext cx="1981372" cy="6248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5A4A3DA-E805-8783-4F3A-A0A13D4A862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02633" y="2927872"/>
            <a:ext cx="2156647" cy="3124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EE7CD65-ACB9-36DF-195C-7DB677CB15DA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61861" y="2958136"/>
            <a:ext cx="2263336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305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56980-D7FC-96E9-8809-BF93E74DE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EFB53C9-F3D7-5D3F-D062-7CE31F859607}"/>
              </a:ext>
            </a:extLst>
          </p:cNvPr>
          <p:cNvGrpSpPr/>
          <p:nvPr/>
        </p:nvGrpSpPr>
        <p:grpSpPr>
          <a:xfrm>
            <a:off x="845189" y="3658572"/>
            <a:ext cx="10501621" cy="3092050"/>
            <a:chOff x="3412067" y="2286000"/>
            <a:chExt cx="4318001" cy="30920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4997560-589A-E23D-6F3E-28BC0B191A0E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DFB4BFA-8800-1231-CC17-B10226AE9D2A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C’s built-in (primitive) data types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838D457-3F7B-A21F-F3B0-D4E3EA8DA647}"/>
              </a:ext>
            </a:extLst>
          </p:cNvPr>
          <p:cNvSpPr/>
          <p:nvPr/>
        </p:nvSpPr>
        <p:spPr>
          <a:xfrm>
            <a:off x="1082410" y="4447801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int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F6614C-8289-ED96-CC11-187629587BFE}"/>
              </a:ext>
            </a:extLst>
          </p:cNvPr>
          <p:cNvSpPr/>
          <p:nvPr/>
        </p:nvSpPr>
        <p:spPr>
          <a:xfrm>
            <a:off x="3724183" y="4447801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char</a:t>
            </a:r>
            <a:endParaRPr lang="en-Z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62F96F-CAC2-B4C7-F4CD-4017AD5A8292}"/>
              </a:ext>
            </a:extLst>
          </p:cNvPr>
          <p:cNvSpPr/>
          <p:nvPr/>
        </p:nvSpPr>
        <p:spPr>
          <a:xfrm>
            <a:off x="6365956" y="4447801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float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BB9030-93CC-DD70-F077-AFCDEAB5B465}"/>
              </a:ext>
            </a:extLst>
          </p:cNvPr>
          <p:cNvSpPr/>
          <p:nvPr/>
        </p:nvSpPr>
        <p:spPr>
          <a:xfrm>
            <a:off x="9007728" y="4447800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double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90DBD6-F34E-23D3-84D3-FF013C109A9E}"/>
              </a:ext>
            </a:extLst>
          </p:cNvPr>
          <p:cNvSpPr txBox="1"/>
          <p:nvPr/>
        </p:nvSpPr>
        <p:spPr>
          <a:xfrm>
            <a:off x="1585748" y="6275203"/>
            <a:ext cx="99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integers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4F3884-60EF-04EA-74AA-F6AC1ED1E7AE}"/>
              </a:ext>
            </a:extLst>
          </p:cNvPr>
          <p:cNvSpPr txBox="1"/>
          <p:nvPr/>
        </p:nvSpPr>
        <p:spPr>
          <a:xfrm>
            <a:off x="3765795" y="6275203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Characters/strings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4DB57A-69F4-830B-43C3-6CA41D3526D8}"/>
              </a:ext>
            </a:extLst>
          </p:cNvPr>
          <p:cNvSpPr txBox="1"/>
          <p:nvPr/>
        </p:nvSpPr>
        <p:spPr>
          <a:xfrm>
            <a:off x="6593013" y="6275203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Floating-point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A0D95D-CDD4-3CCF-8231-1C77B8515ADD}"/>
              </a:ext>
            </a:extLst>
          </p:cNvPr>
          <p:cNvSpPr txBox="1"/>
          <p:nvPr/>
        </p:nvSpPr>
        <p:spPr>
          <a:xfrm>
            <a:off x="8884210" y="6275203"/>
            <a:ext cx="2504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Double floating-point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5DA178-7628-F572-26AB-80EE25B51E6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3217" y="5196741"/>
            <a:ext cx="2057578" cy="350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D450EC-C027-1C51-6D5A-E894520859C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1266" y="5075425"/>
            <a:ext cx="1981372" cy="6248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084C59B-04F5-DF5A-3EBF-AD697B74DB0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9306" y="5234844"/>
            <a:ext cx="2156647" cy="3124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51CF335-380C-A720-6031-081C7E67505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28534" y="5265108"/>
            <a:ext cx="2263336" cy="30482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2406DF6-5C60-76A3-1785-611FD5A6CDDF}"/>
              </a:ext>
            </a:extLst>
          </p:cNvPr>
          <p:cNvGrpSpPr/>
          <p:nvPr/>
        </p:nvGrpSpPr>
        <p:grpSpPr>
          <a:xfrm>
            <a:off x="461394" y="1820525"/>
            <a:ext cx="11274804" cy="1349363"/>
            <a:chOff x="3412067" y="2286000"/>
            <a:chExt cx="4318001" cy="134936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5756662-1081-DC30-1826-41199AFF5EEC}"/>
                </a:ext>
              </a:extLst>
            </p:cNvPr>
            <p:cNvSpPr/>
            <p:nvPr/>
          </p:nvSpPr>
          <p:spPr>
            <a:xfrm>
              <a:off x="3412067" y="2286000"/>
              <a:ext cx="4318001" cy="13493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944CA0B-BFED-5BCB-6B1F-EBAF2AF39392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What is an enum?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D6EC8B9C-6806-D87B-D720-2E80BE2D87BC}"/>
              </a:ext>
            </a:extLst>
          </p:cNvPr>
          <p:cNvSpPr/>
          <p:nvPr/>
        </p:nvSpPr>
        <p:spPr>
          <a:xfrm>
            <a:off x="756866" y="2446289"/>
            <a:ext cx="1367012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992ABE-DFA2-3EA7-0C0D-B104A15FDDD8}"/>
              </a:ext>
            </a:extLst>
          </p:cNvPr>
          <p:cNvSpPr/>
          <p:nvPr/>
        </p:nvSpPr>
        <p:spPr>
          <a:xfrm>
            <a:off x="997320" y="2439601"/>
            <a:ext cx="10294549" cy="5528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2ED8E9-1A18-7758-F9A6-45751A400D17}"/>
              </a:ext>
            </a:extLst>
          </p:cNvPr>
          <p:cNvSpPr txBox="1"/>
          <p:nvPr/>
        </p:nvSpPr>
        <p:spPr>
          <a:xfrm>
            <a:off x="997320" y="2449778"/>
            <a:ext cx="10599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b="1" dirty="0">
                <a:latin typeface="LM Roman 12" panose="00000500000000000000" pitchFamily="50" charset="0"/>
              </a:rPr>
              <a:t>User-defined type</a:t>
            </a:r>
            <a:r>
              <a:rPr lang="en-ZA" sz="2400" dirty="0">
                <a:latin typeface="LM Roman 12" panose="00000500000000000000" pitchFamily="50" charset="0"/>
              </a:rPr>
              <a:t>, assigning meaningful names to a set of integer constants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8D8B566-AC11-3C6C-EE44-C25D7EF2920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CFB76D8-C68D-4550-7221-AFCCB955540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0861258-6BAA-6097-EC98-75E8D50B7C1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3D42A6D-0120-D6F1-5A06-E30A068B7BCD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2C2DDF11-FD88-A6D6-5606-E99885085F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7C7AFC4-695B-981E-4F65-4514DD5256F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14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F72F917-C043-A406-B526-E71A0D387ABF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Data types recap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811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45625-8991-9E6E-C564-65B286F66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1778594-CA77-693E-D124-8F03B5476523}"/>
              </a:ext>
            </a:extLst>
          </p:cNvPr>
          <p:cNvGrpSpPr/>
          <p:nvPr/>
        </p:nvGrpSpPr>
        <p:grpSpPr>
          <a:xfrm>
            <a:off x="845189" y="6858000"/>
            <a:ext cx="10501621" cy="3092050"/>
            <a:chOff x="3412067" y="2286000"/>
            <a:chExt cx="4318001" cy="30920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37C8907-CD27-0470-3745-6F38D54D368B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CACB1F2-8C61-2ADB-A90C-93A467D1DECE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C’s built-in (primitive) data types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E9339B7-BA44-4C2D-DB60-8A2EC05ED7AC}"/>
              </a:ext>
            </a:extLst>
          </p:cNvPr>
          <p:cNvSpPr/>
          <p:nvPr/>
        </p:nvSpPr>
        <p:spPr>
          <a:xfrm>
            <a:off x="1082410" y="7647229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int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5CE61E-71A2-FE06-C76A-F1BD45EB2D87}"/>
              </a:ext>
            </a:extLst>
          </p:cNvPr>
          <p:cNvSpPr/>
          <p:nvPr/>
        </p:nvSpPr>
        <p:spPr>
          <a:xfrm>
            <a:off x="3724183" y="7647229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char</a:t>
            </a:r>
            <a:endParaRPr lang="en-Z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0DC834-A86C-5BA7-433A-45CD65E874AA}"/>
              </a:ext>
            </a:extLst>
          </p:cNvPr>
          <p:cNvSpPr/>
          <p:nvPr/>
        </p:nvSpPr>
        <p:spPr>
          <a:xfrm>
            <a:off x="6365956" y="7647229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float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9FFB6A-0E9D-6327-29DE-DF8B439B2D0A}"/>
              </a:ext>
            </a:extLst>
          </p:cNvPr>
          <p:cNvSpPr/>
          <p:nvPr/>
        </p:nvSpPr>
        <p:spPr>
          <a:xfrm>
            <a:off x="9007728" y="7647228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double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8A1353-2063-0148-D9AD-EEAF80B38CDF}"/>
              </a:ext>
            </a:extLst>
          </p:cNvPr>
          <p:cNvSpPr txBox="1"/>
          <p:nvPr/>
        </p:nvSpPr>
        <p:spPr>
          <a:xfrm>
            <a:off x="1585748" y="9474631"/>
            <a:ext cx="99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integers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074D6-7231-F1EE-AC13-937270DDF9F6}"/>
              </a:ext>
            </a:extLst>
          </p:cNvPr>
          <p:cNvSpPr txBox="1"/>
          <p:nvPr/>
        </p:nvSpPr>
        <p:spPr>
          <a:xfrm>
            <a:off x="3765795" y="9474631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Characters/strings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C4E6F8-A3D2-38AE-3EFC-D1307A06D2A6}"/>
              </a:ext>
            </a:extLst>
          </p:cNvPr>
          <p:cNvSpPr txBox="1"/>
          <p:nvPr/>
        </p:nvSpPr>
        <p:spPr>
          <a:xfrm>
            <a:off x="6593013" y="9474631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Floating-point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A9C8C9-0C13-9138-EA3C-4D68E826D098}"/>
              </a:ext>
            </a:extLst>
          </p:cNvPr>
          <p:cNvSpPr txBox="1"/>
          <p:nvPr/>
        </p:nvSpPr>
        <p:spPr>
          <a:xfrm>
            <a:off x="8884210" y="9474631"/>
            <a:ext cx="2504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Double floating-point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EC8741-4C2E-7E8C-FCAC-4FF9AE829CE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3217" y="8396169"/>
            <a:ext cx="2057578" cy="350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86B678-B352-8C15-0310-5447B6A738F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1266" y="8274853"/>
            <a:ext cx="1981372" cy="6248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C06A332-7728-03CE-8C28-A58C0CE222F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9306" y="8434272"/>
            <a:ext cx="2156647" cy="3124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02CF40-25FD-5369-84C7-7AB81D08FDC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28534" y="8464536"/>
            <a:ext cx="2263336" cy="30482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5E62966-5005-01D6-57B6-90466E529567}"/>
              </a:ext>
            </a:extLst>
          </p:cNvPr>
          <p:cNvGrpSpPr/>
          <p:nvPr/>
        </p:nvGrpSpPr>
        <p:grpSpPr>
          <a:xfrm>
            <a:off x="562994" y="5376489"/>
            <a:ext cx="11274804" cy="1349363"/>
            <a:chOff x="3412067" y="2286000"/>
            <a:chExt cx="4318001" cy="134936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F06943A-F061-EF12-584D-8E65849718CC}"/>
                </a:ext>
              </a:extLst>
            </p:cNvPr>
            <p:cNvSpPr/>
            <p:nvPr/>
          </p:nvSpPr>
          <p:spPr>
            <a:xfrm>
              <a:off x="3412067" y="2286000"/>
              <a:ext cx="4318001" cy="13493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264553A-D861-F345-AE65-17B60DF7FB5F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What is an enum?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3E58B415-C75F-613D-9862-ADA64A01D658}"/>
              </a:ext>
            </a:extLst>
          </p:cNvPr>
          <p:cNvSpPr/>
          <p:nvPr/>
        </p:nvSpPr>
        <p:spPr>
          <a:xfrm>
            <a:off x="858466" y="6002253"/>
            <a:ext cx="1367012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C81FC1-8C9F-DDE5-41CD-5C91AED15C46}"/>
              </a:ext>
            </a:extLst>
          </p:cNvPr>
          <p:cNvSpPr/>
          <p:nvPr/>
        </p:nvSpPr>
        <p:spPr>
          <a:xfrm>
            <a:off x="1098920" y="5995565"/>
            <a:ext cx="10294549" cy="5528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F76251-CC16-129C-8BCB-934B993FCCD6}"/>
              </a:ext>
            </a:extLst>
          </p:cNvPr>
          <p:cNvSpPr txBox="1"/>
          <p:nvPr/>
        </p:nvSpPr>
        <p:spPr>
          <a:xfrm>
            <a:off x="1098920" y="6005742"/>
            <a:ext cx="10599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b="1" dirty="0">
                <a:latin typeface="LM Roman 12" panose="00000500000000000000" pitchFamily="50" charset="0"/>
              </a:rPr>
              <a:t>User-defined type</a:t>
            </a:r>
            <a:r>
              <a:rPr lang="en-ZA" sz="2400" dirty="0">
                <a:latin typeface="LM Roman 12" panose="00000500000000000000" pitchFamily="50" charset="0"/>
              </a:rPr>
              <a:t>, assigning meaningful names to a set of integer constants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25F68EE-A577-C27A-FB36-19E598EF53A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3020A84-F934-8F3B-631D-55DC15A219D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DB7C44C-D246-879B-F614-4F1644BDFAB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CCEE477-86E9-35B3-09DC-14F2F85C65C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A844C8D9-95EE-BDB4-8F92-989CC3FD1B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0A8CBF6-204E-8E38-0689-C1EA91388E6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14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DE3A086-E865-A3AA-68C3-EDB30B18A11B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Data types recap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D20CE4C-F336-AAC1-F9DC-D3D7EA6741F7}"/>
              </a:ext>
            </a:extLst>
          </p:cNvPr>
          <p:cNvSpPr/>
          <p:nvPr/>
        </p:nvSpPr>
        <p:spPr>
          <a:xfrm>
            <a:off x="886237" y="2310777"/>
            <a:ext cx="10486179" cy="24621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enum</a:t>
            </a:r>
            <a:r>
              <a:rPr lang="en-ZA" sz="4400" b="1" dirty="0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r>
              <a:rPr lang="en-ZA" sz="4400" b="1" dirty="0" err="1">
                <a:solidFill>
                  <a:srgbClr val="FF0000"/>
                </a:solidFill>
                <a:latin typeface="LM Roman 12" panose="00000500000000000000" pitchFamily="50" charset="0"/>
              </a:rPr>
              <a:t>enumName</a:t>
            </a:r>
            <a:r>
              <a:rPr lang="en-ZA" sz="4400" dirty="0">
                <a:latin typeface="LM Roman 12" panose="00000500000000000000" pitchFamily="50" charset="0"/>
              </a:rPr>
              <a:t> 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{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CONSTANT0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 , </a:t>
            </a:r>
          </a:p>
          <a:p>
            <a:pPr algn="ctr"/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CONSTANT1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 , </a:t>
            </a:r>
          </a:p>
          <a:p>
            <a:pPr algn="ctr"/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CONSTANT2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, … } 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F05C5F-F92B-C594-1466-A52737D4EDB9}"/>
              </a:ext>
            </a:extLst>
          </p:cNvPr>
          <p:cNvSpPr txBox="1"/>
          <p:nvPr/>
        </p:nvSpPr>
        <p:spPr>
          <a:xfrm>
            <a:off x="4373001" y="1456286"/>
            <a:ext cx="27295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u="sng" dirty="0">
                <a:latin typeface="LM Roman 12" panose="00000500000000000000" pitchFamily="50" charset="0"/>
              </a:rPr>
              <a:t>FORMAT</a:t>
            </a:r>
            <a:endParaRPr lang="en-ZA" sz="4400" b="1" u="sng" dirty="0">
              <a:solidFill>
                <a:srgbClr val="00B0F0"/>
              </a:solidFill>
              <a:latin typeface="LM Roman 12" panose="00000500000000000000" pitchFamily="50" charset="0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8" name="Slide Zoom 27">
                <a:extLst>
                  <a:ext uri="{FF2B5EF4-FFF2-40B4-BE49-F238E27FC236}">
                    <a16:creationId xmlns:a16="http://schemas.microsoft.com/office/drawing/2014/main" id="{33F00A93-BDE8-1B8F-EA3D-5564F5F1B96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287153" y="4132273"/>
              <a:ext cx="1004717" cy="565153"/>
            </p:xfrm>
            <a:graphic>
              <a:graphicData uri="http://schemas.microsoft.com/office/powerpoint/2016/slidezoom">
                <pslz:sldZm>
                  <pslz:sldZmObj sldId="564" cId="2024706124">
                    <pslz:zmPr id="{94289AFA-54F9-437D-895A-9AAEE759304B}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004717" cy="565153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8" name="Slide Zoom 27">
                <a:extLst>
                  <a:ext uri="{FF2B5EF4-FFF2-40B4-BE49-F238E27FC236}">
                    <a16:creationId xmlns:a16="http://schemas.microsoft.com/office/drawing/2014/main" id="{33F00A93-BDE8-1B8F-EA3D-5564F5F1B96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287153" y="4132273"/>
                <a:ext cx="1004717" cy="56515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926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05BAB34-FB89-1A1A-E608-D0C96D6E0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604" y="693315"/>
            <a:ext cx="7453006" cy="24233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0F5A5D-4C16-2044-1C2A-4C45AB120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169" y="4043169"/>
            <a:ext cx="7399661" cy="203471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909AC33-94FC-E130-B77E-BDB1A71E5491}"/>
              </a:ext>
            </a:extLst>
          </p:cNvPr>
          <p:cNvSpPr txBox="1"/>
          <p:nvPr/>
        </p:nvSpPr>
        <p:spPr>
          <a:xfrm>
            <a:off x="4244747" y="-76126"/>
            <a:ext cx="39023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u="sng" dirty="0">
                <a:latin typeface="LM Roman 12" panose="00000500000000000000" pitchFamily="50" charset="0"/>
              </a:rPr>
              <a:t>Example 1</a:t>
            </a:r>
            <a:endParaRPr lang="en-ZA" sz="4400" b="1" u="sng" dirty="0">
              <a:solidFill>
                <a:srgbClr val="00B0F0"/>
              </a:solidFill>
              <a:latin typeface="LM Roman 12" panose="00000500000000000000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9676FD-72E4-AFCA-E435-408FBA8B04F0}"/>
              </a:ext>
            </a:extLst>
          </p:cNvPr>
          <p:cNvSpPr txBox="1"/>
          <p:nvPr/>
        </p:nvSpPr>
        <p:spPr>
          <a:xfrm>
            <a:off x="4244746" y="3044279"/>
            <a:ext cx="39023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u="sng" dirty="0">
                <a:latin typeface="LM Roman 12" panose="00000500000000000000" pitchFamily="50" charset="0"/>
              </a:rPr>
              <a:t>Example 2</a:t>
            </a:r>
            <a:endParaRPr lang="en-ZA" sz="4400" b="1" u="sng" dirty="0">
              <a:solidFill>
                <a:srgbClr val="00B0F0"/>
              </a:solidFill>
              <a:latin typeface="LM Roman 12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706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A5A0-38C8-8070-8DEA-00CA3FDE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D3148998-22F2-5B3B-0FB1-3F2FDA170E7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12366F8-C7D5-0D31-7134-D9D88966584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7AA3A68-935E-232C-D757-678DA540EC9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47DB035-98A6-54D4-C9FE-23B6F9DF6A3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EC6732A6-8D42-0712-D914-5ADDD38094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2FCABEF-2C57-88CD-01E0-4ED130EF068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14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4780EC3-B03C-F625-3DD5-AA29787E4DF0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Enumerations: a game of chance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C30FA98-B9D0-BB6A-6CD1-1FA57FABB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720" y="4372041"/>
            <a:ext cx="9843148" cy="20555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1ADF39-59AA-0D05-ECC3-3134FD5F1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8455" y="1164417"/>
            <a:ext cx="4308393" cy="32888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FB9F48-9322-0365-4361-B4BBF9BFF643}"/>
              </a:ext>
            </a:extLst>
          </p:cNvPr>
          <p:cNvSpPr txBox="1"/>
          <p:nvPr/>
        </p:nvSpPr>
        <p:spPr>
          <a:xfrm>
            <a:off x="9646402" y="1893252"/>
            <a:ext cx="1452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u="sng" dirty="0">
                <a:latin typeface="LM Roman 12" panose="00000500000000000000" pitchFamily="50" charset="0"/>
              </a:rPr>
              <a:t>With </a:t>
            </a:r>
            <a:r>
              <a:rPr lang="en-ZA" b="1" u="sng" dirty="0" err="1">
                <a:latin typeface="LM Roman 12" panose="00000500000000000000" pitchFamily="50" charset="0"/>
              </a:rPr>
              <a:t>enums</a:t>
            </a:r>
            <a:endParaRPr lang="en-ZA" b="1" u="sng" dirty="0">
              <a:latin typeface="LM Roman 12" panose="00000500000000000000" pitchFamily="50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819AF0-F435-4C46-9E8C-60BDEB7A060D}"/>
              </a:ext>
            </a:extLst>
          </p:cNvPr>
          <p:cNvSpPr txBox="1"/>
          <p:nvPr/>
        </p:nvSpPr>
        <p:spPr>
          <a:xfrm>
            <a:off x="9768671" y="1625183"/>
            <a:ext cx="907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 code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1" name="Slide Zoom 20">
                <a:extLst>
                  <a:ext uri="{FF2B5EF4-FFF2-40B4-BE49-F238E27FC236}">
                    <a16:creationId xmlns:a16="http://schemas.microsoft.com/office/drawing/2014/main" id="{64442974-65F6-0EBE-C11D-FF84B06AF9B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848819" y="2262584"/>
              <a:ext cx="3048000" cy="1714500"/>
            </p:xfrm>
            <a:graphic>
              <a:graphicData uri="http://schemas.microsoft.com/office/powerpoint/2016/slidezoom">
                <pslz:sldZm>
                  <pslz:sldZmObj sldId="570" cId="2606849869">
                    <pslz:zmPr id="{10D79621-4DC5-4549-8625-7ADC2362B14E}" returnToParent="0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1" name="Slide Zoom 20">
                <a:extLst>
                  <a:ext uri="{FF2B5EF4-FFF2-40B4-BE49-F238E27FC236}">
                    <a16:creationId xmlns:a16="http://schemas.microsoft.com/office/drawing/2014/main" id="{64442974-65F6-0EBE-C11D-FF84B06AF9B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48819" y="2262584"/>
                <a:ext cx="3048000" cy="1714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130706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5F15A-D211-F86F-31A7-09FD06D8E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7585EA9-2C41-637B-B9EA-500D8236A414}"/>
              </a:ext>
            </a:extLst>
          </p:cNvPr>
          <p:cNvGrpSpPr/>
          <p:nvPr/>
        </p:nvGrpSpPr>
        <p:grpSpPr>
          <a:xfrm>
            <a:off x="2415208" y="84635"/>
            <a:ext cx="6838859" cy="19222103"/>
            <a:chOff x="2415208" y="84635"/>
            <a:chExt cx="6838859" cy="1922210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4158DCD-0493-AB46-9ADD-7C19E1496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90829" y="84635"/>
              <a:ext cx="6210838" cy="515918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B97BC34-B08C-01A4-CD1B-90DFFBB71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15208" y="5471003"/>
              <a:ext cx="6838859" cy="32358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3B18C8B-3B7B-6A2A-5139-3A1AA89F6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80816" y="8706884"/>
              <a:ext cx="6094282" cy="236999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66CA56-9946-314C-3271-35BE03912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80816" y="11076882"/>
              <a:ext cx="6094282" cy="449752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EE72F08-7DCE-8B64-B25F-EFE242013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80816" y="15574409"/>
              <a:ext cx="6094282" cy="37323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6849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5B723-B81A-80BA-2662-B51EC07B7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7A0DA9E-8619-FE0D-50D2-F76DD68EC435}"/>
              </a:ext>
            </a:extLst>
          </p:cNvPr>
          <p:cNvGrpSpPr/>
          <p:nvPr/>
        </p:nvGrpSpPr>
        <p:grpSpPr>
          <a:xfrm>
            <a:off x="2339008" y="-6524952"/>
            <a:ext cx="6838859" cy="19222103"/>
            <a:chOff x="2415208" y="84635"/>
            <a:chExt cx="6838859" cy="1922210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334AF76-7013-EB36-F980-E4AE335EB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90829" y="84635"/>
              <a:ext cx="6210838" cy="515918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5138017-6BB4-8822-E7CE-28876978D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15208" y="5471003"/>
              <a:ext cx="6838859" cy="32358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5F50C04-F306-6ED7-C13C-8D1948927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80816" y="8706884"/>
              <a:ext cx="6094282" cy="236999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D7313E9-97C9-DBB3-769F-D34B2603E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80816" y="11076882"/>
              <a:ext cx="6094282" cy="449752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8578115-11DD-04D8-EFD7-044D693AF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80816" y="15574409"/>
              <a:ext cx="6094282" cy="37323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1643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99B42-6977-0E72-60CC-EBD4CACBB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4AF0802-1C05-F12E-B299-D944F1B06399}"/>
              </a:ext>
            </a:extLst>
          </p:cNvPr>
          <p:cNvGrpSpPr/>
          <p:nvPr/>
        </p:nvGrpSpPr>
        <p:grpSpPr>
          <a:xfrm>
            <a:off x="2676570" y="-12925752"/>
            <a:ext cx="6838859" cy="19222103"/>
            <a:chOff x="2415208" y="84635"/>
            <a:chExt cx="6838859" cy="1922210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49F1758-B15E-FBF8-57D0-B2BE7D614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90829" y="84635"/>
              <a:ext cx="6210838" cy="515918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BB43F15-BFE7-A06E-88D0-A918F2B08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15208" y="5471003"/>
              <a:ext cx="6838859" cy="32358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5520E46-FECC-9C53-BDC3-9576035C4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80816" y="8706884"/>
              <a:ext cx="6094282" cy="236999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1B6DBD5-EB16-A777-81E1-D1A031563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80816" y="11076882"/>
              <a:ext cx="6094282" cy="449752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20826D3-3BD5-284A-7F55-8CF7F91B9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80816" y="15574409"/>
              <a:ext cx="6094282" cy="37323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3966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A71BF-AF07-9B08-8EB4-DAE660B74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42780200-9BCB-2694-BCBC-B83815C5717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37917AD-152A-4460-E600-E353ACD9E99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A3083CB-91DB-2057-CC56-5EF342EB97B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B145A24-036E-AE92-6DBD-631CAC74C7D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36057736-8736-1263-C4A1-0F6D90CA91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7C16653-306C-F573-4226-740E902FA98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14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D64E397-9A3F-E8C2-27AB-799897C71485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Enumerations: a game of chance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7E05B77-70DF-9A79-3826-5559322AE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720" y="4372041"/>
            <a:ext cx="9843148" cy="20555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7D3910-FE37-A35B-EE9B-8D06493567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8455" y="1164417"/>
            <a:ext cx="4308393" cy="32888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7ABAFD-1065-2277-BF05-11790F2B0A64}"/>
              </a:ext>
            </a:extLst>
          </p:cNvPr>
          <p:cNvSpPr txBox="1"/>
          <p:nvPr/>
        </p:nvSpPr>
        <p:spPr>
          <a:xfrm>
            <a:off x="9646402" y="1893252"/>
            <a:ext cx="1452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u="sng" dirty="0">
                <a:latin typeface="LM Roman 12" panose="00000500000000000000" pitchFamily="50" charset="0"/>
              </a:rPr>
              <a:t>With </a:t>
            </a:r>
            <a:r>
              <a:rPr lang="en-ZA" b="1" u="sng" dirty="0" err="1">
                <a:latin typeface="LM Roman 12" panose="00000500000000000000" pitchFamily="50" charset="0"/>
              </a:rPr>
              <a:t>enums</a:t>
            </a:r>
            <a:endParaRPr lang="en-ZA" b="1" u="sng" dirty="0">
              <a:latin typeface="LM Roman 12" panose="00000500000000000000" pitchFamily="50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AC210C-8711-7DDC-7E69-33B2F62C2C01}"/>
              </a:ext>
            </a:extLst>
          </p:cNvPr>
          <p:cNvSpPr txBox="1"/>
          <p:nvPr/>
        </p:nvSpPr>
        <p:spPr>
          <a:xfrm>
            <a:off x="9768671" y="1625183"/>
            <a:ext cx="907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 code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1" name="Slide Zoom 20">
                <a:extLst>
                  <a:ext uri="{FF2B5EF4-FFF2-40B4-BE49-F238E27FC236}">
                    <a16:creationId xmlns:a16="http://schemas.microsoft.com/office/drawing/2014/main" id="{E03B6EC2-576C-62DF-B62F-DE190A392EB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848819" y="2262584"/>
              <a:ext cx="3048000" cy="1714500"/>
            </p:xfrm>
            <a:graphic>
              <a:graphicData uri="http://schemas.microsoft.com/office/powerpoint/2016/slidezoom">
                <pslz:sldZm>
                  <pslz:sldZmObj sldId="570" cId="2606849869">
                    <pslz:zmPr id="{10D79621-4DC5-4549-8625-7ADC2362B14E}" returnToParent="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1" name="Slide Zoom 20">
                <a:extLst>
                  <a:ext uri="{FF2B5EF4-FFF2-40B4-BE49-F238E27FC236}">
                    <a16:creationId xmlns:a16="http://schemas.microsoft.com/office/drawing/2014/main" id="{E03B6EC2-576C-62DF-B62F-DE190A392EB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48819" y="2262584"/>
                <a:ext cx="3048000" cy="1714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072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11A07-5F8B-C032-2874-62BDA45DE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97E68DAE-3573-1182-3F18-DCFB2797336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7E5E936-6228-B057-5F01-D81F62AD489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714042-86EA-CFD4-9A51-49F23ED1472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6F37339-F319-4803-CB16-BA1DBC878C80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F499D13-04B4-C316-6465-CA53BDC4F7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3258AA9-BB51-953F-8E3D-D4F8DBE5E47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14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7097F4F-DAA2-0214-C255-721B9A8A5774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Enumerations: a game of chance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AF695BC-8F07-C229-9D77-DD949E75F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4997" y="1245641"/>
            <a:ext cx="9135718" cy="425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03669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63001-9326-CFD1-1A8F-D65F5893F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DE738E68-C7A8-E062-7767-3436182642C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0F3664E-8D7B-F109-1ACD-0974129489B1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B3FCEB6-1A5D-EC8B-1935-6C23A2277962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393FBAB-2844-1F13-B23E-8D18E218BF0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6F89ED6E-4230-69D5-02A2-BF2BCF8461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634FA68-056B-84B4-1328-ED979752DCA2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14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FDBAD8C-5581-081F-4EC3-825194A5C7B3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Storage classes &amp; scope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F793583-067D-C8D2-D71D-9473CE9CA8D1}"/>
              </a:ext>
            </a:extLst>
          </p:cNvPr>
          <p:cNvGrpSpPr/>
          <p:nvPr/>
        </p:nvGrpSpPr>
        <p:grpSpPr>
          <a:xfrm>
            <a:off x="446973" y="3338575"/>
            <a:ext cx="4318001" cy="3297006"/>
            <a:chOff x="3412067" y="2286000"/>
            <a:chExt cx="4318001" cy="329700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536E97E-F3D6-F909-773F-2037D6A2168B}"/>
                </a:ext>
              </a:extLst>
            </p:cNvPr>
            <p:cNvSpPr/>
            <p:nvPr/>
          </p:nvSpPr>
          <p:spPr>
            <a:xfrm>
              <a:off x="3412067" y="2286000"/>
              <a:ext cx="4318001" cy="32970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US" sz="2000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Variables exist for certain section of program (block of code)</a:t>
              </a:r>
            </a:p>
            <a:p>
              <a:pPr algn="ctr"/>
              <a:endParaRPr lang="en-US" sz="2000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US" sz="2000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Exist while block is active</a:t>
              </a:r>
            </a:p>
            <a:p>
              <a:pPr algn="ctr"/>
              <a:endParaRPr lang="en-US" sz="2000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US" sz="2000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Destroyed when block is exited</a:t>
              </a:r>
              <a:endParaRPr lang="en-ZA" sz="2000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61D59FC-485A-49A4-B8B7-EE9DABFEBBA2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Local variables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0590DF5-8135-C026-5FE9-9FA0B3A5ECD5}"/>
              </a:ext>
            </a:extLst>
          </p:cNvPr>
          <p:cNvGrpSpPr/>
          <p:nvPr/>
        </p:nvGrpSpPr>
        <p:grpSpPr>
          <a:xfrm>
            <a:off x="5452613" y="3338575"/>
            <a:ext cx="4318000" cy="3372512"/>
            <a:chOff x="3412067" y="2286000"/>
            <a:chExt cx="4318000" cy="337251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ED3F844-02FA-D386-E307-BF31AA16773A}"/>
                </a:ext>
              </a:extLst>
            </p:cNvPr>
            <p:cNvSpPr/>
            <p:nvPr/>
          </p:nvSpPr>
          <p:spPr>
            <a:xfrm>
              <a:off x="3412067" y="2286000"/>
              <a:ext cx="4318000" cy="337251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US" sz="2000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Variables exist for entire program execution</a:t>
              </a:r>
            </a:p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US" sz="2000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static: local variables defined in functions.</a:t>
              </a:r>
            </a:p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US" sz="2000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Keep value after function ends</a:t>
              </a:r>
            </a:p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US" sz="2000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Only known in their own function</a:t>
              </a:r>
              <a:endParaRPr lang="en-ZA" sz="2000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EC79805-5958-20DC-797D-03EB8FAC2A59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Global variables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DC47D081-8127-AFC0-29A0-E32D3B6A5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2932" y="1045905"/>
            <a:ext cx="8677664" cy="18463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637DDB2-EEB4-595F-B631-119FD92353F9}"/>
              </a:ext>
            </a:extLst>
          </p:cNvPr>
          <p:cNvSpPr txBox="1"/>
          <p:nvPr/>
        </p:nvSpPr>
        <p:spPr>
          <a:xfrm>
            <a:off x="9909003" y="3863508"/>
            <a:ext cx="2282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Example from notes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DBFCA452-FC50-4A18-A52E-F3295494FBF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rot="16200000">
              <a:off x="9813569" y="4773648"/>
              <a:ext cx="2472267" cy="1390650"/>
            </p:xfrm>
            <a:graphic>
              <a:graphicData uri="http://schemas.microsoft.com/office/powerpoint/2016/slidezoom">
                <pslz:sldZm>
                  <pslz:sldZmObj sldId="575" cId="2298337159">
                    <pslz:zmPr id="{A126C3AA-5BA7-4F3E-B72F-A6CE88A060B1}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16200000">
                          <a:off x="0" y="0"/>
                          <a:ext cx="2472267" cy="139065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Slide Zoom 13">
                <a:extLst>
                  <a:ext uri="{FF2B5EF4-FFF2-40B4-BE49-F238E27FC236}">
                    <a16:creationId xmlns:a16="http://schemas.microsoft.com/office/drawing/2014/main" id="{DBFCA452-FC50-4A18-A52E-F3295494FBF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9813569" y="4773648"/>
                <a:ext cx="2472267" cy="13906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682509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C569CC-09BB-FAB5-41D5-7F49ED3F2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1113301"/>
            <a:ext cx="11111891" cy="405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337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B2AB0-4B5A-DB38-C5F1-D56E10AAD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DECCF509-6B53-3FAB-963D-826E728CA39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236494A-2134-F572-5865-E6F001E6ACB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17E322C-5E55-93CC-398D-09A221E8670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0D532D3-BACC-B6AD-A4B1-5B4089ADDE0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646B2C12-6B32-E1C1-5A9A-ADC6444774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C25D105-A0A2-CF63-46AB-AED5EC7BBB6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14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4B0BC72-3997-BDCB-3107-A86652C02271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Scope rules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DA17C089-5C18-8D9B-CFE2-05F9DE5DF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59" y="1430307"/>
            <a:ext cx="11087972" cy="425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67283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Microsoft Office PowerPoint</Application>
  <PresentationFormat>Widescreen</PresentationFormat>
  <Paragraphs>149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Bradley Hand ITC</vt:lpstr>
      <vt:lpstr>LM Roman 12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2026-08-23T20:12:22Z</dcterms:created>
  <dcterms:modified xsi:type="dcterms:W3CDTF">2026-08-23T20:12:45Z</dcterms:modified>
</cp:coreProperties>
</file>